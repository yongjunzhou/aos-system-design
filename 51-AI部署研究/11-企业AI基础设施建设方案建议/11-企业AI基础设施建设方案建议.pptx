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20 秒）：今天用约二十分钟，向各位汇报企业 AI 基础设施的建设建议——为什么建、建完验收什么、企业需求是什么、方案具体是什么，以及**方案里每一项组成（卡数、软件、电力、机房、运维）为什么是这个量**。所有结论背后都有可追溯的测算（编号 01 报告），不是拍脑袋。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秒）：今天六步讲完。请各位特别留意第五步——我们会把"为什么大约一百张卡、为什么这套软件、为什么这个电力和机房"逐一从需求推出来，让预算的每一项都有出处。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秒）：请允许我先立一个规矩——本稿**每个数字都能追到出处**（编号 01 报告的问答实录）；带"估算/测算"的，落地前都要经过询价或一期 POC 验证。哪些是已算清楚的、哪些是需要下一步专门测的，P03 这张表会一路标到底。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40 秒）：这是今天要解决的问题。各位可以回想：我们这些年用 AI 是"借别人的工具"，能力强弱、稳不稳定、数据去哪，都不由我们控制。基础设施建议，本质是把"借工具"变成"建自己的能力"——让能力、数据、模型都沉淀在自己企业里。这些痛点在 01 报告背景部分有详细展开〔01-§1〕。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秒）："基础设施"是关键词。就像建了电力和网络，任何新应用都能用；AI 基础设施一旦建成，四类需求（后面会讲）都在这张底座上生长，而不是各买各的、各建各的。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秒）：这四类不是并列的小工具，而是未来企业运营里会同时出现的四类刚需。它们对基础设施的诉求不同——有的要"在线推理"、有的要"训练调优"、有的要"数据底座"。P06 先立这个全景，第三部分逐类展开。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秒）：为什么选自建而不是继续租公网？很多理由在后面，但**最硬的一条是红线**：当我们认真要把 AI 用到产品、用到研发代码、用到业务数据上时，"数据不出域"就不是可选配置，而是前提。01 报告里有句结论：出域红线存在时，私有化没有对手〔01-§6.1〕。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秒）：技术选型窗口是 01 报告专门核过的〔01-§2〕。简单说：今天这个时点，"能打的长上下文模型"和"够用的国产推理卡"同时到位，自建第一次在经济上成立。P08 只讲时点，为什么这套组合在第五部分展开。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20 秒）：P09 是给大家一张"验收地图"。这一页之后，P10–P13 逐层讲三层能力和一套 SLA。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秒）：这是把"研发 Agent 环"和"办公问答报告"说清楚的一页。1M 上下文不是炫技——研发场景的代码与设计文档天然是长文本，这是 01 报告反复校准过的真实口径〔01-Q23/Q24〕。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秒）：01 号报告测算的是"跑模型"；产品智能化要的是"造/调模型"——这是两件事，也是企业未来真正的护城河。本稿对这部分采取诚实口径：**本期识别并预留架构，规模待专项测算**（P29 细讲），不在这份稿子里编数字。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秒）：问答好不好、报告像不像样、专用模型训得专不专，底层都取决于**数据有没有被好好整理分级**。所以方案里它是一条独立的"数据与知识底座"，而不是一个散功能。规模与建设节奏放在 P30，同样待专项。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秒）：这一页是把"体验"变成**可验收的句子**。给高层验收就一句话：达到这些数=达标，达不到=我们改进。1M 场景下首包时延比速度更敏感，所以有"首包 ≤3s"这一条〔01-§5.5〕。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40 秒）：这是今天需求章的地图。后面 P15–P18 一页一类，P19 给"需求 → 三层基础设施"的映射总图。请各位留意：**四类需求都跑在线推理与数据底座上，其中产品智能化和技术研究额外要"造调模型"的能力**。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产品智能化是四类需求里含金量最高的一类，也是我们坚持"要预留训练调优能力"的原因——没有它，产品智能化只能长期依赖外部模型。具体训多大、多频繁，需要随产品规划做一次专项测算（收口页会再次建议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秒）：需求②和需求①的区别：①是"造模型"，②是"用 AI 大规模产数据"——都是产品线在为智能化备料。这类负载**可以排队、可以打折精度**，正好填在线推理的谷（P27 的排队填谷机制服务它）。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秒）：技术研究最大的特点是"不确定"——今天不知道下季度要跑什么实验。所以它不能按确定性负载去采购，而是放进预留区、按需弹性调度。这也是为什么训练调优与研究区在 P30 一起规划。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40 秒）：需求④覆盖人数最广，也最能被高层体感。请注意它的第一层是"业务数据分析与整理"——这决定了问答和报告的质量，所以方案把它作为独立数据底座来建，而不是塞进某个功能。这一人群的用量即 01 报告里非研发侧的问答/报告口径〔01-§5.1〕。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40 秒）：把四类需求落到三层诉求就一句话——**人人都要"在线推理"，产品智能化和研究要"造调能力"，办公和产品数据离不开"数据底座"，三者共用一套机房电力网络运维**。接下来两页，把"在线推理到底要多少卡"这一步推出来（约 100 张卡的来源），训练调优与数据底座的规模则明确定性为待专项。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40 秒）：这一页是"卡数推导"的第一块基石——**人头不是负载，人时才是**。2500 个研发不等于同时要 2500 条通道，因为有工作间隙、有占空比。把这块想清楚，才不会把预算买在"高峰同时 2500 人都在打字"这种永远不会发生的最坏值上。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60 秒，本页是"约 100 张卡"的正面回答）：为什么约一百张卡？不是估的，是**推的**——先承认"人头不等于负载"，把人头过四层漏斗压成"峰值约 700 路解码"，再按每路带宽算卡。而且这个口径是**改了五轮**才定的：86→94→110→96，每一轮都对应一次需求核清（比如把 1000 研发核清成 2500、把非研发从 3000 核到 1500）。五轮修改本身，就是这份测算可信的证据。96 ≈ 100，就是各位在封面看到的那张卡数。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需求章收口一句话——**在线推理这张"产线"今天就能算清楚；"造调研究"与"数据底座"是已经看见、需要专项立账的两块**。后面的内容章与理由章，先按已测算的在线推理把设施建成，同时把两块预留的口子留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40 秒）：用工厂来记：**产线（在线推理）卖力跑，研发车间（训练调优）出新品，原料库（数据底座）保质量，机房电力是厂房**。这样四类需求和三层基础设施就都能放进同一张图。接下来 P24–P31 一层层看每个车间建什么。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50 秒）：这是在线推理的"产线图"。两个池分工：**交互池**管短问答（轻、省卡），**重负载池**管研发 1M 环 + 报告/数据吞吐（重、贵但能干重活）；中间一个 AI 网关决定请求去哪、谁优先、全程留痕。为什么 16 和 80 这两个数——P32 从需求推给你看。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秒）：网关是"秩序层"。没有它，四类需求会互相抢资源、数据流向不可控；有了它，预算花在刀刃上，且"数据不出域、用了什么都有账"在技术上成立。P07 那条红线，落点就是这个网关。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秒）：交互池负责"轻活"——为什么 16 卡就够：短问答占空比低（人读的 75% 时间模型在等），峰值 ~270 路解码折算下来 16 卡富余。注意它只给 32K 上下文，不给 1M——**给所有人开 1M 是把钱花在没人用满的能力上**（P21 反伪需求）。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40 秒）：重负载池是"研发环 + 重活"的家。80 卡是怎么由 ~700 路峰值解码折出来的、为什么用 MoE 低激活模型来省每路带宽，P32 推给你。这里先记结论：**它在 1M 下仍给到 60~80 tok/s 的流畅体验**。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40 秒）：1M 是"能力"不是"默认每人都常年挂 1M"。同样给人开 1M，最贵的硬上法要 200 卡，**量化到 KV INT4 只要 96 卡**——卡数差一半，靠的就是"不为睡着的人留床位"和"把缓存压紧"。起步 A′、成熟上 B，是分期里"再省 8~20%"的来源。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40 秒）：这是"造模型"的车间——本期先建"能接得上"的架构和最小试点，而不是先买一大片训练卡。理由很朴素：**今天还没有哪个产品线告诉我明确要训多大模型**，那就先把口子和方法建好，等专项需求测算后一次买对。规模在收口页会列为第二件待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40 秒）：数据底座是需求④（办公）和质量的地基——**问答答得准、报告像样、专用模型训得专，都取决于数据有没有分级整理好**。它主要花钱在存储、数据工程与治理，而不是算力；规模要等"业务数据盘点"后专项定。这一层也让"业务数据分析与整理"第一次有了工程化的落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这一页是"厂房与水电"。在线推理、训练调优、数据底座三层都跑在这套公共底座上——这也是"基础设施"的题中之义：**共用一份机房电力网络运维，而不是三套各建**。每项的"为什么这个量"在第五部分理由里逐条推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60 秒）：这一页是回应"为什么约 100 张卡"的正式推导——把 P20–P21 的峰值路数，分别送进两个池，16+80=96。三个"为什么"一句话：**分池让轻活不占重卡、量化让每路成本减半、口径五轮让需求不虚高**。这套推导每一步都在 01 报告里有账〔01-§5〕。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秒）：96 卡不是 96 张裸卡堆在一起，而是 **12 台 8 卡机 + 组网 + 存储 + 网关 + 备件** 这套工程组成。单台能力 × 台数 → 容量；冗余与备件 → 可用性。这套组成的价值在 01 报告成本里对应"硬件 ¥660~845 万"〔01-§6〕。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40 秒）：软件钱花在哪、为什么每一件都对应一个真问题——尤其"prefix caching + KV 量化换出"这两件，是**1M 长上下文能在 96 卡上跑、而不是 200 卡**的直接原因（P28）。软件不是成本项，是省卡的关键杠杆。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秒）：电力不是拍脑袋的"好像要不少电"——从**单卡 350W × 96** 起算，分摊损耗得 IT ~52kW，双路 ~100kW 是给"一路坏了还能跑"留的冗余〔01-§6/Q22〕。训练区若上，电力在这个基数上做弹性复核即可，机房配电一次做够。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秒）：机房每一项都能从"12 台 8 卡机 + 外围"推出来——**柜数由机器与供电密度出，面积由柜数与运维空间出，空调 N+1 由"产线不停"的要求出，风冷够用就不上液冷**。还保留了利旧选项，新建/利旧两档费用在 01 报告里〔01-Q22〕。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40 秒）：运维不是"找个网管看机器"，而是**模型与数据时代的能力岗**——会看三本账、会做量化校准、会把关模型版本、能对厂商说法做"113 拆解"式复核。¥30~60 万对应的是这支小队伍，而不是外包甩手掌柜。这也是"Know-how 留在企业内"的真正含义。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40 秒）：总账不是凭空一张表——**P32–P37 每一项"为什么是这个量"，在这里乘以单价就得到这张账**。850~1100 万一口气投下去，换来的是产线、车间、原料库、厂房四样东西，且三年运营下来人均成本反而低于持续订阅。训练/数据增量未计入本期——这正是收口页要建议的"专项"。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50 秒）：落地**从 150~200 万、3 个月的 POC 开始，而不是一步 96 卡**。POC 用真实负载验证四个数（占空比、上下文分布、INT4 精度、报告/数据任务频率），达标再进二期。所有风险都有缓解、都指向 POC——这是让"96 卡、850~1100 万"从测算变成可执行交付的唯一路径。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讲者备注</a:t>
            </a:r>
          </a:p>
          <a:p>
            <a:r>
              <a:t>备注（约 30 秒，收尾）：今天不请各位拍板采购，只请两件事进入论证：**先用三个月、两百万级的 POC 验证推理底座**，同时**把产品智能化与数据底座的需求与规模算清楚**。等 POC 数据回来、专项测算出来，再向各位提正式投资方案。谢谢。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64008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5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编号 11   ·   高层汇报稿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789920" cy="1280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52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企业 AI 基础设施建设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10789920" cy="10972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52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方案建议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" y="4160520"/>
            <a:ext cx="2926080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789920" cy="2011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b="0" sz="18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一个底座，支撑四类企业 AI 需求——产品智能化、产品数据开发、AI 技术研究、AI 办公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000"/>
              </a:spcAft>
            </a:pPr>
            <a:r>
              <a:rPr b="0" sz="15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在线推理一期 96 卡（约 100 张） · 一次性约 ¥850~1100 万 · 年运营 ¥110~160 万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2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汇报人 / 2026-09-07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开场与口径 · 2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汇报主线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16388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1.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为什么建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 —— 企业 AI 需要从"零散试点"升级为"基础设施"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2.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建成后验收什么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 —— 三层能力 + 可验收的 SLA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3.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企业要用 AI 干什么（四类需求）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 —— 需求 → 基础设施诉求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4.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基础设施建什么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 —— 在线推理 + 训练调优研究区 + 数据底座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5.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每一组成部分为什么是这个量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 —— 从需求推导（本次汇报的重点）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6.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节奏与风险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 —— 分期、POC、风险预防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2 / 40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开场与口径 · 3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一句话方案 + 全稿口径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103802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一句话方案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：建设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企业 AI 基础设施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——以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在线推理平台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（双池 96 卡，约 100 张）为一期主体，向前预留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专用模型训练调优区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数据与知识底座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，共用一个机房/电力/网络/运维底座。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口径承诺（全稿有效，正文不重复）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455346"/>
          <a:ext cx="11002974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7658"/>
                <a:gridCol w="3667658"/>
                <a:gridCol w="3667658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数据类别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口径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金额（CapEx/OpEx）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 01 报告口径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估算，待询价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卡数（16+80=96）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由需求口径测算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测算，待 POC 校准（±20%）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KV/带宽等物理参数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官方 + 假设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假设项待实测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训练调优/数据底座规模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本期识别并预留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待专项测算（本稿不估数）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报告状态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POC 待验证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3 / 40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开场与口径 · 4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现状与痛点：今天为什么必须动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17571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研发侧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：编码/调试/设计文档的 AI 用量在涨，但受制于公网不稳、速率不确定——真正敢把"整仓代码 + 设计文档"交给 AI 的很少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办公与管理侧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：问答、管理类报告主要靠人——业务数据散、整理靠手工，AI 帮助有限、质量不可控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共同问题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：数据出境（代码、业务数据在公网服务上）、额度墙（用量一高就受限）、能力无法积累（提示词/知识/模型 Know-how 都留在外部）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4 / 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目的 · 5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目的总述：从"零散试点"到"基础设施"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15660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把企业 AI 从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单个试用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升级为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一项基础设施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，三层含义：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1.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算力资产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：一次规划、随业务增长平滑扩容，不再每次单点采购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2.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数据资产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：业务数据有序接入、分级、沉淀，成为企业可复用的原料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3.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模型与 Know-how 资产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：专用模型的训练/调优经验、评测、运维方法都留在企业内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5 / 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目的 · 6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目的之支撑：四类企业需求共用一张底座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未来企业 AI 的四大用场，都在这张底座上跑：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36181"/>
          <a:ext cx="11002974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7658"/>
                <a:gridCol w="3667658"/>
                <a:gridCol w="3667658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需求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一句话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产品智能化转型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企业产品要"带 AI"，需要专用模型，能训能调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基于 AI 的产品各数据开发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 AI 批量开发/加工产品侧数据与语料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③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技术研究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跟踪、试验、评测新模型与新技术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④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办公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业务数据分析与整理、管理类报告编制、问答等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6 / 40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目的 · 7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目的之红线：数据不出域、合规与权属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1529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数据不出域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：研发代码、业务数据、管理材料，全部在企业内网闭环处理（这是私有化建设的首要红线）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权属归企业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：基于开源基座训练的领域专用模型，权属、部署、演进完全自主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可审计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：AI 网关对"谁在什么时间调用了什么、数据流向哪"全程留痕——既是内控，也是合规抓手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7 / 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目的 · 8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目的之时点：为什么是现在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19847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模型就绪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：千问 3.8（2026-08）——27B 稠密（1M 能力、Apache 2.0 可商用）+ Flash-Next MoE（低成本长上下文），首次在可接受成本内覆盖"长上下文研发 + 全员问答/报告"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国产卡就绪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：昇腾 Atlas 300I A2（64GB，1.6TB/s）已到推理主力代际，配套 MindIE/vLLM-Ascend 软件栈成熟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用量窗口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：各条线 AI 使用量正在爬坡——现在建，爬坡期的每一次使用都在给企业自己积累数据与经验；继续等，用量继续外流、成本难控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8 / 40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目标 · 9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目标总览：建成后验收什么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建成后验收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三层能力 + 一套可验收的体验指标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36181"/>
          <a:ext cx="11002974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01487"/>
                <a:gridCol w="5501487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能力层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· 在线推理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研发 1M 长上下文 Agent 环常态化；全员流畅级问答/报告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 · 训练调优与研究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专用模型能训能调；AI 研究有实验田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 · 数据与知识底座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业务数据接入—分析整理—分级入库，反哺问答/报告/训练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体验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一套明确 SLA（P13）——"好不好"是可验收的句子，不是感觉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9 / 40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目标 · 10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5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目标 A · 在线推理：研发 1M Agent 环 + 全员流畅问答/报告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1529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研发（Agent 环）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：编码、调试、设计文档能放进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1M 上下文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——整仓代码 + 设计文档一起给 AI，Agent 真正可用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全员（问答/报告）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：短问答与报告生成达到"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流畅级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"（60~80 tok/s，见 P13 标尺）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三类负载错峰共池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：研发白天碎片 + 报告集中段排队填谷，互不挤死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10 / 40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目标 · 11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目标 B · 训练调优与研究：专用模型能训能调、研究有实验田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1529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产品智能化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：企业产品要内嵌 AI，通用基座不能直接出厂 → 基于开源基座（千问系）在企业内做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领域专用模型的训练与调优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AI 技术研究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：试验、评测新模型/新方法需要一个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弹性实验田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（利用率天然波动，与在线推理错峰）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目标表述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：不是"本期建多大训练集群"，而是"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下一批模型能造、能调、能比，接得上在线推理、不堵生产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"——规模随专项需求定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11 / 40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目标 · 12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1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目标 C · 数据与知识底座：业务数据能进、能理、能用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13020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接入与分析整理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：各业务系统的数据有序接入，做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分级、清洗、分析、整理、入库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（AI 办公场景的核心诉求之一）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分级授权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：不同密级的数据服务不同场景，合规边界清晰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反哺闭环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：整理后的数据成为三件事的原料——问答/RAG 的知识来源、管理报告的素材、训练调优的语料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12 / 40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目标 · 13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目标：一套可验收的体验标尺（SLA）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感知阶梯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（流速 → 体感）：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736181"/>
          <a:ext cx="11002974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7658"/>
                <a:gridCol w="3667658"/>
                <a:gridCol w="3667658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流速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体感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判断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&lt;20 tok/s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拖沓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不可交付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20~40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勉强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保底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40~60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及格（公有云底部区间）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验收线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60~80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流畅（超阅读极限 ~10 倍）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设计目标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&gt;100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体感无差别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仅批处理受益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3788120"/>
            <a:ext cx="11002975" cy="81044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四项 SLA 验收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〔01-Q25〕：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首包（warm）≤ 3s（P95）｜解码 ≥ 60 tok/s（P95）｜研发 Agent 整轮 ≤ 30s｜报告排队 ≤ 10 分钟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13 / 40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主要需求 · 14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主要需求全景：企业用 AI 干什么（四类）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389888"/>
          <a:ext cx="11002974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7658"/>
                <a:gridCol w="3667658"/>
                <a:gridCol w="3667658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需求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落到基础设施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① 产品智能化转型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专用模型训练/调优（离线·项目制）+ 产品内推理（在线）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 造调区 + A 推理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② 基于 AI 的产品各数据开发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批量/吞吐型数据处理（可排队）+ 数据管线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推理（吞吐）+ C 底座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③ AI 技术研究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弹性训练/评测实验田（利用率波动）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 造调区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④ AI 办公（业务数据分析与整理、管理类报告编制、问答等）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数据分析整理（底座）+ 管理报告（吞吐）+ 问答（在线/RAG）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推理 + C 底座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14 / 40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主要需求 · 15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需求① · 产品智能化转型：要"造/调专用模型"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20211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要什么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：企业产品要内嵌 AI 能力——通用模型不能直接出厂（领域不懂、不可控），须在企业内训出/调出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领域专用模型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形态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：离线为主、随产品迭代项目制进行；训好上线的产品推理回到在线池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工作量特征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：调优（微调/LoRA）周期短、量级小可起步；规模化训练按产品线需求单独立项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对基础设施的提醒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：本期先保证"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能训能调、不堵在线推理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"，规模专项测算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15 / 40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主要需求 · 16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1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需求② · 基于 AI 的产品各数据开发：批量吞吐为主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20211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要什么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：用 AI 批量开发/加工产品侧的数据、语料、样本（生成、整理、质检、扩量）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负载性质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批量、吞吐型、可排队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——不需要抢占式实时，适合排队论调度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落在哪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：并入在线推理的"吞吐队列"（与报告类同池），由数据管线承接进出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对质量的影响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：这类任务对精度要求分级——能用低精度档跑的就用低档，省卡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16 / 40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主要需求 · 17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需求③ · AI 技术研究：要一个"实验田"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17936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要什么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：跟踪开源模型演进、评测替代方案、验证新技术（如投机解码、新量化位宽、国产软件栈）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负载性质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弹性、探索性、利用率波动大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——高峰期有、空闲期闲置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落在哪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：与训练调优共建一个"造/调 + 研究区"，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与在线推理错峰共享电力/机房/网络/运维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成本策略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：研究负载允许低优先级、可抢占；不为一时的实验去买常年闲置的算力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17 / 40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主要需求 · 18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需求④ · AI 办公：数据分析整理 + 管理报告 + 问答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27767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要什么（三层）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      1.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业务数据分析与整理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——把散在各业务系统的数据分级、清洗、分析、结构化入库（数据底座）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      2.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管理类报告编制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——吞吐型：给素材出报告、给口径出汇总，可排队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      3.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问答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——短问答、快问快答、RAG 式基于企业知识的回答（在线）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使用者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：管理/职能/办公人群，是"在线推理"里交互问答 + 吞吐报告的主要来源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成功标志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：管理者的"要个数据/要份材料"从"找人数天"变成"AI 数十分钟、人审校定稿"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18 / 40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主要需求 · 19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需求 → 基础设施诉求映射（总图）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agram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036" y="1389888"/>
            <a:ext cx="10676758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19 / 40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主要需求 · 20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在线推理量化锚①：人头不是负载，人时才是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202118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4000 人 =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研发 2500 + 办公/管理 ~1500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关键：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2500 研发 ≠ 2500 路并发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。决定硬件的不是"多少人"，而是"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同时真正在生成 token 的路数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"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研发工时构成〔01-§5.2〕：设计+编码 ~30-35%、调试 ~25-30%、讨论评审 ~15-20%、试验 ~10-15%、事务 ~10% →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AI 活跃占比综合 ~55%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占空比谱系〔01-§3〕：交互问答 10~25%（人在读）｜研发 Agent 环 30~40%（等工具返回）｜批量吞吐 ~100% 但间歇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20 / 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主要需求 · 21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2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在线推理量化锚②：卡数怎么推出来（约 100 张卡）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389888"/>
            <a:ext cx="7665415" cy="50743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2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四层漏斗</a:t>
            </a:r>
            <a:r>
              <a:rPr b="0" sz="12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〔01-§5.2〕：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2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口径五轮修正，收敛到 96 卡</a:t>
            </a:r>
            <a:r>
              <a:rPr b="0" sz="12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〔01-§5.1〕：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429000" y="1924751"/>
          <a:ext cx="7665414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55138"/>
                <a:gridCol w="2555138"/>
                <a:gridCol w="2555138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9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轮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9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口径修正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9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卡数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1000 Agent + 3000 对话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v2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对话拆"交互/吞吐（报告）"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94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编码全员 1M → 三档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A′档 72（编码池）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v4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研发核清 2500、人时漏斗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110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非研发核清 ~1500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9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96（终版）= 重负载 80 + 交互 16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429000" y="4201353"/>
            <a:ext cx="7665415" cy="8663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2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反伪需求判据</a:t>
            </a:r>
            <a:r>
              <a:rPr b="0" sz="12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：若按"全员 1M × 500 路 × 200 tok/s"最坏值采购 → 算力只要 20 卡、带宽却要 5000 卡——</a:t>
            </a:r>
            <a:r>
              <a:rPr b="1" sz="12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三本账失衡即伪需求</a:t>
            </a:r>
            <a:r>
              <a:rPr b="0" sz="12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〔01-§4/§8-6〕。方案只按真实负载买，不为永远不发生的最坏值买单。</a:t>
            </a:r>
          </a:p>
        </p:txBody>
      </p:sp>
      <p:pic>
        <p:nvPicPr>
          <p:cNvPr id="11" name="Picture 10" descr="diagram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49" y="1389888"/>
            <a:ext cx="2365460" cy="49194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21 / 40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主要需求 · 22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需求小结：已测算 vs 待专项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389888"/>
          <a:ext cx="11002974" cy="1371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7658"/>
                <a:gridCol w="3667658"/>
                <a:gridCol w="3667658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诉求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状态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 · 在线推理（问答/Agent环/吞吐）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已测算</a:t>
                      </a: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（01 号报告）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96 卡双池，见 P24–P28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 · 训练调优与研究区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识别 + 架构预留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规模待专项测算（P29）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 · 数据与知识底座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识别 + 随需构建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规模待专项测算（P30）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公共设施（机房/电力/网络/运维）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按一期推理测算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预留训练/数据增量扩容复核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22 / 40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内容 · 23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总体架构：一张图 + 一个比喻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124675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3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比喻</a:t>
            </a:r>
            <a:r>
              <a:rPr b="0" sz="13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：企业 AI 基础设施 = 一座 AI 工厂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3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3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在线推理平台 = 产线</a:t>
            </a:r>
            <a:r>
              <a:rPr b="0" sz="13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（跑日常问答/研发环/报告，7×24）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3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3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训练调优与研究区 = 研发车间与实验田</a:t>
            </a:r>
            <a:r>
              <a:rPr b="0" sz="13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（造/调专用模型、做实验，按项目开停机）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3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3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数据与知识底座 = 原料库与质检</a:t>
            </a:r>
            <a:r>
              <a:rPr b="0" sz="13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（业务数据进、分级清洗、按需出料）</a:t>
            </a:r>
          </a:p>
        </p:txBody>
      </p:sp>
      <p:pic>
        <p:nvPicPr>
          <p:cNvPr id="9" name="Picture 8" descr="diagram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223" y="2728081"/>
            <a:ext cx="6538383" cy="34258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23 / 40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内容 · 24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内容·在线推理平台：双池 96 卡架构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agram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3140" y="1389888"/>
            <a:ext cx="4030549" cy="42062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650992"/>
            <a:ext cx="1100297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1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96 卡 = 12 台 8 卡机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：交互池 16（8×TP2）+ 重负载池 80（10×TP8）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24 / 40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内容 · 25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内容·AI 网关：路由、配额、审计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179360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统一 API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：企业内部所有 AI 应用走一个入口，不再各接各的外部服务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三条路由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〔01-Q21〕：① 研发一切请求 → 重负载池；② 非研发短输入 → 交互池；③ 报告/数据批量任务 → 重负载池排队填谷（Agent 实时优先）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配额与优先级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：研究/批量任务低优先级可抢占，生产问答不被挤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全量审计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：谁、何时、调了什么、数据流向哪——合规与内控的抓手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25 / 40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内容 · 26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内容·交互池特写（16 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389888"/>
          <a:ext cx="11002974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7658"/>
                <a:gridCol w="3667658"/>
                <a:gridCol w="3667658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配置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依据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千问 3.8 </a:t>
                      </a: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27B dense</a:t>
                      </a: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（Apache 2.0）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短问答足够、成本低〔01-Q1〕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部署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 卡 × TP2 = </a:t>
                      </a: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16 卡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交互峰值 ~270 路解码 / ~700 会话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上下文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32K</a:t>
                      </a: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（不是 1M——对话甜蜜点）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对话解剖：系统+工具+RAG+历史 ≈12~20K〔01-Q15〕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精度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W8A8 + KV INT8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精度/容量平衡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速率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50 tok/s 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面向问答，不上限保底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26 / 40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内容 · 27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内容·重负载池特写（80 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389888"/>
          <a:ext cx="11002974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7658"/>
                <a:gridCol w="3667658"/>
                <a:gridCol w="3667658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项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配置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依据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千问 3.8 </a:t>
                      </a: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Flash-Next MoE</a:t>
                      </a: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（125B 总参 / 6B 激活）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重活成本最优〔01-Q1/Q16〕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部署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 卡 × TP8 = </a:t>
                      </a: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 卡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Agent 环 825 + 快问 550 + 吞吐队列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上下文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1M 能力</a:t>
                      </a: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（KV INT4）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研发整仓代码/设计文档〔01-Q23〕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速率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60~80 tok/s（SLA）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流畅级设计目标〔01-Q25〕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排队填谷：报告/数据任务填 agent 碎片谷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负载时间互补〔01-§5.3〕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27 / 40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内容 · 28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内容·1M 上下文怎么给：三档选型，起步 A′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agram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40471"/>
            <a:ext cx="11002975" cy="39050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650992"/>
            <a:ext cx="11002975" cy="44110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为什么 A′ 起步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：Agent 占空比 35% = 65% 时间会话在"睡觉"——</a:t>
            </a:r>
            <a:r>
              <a:rPr b="1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不为睡觉的 KV 买 HBM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。先 A′ 上量，软件成熟后演进 B 档再省卡〔01-§5.4/Q23〕。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28 / 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内容 · 29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内容·训练调优与研究区（预留）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22851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本期定位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：识别需求 + 预留架构，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规模不做硬测算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（待专项）。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起步形态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：LoRA / 全参微调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小集群试点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（比在线推理池小得多，先验证"训得动、调得顺"）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配套能力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：评测基准（SWE-bench 类，与 27B/Flash 同基准对比〔01-Q15 方法〕）、模型版本管理、上线审批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弹性调度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：与在线推理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错峰共享机房/电力/网络/运维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；研究负载低优先级可抢占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规模策略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：随①产品智能化与③技术研究的需求专项测算后插入，不堵在线推理、不为闲置买单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29 / 40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内容 · 30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内容·数据与知识底座（预留 / 随需构建）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22851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本期定位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：识别需求 + 明确做法，规模随数据盘点专项。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接入与整理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：业务系统数据接入 → 分级、清洗、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分析与整理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、结构化入库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分级授权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：不同密级数据服务不同场景（如管理报告用经营数据、问答用制度与知识库），合规边界写进授权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反哺三件事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：问答/RAG 的知识来源、管理报告的素材、训练调优的语料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依托公共设施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：主要吃存储 + 吞吐推理 + 治理流程，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不是又一座大规模算力池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30 / 40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内容 · 31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内容·公共设施与软件底座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22487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软件栈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：MindIE / vLLM-Ascend（昇腾配套推理栈，主力组件开源 ¥0）〔01-Q22〕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四项运行时机制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：continuous batching（并发吞吐）、prefix caching + chunked prefill（长上下文 / 冷加载首包）、KV 换出（省卡）、三本账监控（容量/带宽/算力）〔01-§5.3〕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设施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：机房 5 柜 / 25~40m²、双路电力 ~100kW、UPS、空调 N+1、风冷（细账见 P35–P36）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安全与合规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：网闸/内网闭环、网关审计、量化校准与安全合规软件（计入软件费）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31 / 40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理由 · 构成推导 · 32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理由·硬件①：为什么是约 100 张卡（正面推导）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353234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推导链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（不是拍数）：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1.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需求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 → 峰值解码 ~700 路（P20–P21 漏斗）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2.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两池拆分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：短问答走 27B（轻卡省电）→ 交互池；长上下文/吞吐走 Flash-Next（重卡省带宽）→ 重负载池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3.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交互池 16 卡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：~270 路峰值解码 ÷ 单卡可用并发 ≈ 16（27B × 8 × TP2）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4.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重负载池 80 卡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：~570~700 路中"长上下文 + 吞吐"部分 ÷ Flash 单卡服务能力 ≈ 80（Flash × 10 × TP8）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5.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16 + 80 = 96 ≈ 100 张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；单台 8 卡 →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12 台 8 卡机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为什么"双模型分池"而不是单旗舰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：27B 负责轻问答省 14 卡、Flash 负责重负载——各自在正确的问题上省钱〔01-Q20 备选对照〕；旗舰 Max 成本过高不采用。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为什么量化省一半卡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：KV INT8→INT4、权重 W8A8，直接压小"每路带宽/每路 KV"两大成本来源〔01-§3〕。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32 / 40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理由 · 构成推导 · 33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2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理由·硬件②：为什么是"12 台 + 外围"这套组成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228518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机器粒度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：8 卡整机（不是散卡）——供电/散热/互联成组、单台故障影响面可控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组网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：TP8/TP2 组内高速互联（长上下文 1M 的跨卡协同依赖它）；机间网络满足推理流量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存储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：模型权重 + KV 换出（B 档）+ 数据底座共用——大容量、分热温冷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网关与安全机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：路由/配额/审计的落点，1~2 台即可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备件与冗余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：备 1 台整机量级——保障"产线"可用性（运维内容见 P37）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33 / 40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理由 · 构成推导 · 34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理由·软件：为什么是这几件，各解哪个问题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389888"/>
          <a:ext cx="11002974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01487"/>
                <a:gridCol w="5501487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软件/机制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解决什么需求问题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MindIE / vLLM-Ascend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昇腾国产卡的正确打开方式（不用闭门造车）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continuous batching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几百上千会话同时在线，不排队等死 → 吞吐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prefix caching + chunked prefill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1M 长文档重复前缀复用 + 冷加载首包 ~11s → 降到 &lt;1s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KV 量化 + 换出（INT4/offload）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每路 KV 减半、B 档三级驻留 → </a:t>
                      </a: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省卡（96 vs 200）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量化校准 + 安全合规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精度不失控 + 数据/审计合规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三本账监控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容量/带宽/算力实时看，负载画像校准 POC 的依据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4442460"/>
            <a:ext cx="11002975" cy="5464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软件费 ¥60~150 万构成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：主力推理栈 ¥0（开源）+ 量化校准 + 安全合规 + 集成实施。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34 / 40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理由 · 构成推导 · 35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理由·电力：为什么是双路 ~100kW（由设备清单推出）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205760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1.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单卡 TDP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：Atlas 300I A2 ≈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350W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（64GB 版）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2.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整机 + 外围分摊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：96 卡全上约 33.6kW（卡面），加整机/网络/存储/网关/制冷损耗 →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IT 平均 ~52kW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3.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双路供电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：380V 各 ~100kW——一路检修/故障另一路顶着（可用性）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4.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PUE 1.4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 → 年耗电 ≈ 64 万度 ≈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¥45 万/年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5.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预留：训练调优/数据底座增量接入时，按弹性复核扩容（POC 期先测实际水位）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35 / 40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理由 · 构成推导 · 36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理由·机房：为什么是 5 柜 / 25~40m² / 风冷无液冷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389888"/>
          <a:ext cx="11002974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01487"/>
                <a:gridCol w="5501487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结论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推导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 台 8 卡机 + 网络/存储/网关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单柜约 2~3 台机（按供电/散热密度）→ </a:t>
                      </a: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约 5 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25~40m²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柜 + 通道 + 运维空间；新建微模块或</a:t>
                      </a: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利旧</a:t>
                      </a: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均可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UPS 100kVA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对齐 ~100kW 双路，市电掉电时撑到安全关停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2×25kW 空调 N+1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显式 N+1，坏一台不升温——产线不能因空调停机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风冷，无液冷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单柜密度推理规模下风冷足够；液冷是更大密度才需要的复杂度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36 / 40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理由 · 构成推导 · 37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理由·运维：为什么是这些内容、对应什么人力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30407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自运维（企业内）的事项清单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1.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容量与健康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：三本账监控、负载画像校准（POC 起持续做）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2.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模型与版本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：基座升级、量化校准、专用模型版本管理与上线审批（与训练区衔接）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3.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系统运维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：升级、补丁、告警、故障响应（含 8 卡整机级备件轮换）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4.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安全与合规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：网关审计、数据分级授权复核、内网闭环巡检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5.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人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：对应年运维人力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¥30~60 万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——约 2~4 人规模的能力岗（含外包弹性）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数字可复核示例（"快从哪来"可审计）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：业界 113 tok/s = 带宽（3.35TB/s）÷ 激活字节（37GB）× MTP（1.25）——物理账 × 产品档位 × 供给 × 实测，四层可见，任何厂商宣传都按这个拆〔01-Q26〕。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37 / 40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理由 · 构成推导 · 38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经济总账：把每一项理由串成一张表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389888"/>
          <a:ext cx="11002974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67658"/>
                <a:gridCol w="3667658"/>
                <a:gridCol w="3667658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构成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推导依据（见 P32–P37）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金额（估）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硬件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96 卡·12 台 8 卡机 + 网络/存储/网关/备件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¥660~845 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软件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国产推理栈 ¥0 + 量化校准/安全合规/集成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¥60~150 万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新建微模块 5 柜 / 利旧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¥70~105 万 / ¥30~50 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一次性 CapEx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¥850~1100 万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年 OpEx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电 45 + 维保 20-30 + 软件 10-20 + 运维人力 30-60 + 杂项 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11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¥110~160 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3976370"/>
            <a:ext cx="11002975" cy="103802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年化人均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：3 年口径 ~¥1000~1300/人/年；5 年 ~¥700~930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▪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与"订阅制"只作背景一句：公有云订阅 3 年约 ¥3600~6000 万，本方案约 ¥1200~1550 万——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按产能投资，不是按 token 收租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〔01-§6.1〕（本期理由重心在构成推导，此处点到为止）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38 / 40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落地与收口 · 39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落地节奏与风险预防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iagram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52057"/>
            <a:ext cx="11002975" cy="1941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4110192"/>
            <a:ext cx="1100297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关键风险与缓解（指向 POC，不赌）</a:t>
            </a:r>
            <a:r>
              <a:rPr b="0" sz="11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〔01-§7〕：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4399915"/>
          <a:ext cx="11002974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01487"/>
                <a:gridCol w="5501487"/>
              </a:tblGrid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8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风险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1" sz="85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缓解</a:t>
                      </a:r>
                    </a:p>
                  </a:txBody>
                  <a:tcPr marL="54864" marR="54864" marT="18288" marB="18288" anchor="ctr">
                    <a:solidFill>
                      <a:srgbClr val="1F3864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硬件价格波动（±30%）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多源询价、POC 期锁价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KV-INT4 精度损失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POC 跑 SWE-bench 类基准；不达标退 INT8（+80 卡）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占空比/上下文分布偏差（卡数 ±20%）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POC 用 IDE 插件 + 会议日历采样两周实测校准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软件 offload 成熟度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A′ 档不依赖 offload，B 档等成熟再演进</a:t>
                      </a:r>
                    </a:p>
                  </a:txBody>
                  <a:tcPr marL="54864" marR="54864" marT="18288" marB="18288" anchor="ctr">
                    <a:solidFill>
                      <a:srgbClr val="EFF3F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1M 冷加载首包 ~11s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b="0" sz="850">
                          <a:solidFill>
                            <a:srgbClr val="33383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仓库上下文预热 + 错峰准入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39 / 40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" y="0"/>
            <a:ext cx="45720" cy="68580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38160" y="237744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90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编号 11 · 企业 AI 基础设施建设方案建议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105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落地与收口 · 40 / 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179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300">
                <a:solidFill>
                  <a:srgbClr val="1F3864"/>
                </a:solidFill>
                <a:latin typeface="微软雅黑"/>
                <a:ea typeface="微软雅黑"/>
                <a:cs typeface="微软雅黑"/>
              </a:rPr>
              <a:t>汇报收口：三句话 + 建议下一步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298448"/>
            <a:ext cx="11167567" cy="14630"/>
          </a:xfrm>
          <a:prstGeom prst="rect">
            <a:avLst/>
          </a:prstGeom>
          <a:solidFill>
            <a:srgbClr val="C9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89888"/>
            <a:ext cx="11002975" cy="304076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汇报要点（三句话）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1.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企业 AI 要走"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能力沉淀在自己手里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"的路——在线推理先落地，训练调优与数据底座为下一步留好口子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2.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在线推理"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约 100 张卡（96）= 从需求推出来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"，预算每一项可追溯、POC 先行再上量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3.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数据不出域、权属自持、运维 Know-how 留在企业——这是一次性投入买的长期资产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建议下一步（供审议，非决议）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：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1.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启动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在线推理一期 POC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 立项论证（16 卡，¥150~200 万，3 个月）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00">
                <a:solidFill>
                  <a:srgbClr val="2E74B5"/>
                </a:solidFill>
                <a:latin typeface="微软雅黑"/>
                <a:ea typeface="微软雅黑"/>
                <a:cs typeface="微软雅黑"/>
              </a:rPr>
              <a:t>2.  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开展</a:t>
            </a:r>
            <a:r>
              <a:rPr b="1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训练调优与数据底座的专项需求与规模测算</a:t>
            </a:r>
            <a:r>
              <a:rPr b="0" sz="1400">
                <a:solidFill>
                  <a:srgbClr val="33383F"/>
                </a:solidFill>
                <a:latin typeface="微软雅黑"/>
                <a:ea typeface="微软雅黑"/>
                <a:cs typeface="微软雅黑"/>
              </a:rPr>
              <a:t>（覆盖产品智能化、产品数据开发、AI 技术研究、AI 办公四类需求）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企业 AI 基础设施 · 依据 01 号研究报告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97135" y="651052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b="0" sz="850">
                <a:solidFill>
                  <a:srgbClr val="6B727C"/>
                </a:solidFill>
                <a:latin typeface="微软雅黑"/>
                <a:ea typeface="微软雅黑"/>
                <a:cs typeface="微软雅黑"/>
              </a:rPr>
              <a:t>40 / 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