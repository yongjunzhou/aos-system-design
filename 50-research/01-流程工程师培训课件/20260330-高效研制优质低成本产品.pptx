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绿色丘陵景观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5pPr>
          </a:lstStyle>
          <a:p>
            <a:pPr/>
            <a:r>
              <a:t>演示文稿副标题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3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72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苔藓覆盖的岩石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1959132" y="12998467"/>
            <a:ext cx="453239" cy="4613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1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幻灯片副标题</a:t>
            </a:r>
          </a:p>
        </p:txBody>
      </p:sp>
      <p:sp>
        <p:nvSpPr>
          <p:cNvPr id="6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乌云下的大岩层，前景是一条土路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2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幻灯片副标题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2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幻灯片副标题</a:t>
            </a:r>
          </a:p>
        </p:txBody>
      </p:sp>
      <p:sp>
        <p:nvSpPr>
          <p:cNvPr id="8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1959132" y="12998467"/>
            <a:ext cx="453239" cy="46136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4">
              <a:lnSpc>
                <a:spcPct val="100000"/>
              </a:lnSpc>
              <a:spcBef>
                <a:spcPts val="0"/>
              </a:spcBef>
              <a:buSzTx/>
              <a:buNone/>
              <a:defRPr b="1" sz="4824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7" name="正文级别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属性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生长在岩石之间的野生植物的特写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乌云下的大岩层，前景是一条土路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生长在熔岩岩石之间的野生植物的特写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被绿色岩石景观环绕的瀑布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959132" y="12994233"/>
            <a:ext cx="453239" cy="46136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024～2026"/>
          <p:cNvSpPr txBox="1"/>
          <p:nvPr>
            <p:ph type="body" idx="21"/>
          </p:nvPr>
        </p:nvSpPr>
        <p:spPr>
          <a:xfrm>
            <a:off x="1206498" y="11224801"/>
            <a:ext cx="21971003" cy="121312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 defTabSz="825500">
              <a:defRPr sz="4800"/>
            </a:lvl1pPr>
          </a:lstStyle>
          <a:p>
            <a:pPr/>
            <a:r>
              <a:t>2024～2026</a:t>
            </a:r>
          </a:p>
        </p:txBody>
      </p:sp>
      <p:sp>
        <p:nvSpPr>
          <p:cNvPr id="172" name="高效研制优质低成本产品…"/>
          <p:cNvSpPr txBox="1"/>
          <p:nvPr>
            <p:ph type="ctrTitle"/>
          </p:nvPr>
        </p:nvSpPr>
        <p:spPr>
          <a:xfrm>
            <a:off x="1206496" y="3709758"/>
            <a:ext cx="21971004" cy="4465934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50000"/>
              </a:lnSpc>
              <a:spcBef>
                <a:spcPts val="600"/>
              </a:spcBef>
              <a:defRPr b="0" spc="0" sz="10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高效研制优质低成本产品</a:t>
            </a:r>
          </a:p>
          <a:p>
            <a:pPr algn="ctr" defTabSz="914400">
              <a:lnSpc>
                <a:spcPct val="15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——正向设计方法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原始意图：削个苹果，给客人吃。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PingFang SC Semibold"/>
                <a:ea typeface="PingFang SC Semibold"/>
                <a:cs typeface="PingFang SC Semibold"/>
                <a:sym typeface="PingFang SC Semibold"/>
              </a:rPr>
              <a:t>原始意图</a:t>
            </a:r>
            <a:r>
              <a:t>：削个苹果，给客人吃。</a:t>
            </a:r>
          </a:p>
          <a:p>
            <a:pPr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</a:p>
          <a:p>
            <a:pPr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任务过程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：</a:t>
            </a: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1、</a:t>
            </a:r>
            <a:r>
              <a:t>需求文档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：</a:t>
            </a: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客人的背景、人数、基本信息、期望、要求，以及本人或本组织的能力、资产等</a:t>
            </a:r>
            <a:r>
              <a:t>。</a:t>
            </a: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2、方案文档：</a:t>
            </a: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确定削苹果的工具（如刀具、砧板），制定操作步骤，包括如何准备苹果，如何削皮，如何切片。</a:t>
            </a: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3、风险分析：</a:t>
            </a: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可能遇到的风险：刀具不够锋利，苹果表面有瑕疵，操作过程中可能出现的安全隐患等。</a:t>
            </a: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4、测试计划：</a:t>
            </a: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切好的苹果片是否符合预期要求：厚度是否一致，口感是否正常。</a:t>
            </a: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5、实施计划：</a:t>
            </a: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安排具体的时间和人员，确保削苹果的任务能够顺利完成，指定负责的工具和资源。</a:t>
            </a:r>
          </a:p>
          <a:p>
            <a:pPr indent="154799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6、报告文档：</a:t>
            </a:r>
          </a:p>
          <a:p>
            <a:pPr lvl="1" indent="393192"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t>任务完成后的总结报告，包括削苹果的过程、遇到的问题、最终成果以及改进建议。</a:t>
            </a:r>
          </a:p>
          <a:p>
            <a:pPr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</a:p>
          <a:p>
            <a:pPr defTabSz="393192">
              <a:lnSpc>
                <a:spcPct val="100000"/>
              </a:lnSpc>
              <a:spcBef>
                <a:spcPts val="500"/>
              </a:spcBef>
              <a:defRPr b="0" spc="0" sz="2752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PingFang SC Semibold"/>
                <a:ea typeface="PingFang SC Semibold"/>
                <a:cs typeface="PingFang SC Semibold"/>
                <a:sym typeface="PingFang SC Semibold"/>
              </a:rPr>
              <a:t>总结</a:t>
            </a:r>
            <a:r>
              <a:t>：原本只是一个简单的削苹果任务，现在变成了一整套复杂的文档和流程。这种夸张的情况旨在讽刺那些形式主义管理者的做法，并引起大家的思考，请再深入思考一层，这样做一定是形式主义吗？</a:t>
            </a:r>
          </a:p>
        </p:txBody>
      </p:sp>
      <p:sp>
        <p:nvSpPr>
          <p:cNvPr id="175" name="辩论：削个苹果给客人吃，至于这样麻烦吗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辩论：削个苹果给客人吃，至于这样麻烦吗</a:t>
            </a:r>
          </a:p>
        </p:txBody>
      </p:sp>
      <p:sp>
        <p:nvSpPr>
          <p:cNvPr id="176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9" name="辩论：别人让你编制一份报告，至于这样繁琐吗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辩论：别人让你编制一份报告，至于这样繁琐吗</a:t>
            </a:r>
          </a:p>
        </p:txBody>
      </p:sp>
      <p:sp>
        <p:nvSpPr>
          <p:cNvPr id="180" name="1、收集并整理相关方需求…"/>
          <p:cNvSpPr txBox="1"/>
          <p:nvPr>
            <p:ph type="ctrTitle"/>
          </p:nvPr>
        </p:nvSpPr>
        <p:spPr>
          <a:xfrm>
            <a:off x="1493529" y="3159203"/>
            <a:ext cx="8680312" cy="9980324"/>
          </a:xfrm>
          <a:prstGeom prst="rect">
            <a:avLst/>
          </a:prstGeom>
        </p:spPr>
        <p:txBody>
          <a:bodyPr anchor="t"/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b="0" spc="0" sz="32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1、收集并整理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相关方需求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2、分别向相关方确认需求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3、基于资产开发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系统需求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4、同行专家评审系统系统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5、基于资产开发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报告架构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6、同行专家评审报告架构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 b="0" spc="0" sz="48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7、向主要相关方确认架构</a:t>
            </a:r>
          </a:p>
        </p:txBody>
      </p:sp>
      <p:sp>
        <p:nvSpPr>
          <p:cNvPr id="181" name="8、依据架构策划开发任务…"/>
          <p:cNvSpPr txBox="1"/>
          <p:nvPr/>
        </p:nvSpPr>
        <p:spPr>
          <a:xfrm>
            <a:off x="13484550" y="3159203"/>
            <a:ext cx="8680312" cy="9980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sz="32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8、</a:t>
            </a:r>
            <a:r>
              <a:t>依据架构策划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开发任务</a:t>
            </a: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9、确认各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节点详细需求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10、开发各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节点详细报告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11、评审各节点详细报告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12、集成</a:t>
            </a:r>
            <a:r>
              <a:rPr>
                <a:solidFill>
                  <a:schemeClr val="accent5">
                    <a:hueOff val="128995"/>
                    <a:satOff val="10158"/>
                    <a:lumOff val="-13824"/>
                  </a:schemeClr>
                </a:solidFill>
              </a:rPr>
              <a:t>系统详细报告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13、评审系统详细报告</a:t>
            </a:r>
          </a:p>
          <a:p>
            <a:pPr indent="179999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14、交付并确认详细报告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开卷讨论可上网…"/>
          <p:cNvSpPr txBox="1"/>
          <p:nvPr>
            <p:ph type="ctrTitle"/>
          </p:nvPr>
        </p:nvSpPr>
        <p:spPr>
          <a:xfrm>
            <a:off x="1206496" y="3159203"/>
            <a:ext cx="21863437" cy="7391401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2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开卷讨论可上网</a:t>
            </a: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指定代表台上讲</a:t>
            </a: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同组问题是整体</a:t>
            </a: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基本概念要深想</a:t>
            </a:r>
          </a:p>
        </p:txBody>
      </p:sp>
      <p:sp>
        <p:nvSpPr>
          <p:cNvPr id="184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5" name="友情提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友情提示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1）产品是通过企业生产或创造活动形成的，能够通过市场交换实现经济收益的有形物品或无形服务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defTabSz="914400">
              <a:lnSpc>
                <a:spcPct val="150000"/>
              </a:lnSpc>
              <a:spcBef>
                <a:spcPts val="500"/>
              </a:spcBef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1）产品是通过企业生产或创造活动形成的，能够通过市场交换实现经济收益的有形物品或无形服务</a:t>
            </a:r>
          </a:p>
          <a:p>
            <a:pPr defTabSz="914400">
              <a:lnSpc>
                <a:spcPct val="150000"/>
              </a:lnSpc>
              <a:spcBef>
                <a:spcPts val="500"/>
              </a:spcBef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2）产品数据是产品全生命周期中所产生的多模态原始数据集，通过数据治理形成知识资产，支撑产品创新和业务增值</a:t>
            </a:r>
          </a:p>
          <a:p>
            <a:pPr marL="1478280" indent="-73914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开发阶段：显性化需求符合性，用于产品实现</a:t>
            </a:r>
          </a:p>
          <a:p>
            <a:pPr marL="1478280" indent="-73914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生产阶段：记录设计特征，评价实物产品质量</a:t>
            </a:r>
          </a:p>
          <a:p>
            <a:pPr marL="1478280" indent="-73914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服务阶段：构建产品运维档案，支持服务提升</a:t>
            </a:r>
          </a:p>
          <a:p>
            <a:pPr marL="1478280" indent="-73914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656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运行阶段：采集产品状态数据，驱动迭代优化</a:t>
            </a:r>
          </a:p>
        </p:txBody>
      </p:sp>
      <p:sp>
        <p:nvSpPr>
          <p:cNvPr id="188" name="0、产品相关的定义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0、产品相关的定义</a:t>
            </a:r>
          </a:p>
        </p:txBody>
      </p:sp>
      <p:sp>
        <p:nvSpPr>
          <p:cNvPr id="189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3）xBOM，狭义的xBOM仅指物料清单及其属性等信息，广义上包括物料从需求到技术方案、实现方案，直至实现记录信息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defTabSz="914400">
              <a:lnSpc>
                <a:spcPct val="150000"/>
              </a:lnSpc>
              <a:spcBef>
                <a:spcPts val="500"/>
              </a:spcBef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3）xBOM，狭义的xBOM仅指物料清单及其属性等信息，广义上包括物料从需求到技术方案、实现方案，直至实现记录信息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DBOM：概要设计BOM，Design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EBOM：详细设计BOM，Engineering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PBOM：试制工艺BOM，Process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MBOM：量产工艺BOM，Manufacturing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SBOM：服务方案BOM，Service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BBOM：实物产品BOM，Build BOM</a:t>
            </a:r>
          </a:p>
          <a:p>
            <a:pPr marL="1295400" indent="-647700" defTabSz="914400">
              <a:lnSpc>
                <a:spcPct val="150000"/>
              </a:lnSpc>
              <a:spcBef>
                <a:spcPts val="500"/>
              </a:spcBef>
              <a:buSzPct val="123000"/>
              <a:defRPr b="0" spc="0" sz="408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OBOM：运维记录BOM，Operation BOM</a:t>
            </a:r>
          </a:p>
        </p:txBody>
      </p:sp>
      <p:sp>
        <p:nvSpPr>
          <p:cNvPr id="192" name="0、产品相关的定义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0、产品相关的定义</a:t>
            </a:r>
          </a:p>
        </p:txBody>
      </p:sp>
      <p:sp>
        <p:nvSpPr>
          <p:cNvPr id="193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若将产品开发过程视为一组流水线，线上流动的是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若将产品开发过程视为一组流水线，线上流动的是什么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在产品全生命过程，相关方在围绕着什么开展各自工作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确认产品相关方的需求是否得到满足，凭什么，为什么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产品的相关方对产品研制贡献价值，其具体体现是什么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对产品研制项目实施精益管理，如何判断管理是否精益</a:t>
            </a:r>
          </a:p>
        </p:txBody>
      </p:sp>
      <p:sp>
        <p:nvSpPr>
          <p:cNvPr id="196" name="1、产品数据的意义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1、产品数据的意义</a:t>
            </a:r>
          </a:p>
        </p:txBody>
      </p:sp>
      <p:sp>
        <p:nvSpPr>
          <p:cNvPr id="197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只要有好过程就一定有好产品，这种说法对否，为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只要有好过程就一定有好产品，这种说法对否，为什么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产品与其数据是何关系，开发产品就是开发产品数据吗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在产品开发阶段，产品数据质量决定产品质量，为什么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作为产品开发项目经理，其最重要的管理对象应是什么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应以产品数据清单定义开发团队各角色之职责，为什么</a:t>
            </a:r>
          </a:p>
        </p:txBody>
      </p:sp>
      <p:sp>
        <p:nvSpPr>
          <p:cNvPr id="200" name="2、产品与产品数据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2、产品与产品数据</a:t>
            </a:r>
          </a:p>
        </p:txBody>
      </p:sp>
      <p:sp>
        <p:nvSpPr>
          <p:cNvPr id="201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什么是设计与开发，是对需求的持续分解、分配与分析吗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什么是设计与开发，是对需求的持续分解、分配与分析吗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开发的终点是什么的起点，在终点输出的产品数据是什么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如何在方案报告中显性化展示对需求的分解、分配和分析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条目化需求分解分配至条目化方案，怎样实现多对一关系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产品开发过程中，技术报告的评价标准或评审依据是什么</a:t>
            </a:r>
          </a:p>
        </p:txBody>
      </p:sp>
      <p:sp>
        <p:nvSpPr>
          <p:cNvPr id="204" name="3、何为设计与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3、何为设计与开发</a:t>
            </a:r>
          </a:p>
        </p:txBody>
      </p:sp>
      <p:sp>
        <p:nvSpPr>
          <p:cNvPr id="205" name="幻灯片编号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基于 ISO-9000，请给出质量的定义，理解并给出其要点…"/>
          <p:cNvSpPr txBox="1"/>
          <p:nvPr>
            <p:ph type="ctrTitle"/>
          </p:nvPr>
        </p:nvSpPr>
        <p:spPr>
          <a:xfrm>
            <a:off x="1206496" y="31084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 ISO-9000，请给出质量的定义，理解并给出其要点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 ISO-9000，请给出需求的定义，理解并给出其要点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产品需求与质量的关系是什么，怎样才能确保产品高质量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需求与设计开发的关系是什么，你是如何做设计与开发的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质量与效率的关系是什么，在工作中如何平衡质量与效率</a:t>
            </a:r>
          </a:p>
        </p:txBody>
      </p:sp>
      <p:sp>
        <p:nvSpPr>
          <p:cNvPr id="208" name="4、需求与产品质量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4、需求与产品质量</a:t>
            </a:r>
          </a:p>
        </p:txBody>
      </p:sp>
      <p:sp>
        <p:nvSpPr>
          <p:cNvPr id="209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原理样机、环境样机到商业产品，需求递进增加哪些内容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原理样机、环境样机到商业产品，需求递进增加哪些内容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产品全生命周期各过程相关方，他们对产品分别有何期望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产品可实现性需求包括哪些方面，这些需求的相关方是谁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产品的成本是设计出来的吗，必须将成本作为产品需求吗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产品研制方案只是技术方案吗，为什么，还包括哪些方案</a:t>
            </a:r>
          </a:p>
        </p:txBody>
      </p:sp>
      <p:sp>
        <p:nvSpPr>
          <p:cNvPr id="212" name="5、是产品还是样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5、是产品还是样机</a:t>
            </a:r>
          </a:p>
        </p:txBody>
      </p:sp>
      <p:sp>
        <p:nvSpPr>
          <p:cNvPr id="213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产品各构件的验证方法、测试用例、工艺卡片是什么关系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产品各构件的验证方法、测试用例、工艺卡片是什么关系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产品开发过程包括其构件的加工、装配或检验技术开发吗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产品开发过程包括其所需物料的供应商开发和选择方案吗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产品开发过程包括其所需新设备或工装夹具的研制方案吗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编制生产线方案、工艺规程和工艺卡片的前提条件是什么</a:t>
            </a:r>
          </a:p>
        </p:txBody>
      </p:sp>
      <p:sp>
        <p:nvSpPr>
          <p:cNvPr id="216" name="6、产品开发与工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6、产品开发与工艺</a:t>
            </a:r>
          </a:p>
        </p:txBody>
      </p:sp>
      <p:sp>
        <p:nvSpPr>
          <p:cNvPr id="217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从产品数据视角看，系统设计过程的起点和终点各是什么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从产品数据视角看，系统设计过程的起点和终点各是什么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系统设计起点的产品数据是什么，请列表说明其主要构成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系统设计终点的产品数据是什么，请列表说明其必要构成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请给出系统设计过程的主要产品数据，并说明它们的关系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作为系统设计师，请列出其负责开发的主要产品数据清单</a:t>
            </a:r>
          </a:p>
        </p:txBody>
      </p:sp>
      <p:sp>
        <p:nvSpPr>
          <p:cNvPr id="220" name="7、系统设计与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7、系统设计与开发</a:t>
            </a:r>
          </a:p>
        </p:txBody>
      </p:sp>
      <p:sp>
        <p:nvSpPr>
          <p:cNvPr id="221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从产品数据视角看，构件开发过程的起点和终点各是什么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从产品数据视角看，构件开发过程的起点和终点各是什么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构件开发起点的产品数据是什么，请列表说明其主要构成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构件开发终点的产品数据是什么，请列表说明其必要构成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请给出构件开发过程的主要产品数据，并说明他们的关系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作为构件设计师，请列出其负责开发的主要产品数据清单</a:t>
            </a:r>
          </a:p>
        </p:txBody>
      </p:sp>
      <p:sp>
        <p:nvSpPr>
          <p:cNvPr id="224" name="8、构件设计与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8、构件设计与开发</a:t>
            </a:r>
          </a:p>
        </p:txBody>
      </p:sp>
      <p:sp>
        <p:nvSpPr>
          <p:cNvPr id="225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构件实现过程包括物料采购、生产、测试、交付和运维吗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构件实现过程包括物料采购、生产、测试、交付和运维吗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基于构件的实现过程，请说明构件实现方案包括哪些方案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构件实现各方案与构件可实现需求是什么关系，举例说明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构件工艺与构件的实现方案是什么关系，应由谁负责开发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构件的实现记录与构件实现方案是什么关系，请举例说明</a:t>
            </a:r>
          </a:p>
        </p:txBody>
      </p:sp>
      <p:sp>
        <p:nvSpPr>
          <p:cNvPr id="228" name="9、构件实现与工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9、构件实现与工艺</a:t>
            </a:r>
          </a:p>
        </p:txBody>
      </p:sp>
      <p:sp>
        <p:nvSpPr>
          <p:cNvPr id="229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系统实现过程包括物料采购、集成、测试、交付和运维吗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系统实现过程包括物料采购、集成、测试、交付和运维吗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基于系统的实现过程，请说明系统实现方案包括哪些方案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系统实现方案与系统的可实现需求是什么关系，举例说明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系统工艺与系统的实现方案是什么关系，应由谁负责开发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系统实现的记录与系统实现方案是什么关系，请举例说明</a:t>
            </a:r>
          </a:p>
        </p:txBody>
      </p:sp>
      <p:sp>
        <p:nvSpPr>
          <p:cNvPr id="232" name="10、系统集成与交付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10、系统集成与交付</a:t>
            </a:r>
          </a:p>
        </p:txBody>
      </p:sp>
      <p:sp>
        <p:nvSpPr>
          <p:cNvPr id="233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请你分别说明产品数据与狭义xBOM、广义xBOM的关系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请你分别说明产品数据与狭义xBOM、广义xBOM的关系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请说明各广义xBOM的主要作用，及它们之间的转换关系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产品设计方案包括哪些广义xBOM，对产品实现有何作用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若把产品研制阶段分为设计和实现，xBOM应分为哪两类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对研发制造类企业，为什么其最重要的数据资产是xBOM</a:t>
            </a:r>
          </a:p>
        </p:txBody>
      </p:sp>
      <p:sp>
        <p:nvSpPr>
          <p:cNvPr id="236" name="11、产品数据与xBOM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11、产品数据与xBOM</a:t>
            </a:r>
          </a:p>
        </p:txBody>
      </p:sp>
      <p:sp>
        <p:nvSpPr>
          <p:cNvPr id="237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什么是系统工程、软件工程、硬件工程，你怎么理解工程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什么是系统工程、软件工程、硬件工程，你怎么理解工程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什么是正向设计、逆向工程，它们与系统工程是什么关系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什么是基于模型的工程、系统工程、软件工程和硬件工程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Rhapsody 建模和仿真的对象是什么，它能实现MBSE吗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是否存在什么工具，可以基本实现基于模型的全过程设计</a:t>
            </a:r>
          </a:p>
        </p:txBody>
      </p:sp>
      <p:sp>
        <p:nvSpPr>
          <p:cNvPr id="240" name="12、基于模型的工程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12、基于模型的工程</a:t>
            </a:r>
          </a:p>
        </p:txBody>
      </p:sp>
      <p:sp>
        <p:nvSpPr>
          <p:cNvPr id="241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系统工程包括产品的价格制定、市场与销售等商业业务吗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系统工程包括产品的价格制定、市场与销售等商业业务吗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什么是集成产品开发（IPD），它与系统工程是什么关系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IPD 如何将价格制定、市场与销售等业务融入系统工程的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系统工程与产品生产是怎样的关系，与售后服务的关系呢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在产品研发领域 ，IPD、系统工程、项目管理是什么关系</a:t>
            </a:r>
          </a:p>
        </p:txBody>
      </p:sp>
      <p:sp>
        <p:nvSpPr>
          <p:cNvPr id="244" name="13、系统工程与其他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13、系统工程与其他</a:t>
            </a:r>
          </a:p>
        </p:txBody>
      </p:sp>
      <p:sp>
        <p:nvSpPr>
          <p:cNvPr id="245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在产品开发过程中，只有产品架构才能基于BB资产开发吗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在产品开发过程中，只有产品架构才能基于BB资产开发吗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相关方需求，系统需求、EBOM、PBOM等应有BB资产吗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基于BB的产品数据开发工具，与该BB的管理工具是何关系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请说明你们公司EBOM的开发工具，以及EBOM的BB资产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基于BB资产开发产品数据，为什么越在设计早期价值越大</a:t>
            </a:r>
          </a:p>
        </p:txBody>
      </p:sp>
      <p:sp>
        <p:nvSpPr>
          <p:cNvPr id="248" name="14、基于BB开发产品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14、基于BB开发产品</a:t>
            </a:r>
          </a:p>
        </p:txBody>
      </p:sp>
      <p:sp>
        <p:nvSpPr>
          <p:cNvPr id="249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将产品开发视为产线，流水线、工位及工艺卡各对应什么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将产品开发视为产线，流水线、工位及工艺卡各对应什么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产品开发策划所需流水线模板，应由谁负责开发，为什么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应由谁负责策划产品开发计划，是项目经理还是项目主管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产品开发项目的计划策划，在项目启动时就要全部完成吗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请你说明产品的成本、质量和开发进度与产品需求的关系</a:t>
            </a:r>
          </a:p>
        </p:txBody>
      </p:sp>
      <p:sp>
        <p:nvSpPr>
          <p:cNvPr id="252" name="15、产品开发PDCA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15、产品开发PDCA</a:t>
            </a:r>
          </a:p>
        </p:txBody>
      </p:sp>
      <p:sp>
        <p:nvSpPr>
          <p:cNvPr id="253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请以数据处理自动化的视角理解信息化、数字化和智能化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请以数据处理自动化的视角理解信息化、数字化和智能化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怎样理解数字化转型中的数字化，是以上三个层级的哪个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什么是产品业务数字化转型，你们产品业务处于哪个层级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从产品数据及工具链考虑，怎样实现产品业务数字化转型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为什么产品业务是企业数字化转型最重要对象，没有之一</a:t>
            </a:r>
          </a:p>
        </p:txBody>
      </p:sp>
      <p:sp>
        <p:nvSpPr>
          <p:cNvPr id="256" name="16、产品业务数字化"/>
          <p:cNvSpPr txBox="1"/>
          <p:nvPr>
            <p:ph type="subTitle" sz="quarter" idx="1"/>
          </p:nvPr>
        </p:nvSpPr>
        <p:spPr>
          <a:xfrm>
            <a:off x="1206500" y="8006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16、产品业务数字化</a:t>
            </a:r>
          </a:p>
        </p:txBody>
      </p:sp>
      <p:sp>
        <p:nvSpPr>
          <p:cNvPr id="257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组织的运营管理业务总是不断变化，这是常态吗，为什么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组织的运营管理业务总是不断变化，这是常态吗，为什么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MIS系统提供的业务场景应该是业界最佳实践吗，为什么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管理业务持续演化，可与之持续对齐的MIS系统有何特点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用于数据开发的IT工具叫什么，用于数据管理的IT工具呢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构建MIS系统，如何彻底地打通业务断点和消除数据孤岛</a:t>
            </a:r>
          </a:p>
        </p:txBody>
      </p:sp>
      <p:sp>
        <p:nvSpPr>
          <p:cNvPr id="260" name="17、管理业务数字化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17、管理业务数字化</a:t>
            </a:r>
          </a:p>
        </p:txBody>
      </p:sp>
      <p:sp>
        <p:nvSpPr>
          <p:cNvPr id="261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使用AI及其相关工具，如何开发系统设计过程各产品数据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使用AI及其相关工具，如何开发系统设计过程各产品数据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从功能需求到代码提交，哪些文档应由AI而无须人工开发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如何从开发过程的产品数据清单入手，识别AI的应用场景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面对被AI替代的风险，作为代码开发者，我们将如何转型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基于AI的IT开发团队应配置哪些角色、知识资产和工具集</a:t>
            </a:r>
          </a:p>
        </p:txBody>
      </p:sp>
      <p:sp>
        <p:nvSpPr>
          <p:cNvPr id="264" name="18、基于AI的IT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18、基于AI的IT开发</a:t>
            </a:r>
          </a:p>
        </p:txBody>
      </p:sp>
      <p:sp>
        <p:nvSpPr>
          <p:cNvPr id="265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产品的功能、可实现性、成本、价格，哪些是其固有特性…"/>
          <p:cNvSpPr txBox="1"/>
          <p:nvPr>
            <p:ph type="ctrTitle"/>
          </p:nvPr>
        </p:nvSpPr>
        <p:spPr>
          <a:xfrm>
            <a:off x="12191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产品的功能、可实现性、成本、价格，哪些是其固有特性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列出全面高效准确地捕获相关方需求的过程、资产和工具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请以产品数据清单和AI为抓手，定义产品设计与实现过程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在产品数据和AI的视角下，如何高效研制优质低成本产品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提升产品开发能力，组织如何解决任务重、无资源等矛盾</a:t>
            </a:r>
          </a:p>
        </p:txBody>
      </p:sp>
      <p:sp>
        <p:nvSpPr>
          <p:cNvPr id="268" name="19、高效优质低成本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19、高效优质低成本</a:t>
            </a:r>
          </a:p>
        </p:txBody>
      </p:sp>
      <p:sp>
        <p:nvSpPr>
          <p:cNvPr id="269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基本概念：需求、设计与开发、质量、工程、产品数据、BB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基本概念：需求、设计与开发、质量、工程、产品数据、BB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需求层级：功能需求、环境适应性需求、可实现性需求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产品过程：物料采购、制造、测试、交付、部署、运维、回收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产品数据：既是相关方价值体现，也是管理最重要对象和抓手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数字化转型：试着将你所有工作用AI重做一遍，再重做一遍</a:t>
            </a:r>
          </a:p>
        </p:txBody>
      </p:sp>
      <p:sp>
        <p:nvSpPr>
          <p:cNvPr id="272" name="20、基本概念与框架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20、基本概念与框架</a:t>
            </a:r>
          </a:p>
        </p:txBody>
      </p:sp>
      <p:sp>
        <p:nvSpPr>
          <p:cNvPr id="273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请每人给出最有可能用到的三个知识点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请每人给出最有可能用到的三个知识点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请每人给出部门最应该改进的三个事项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培训组织者给出最大共识的三个知识点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请培训组织者给出最大共识的三个事项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请部门领导对三个事项策划出实施方案</a:t>
            </a:r>
          </a:p>
        </p:txBody>
      </p:sp>
      <p:sp>
        <p:nvSpPr>
          <p:cNvPr id="276" name="21、课后一周内作业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21、课后一周内作业</a:t>
            </a:r>
          </a:p>
        </p:txBody>
      </p:sp>
      <p:sp>
        <p:nvSpPr>
          <p:cNvPr id="277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怎样格式的产品数据便于显性化表达需求持续分解与分配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怎样格式的产品数据便于显性化表达需求持续分解与分配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相关方清单到实现方案，系统设计的主要产品数据有哪些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请以EXCEL格式定义以上产品数据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模板及各表头主要字段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请基于以上产品数据模板说明需求持续分解与分配的过程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请使用以上模板，说明基于BB资产开发各产品数据的思路</a:t>
            </a:r>
          </a:p>
        </p:txBody>
      </p:sp>
      <p:sp>
        <p:nvSpPr>
          <p:cNvPr id="280" name="22、试点项目练习一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22、试点项目练习一</a:t>
            </a:r>
          </a:p>
        </p:txBody>
      </p:sp>
      <p:sp>
        <p:nvSpPr>
          <p:cNvPr id="281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结合你们部门的最主要产品，并列出该产品的相关方清单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结合你们部门的最主要产品，并列出该产品的相关方清单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请补充完善该产品的相关方需求，考虑功能、环境和产品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选择几条相关方需求，对其进行分解、分配、分析及确认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请选择几条系统需求，对其进行分解、分配、分析及确认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选择产品架构一个节点，对其进行详细设计、评审和确认</a:t>
            </a:r>
          </a:p>
        </p:txBody>
      </p:sp>
      <p:sp>
        <p:nvSpPr>
          <p:cNvPr id="284" name="23、试点项目练习二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23、试点项目练习二</a:t>
            </a:r>
          </a:p>
        </p:txBody>
      </p:sp>
      <p:sp>
        <p:nvSpPr>
          <p:cNvPr id="285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基于BB资产，开发相关方需求，并进行相关知识资产管理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基于BB资产，开发相关方需求，并进行相关知识资产管理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请基于BB资产，开发系统需求，并进行相关知识资产管理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请基于BB资产，开发系统架构，并进行相关知识资产管理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请基于BB资产，开发构件方案，并进行相关知识资产管理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请基于BB资产，开发WBS模板，并进行相关知识资产管理</a:t>
            </a:r>
          </a:p>
        </p:txBody>
      </p:sp>
      <p:sp>
        <p:nvSpPr>
          <p:cNvPr id="288" name="24、试点项目练习三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24、试点项目练习三</a:t>
            </a:r>
          </a:p>
        </p:txBody>
      </p:sp>
      <p:sp>
        <p:nvSpPr>
          <p:cNvPr id="289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请给出以下三个概念之间的关系：需求、质量、设计与开发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请给出以下三个概念之间的关系：需求、质量、设计与开发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请给出相关方需求、系统需求、系统架构、实现方案的关系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除了构件的设计图纸或代码之外，构件方案还包括哪些方案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请说明DBOM、EBOM、PBOM、MBOM以及SBOM的关系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说明产品、产品数据、工程方法、CAX、数字化转型的关系</a:t>
            </a:r>
          </a:p>
        </p:txBody>
      </p:sp>
      <p:sp>
        <p:nvSpPr>
          <p:cNvPr id="292" name="25、练习结束总结一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25、练习结束总结一</a:t>
            </a:r>
          </a:p>
        </p:txBody>
      </p:sp>
      <p:sp>
        <p:nvSpPr>
          <p:cNvPr id="293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6C6C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请以系统需求为例，说明基于 BB 资产开发及知识管理场景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 startAt="1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请以系统需求为例，说明基于 BB 资产开发及知识管理场景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请总结涵盖原理样机、环境样机和产品化的相关方需求框架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请以系统需求对相关方需求的符合性为例，说明设计的内涵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请说明产品的成本、质量、开发进度等相关开发或管理过程</a:t>
            </a:r>
          </a:p>
          <a:p>
            <a:pPr lvl="2" marL="2741083" indent="-963083" defTabSz="914400">
              <a:lnSpc>
                <a:spcPct val="200000"/>
              </a:lnSpc>
              <a:spcBef>
                <a:spcPts val="600"/>
              </a:spcBef>
              <a:buSzPct val="100000"/>
              <a:defRPr b="0" spc="0" sz="52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在产品研制语境中，什么是高效、优质、低成本，怎样实现</a:t>
            </a:r>
          </a:p>
        </p:txBody>
      </p:sp>
      <p:sp>
        <p:nvSpPr>
          <p:cNvPr id="296" name="26、练习结束总结二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pPr/>
            <a:r>
              <a:t>26、练习结束总结二</a:t>
            </a:r>
          </a:p>
        </p:txBody>
      </p:sp>
      <p:sp>
        <p:nvSpPr>
          <p:cNvPr id="297" name="幻灯片编号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2024～2026"/>
          <p:cNvSpPr txBox="1"/>
          <p:nvPr>
            <p:ph type="body" idx="21"/>
          </p:nvPr>
        </p:nvSpPr>
        <p:spPr>
          <a:xfrm>
            <a:off x="1206498" y="11224801"/>
            <a:ext cx="21971003" cy="121312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 defTabSz="825500">
              <a:defRPr sz="4800"/>
            </a:lvl1pPr>
          </a:lstStyle>
          <a:p>
            <a:pPr/>
            <a:r>
              <a:t>2024～2026</a:t>
            </a:r>
          </a:p>
        </p:txBody>
      </p:sp>
      <p:sp>
        <p:nvSpPr>
          <p:cNvPr id="300" name="Q&amp;A…"/>
          <p:cNvSpPr txBox="1"/>
          <p:nvPr>
            <p:ph type="ctrTitle"/>
          </p:nvPr>
        </p:nvSpPr>
        <p:spPr>
          <a:xfrm>
            <a:off x="1206496" y="3430358"/>
            <a:ext cx="21971004" cy="4465934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50000"/>
              </a:lnSpc>
              <a:spcBef>
                <a:spcPts val="600"/>
              </a:spcBef>
              <a:defRPr b="0" spc="0" sz="10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Q&amp;A</a:t>
            </a:r>
          </a:p>
          <a:p>
            <a:pPr algn="ctr" defTabSz="914400">
              <a:lnSpc>
                <a:spcPct val="150000"/>
              </a:lnSpc>
              <a:spcBef>
                <a:spcPts val="600"/>
              </a:spcBef>
              <a:defRPr b="0" spc="0" sz="600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相互学习、共同进步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