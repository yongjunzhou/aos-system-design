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24384000" cy="13716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3708400"/>
            <a:ext cx="21971000" cy="4470400"/>
          </a:xfrm>
          <a:prstGeom prst="rect">
            <a:avLst/>
          </a:prstGeom>
          <a:noFill/>
        </p:spPr>
        <p:txBody>
          <a:bodyPr wrap="square" anchor="t" lIns="0" rIns="0" tIns="0" bIns="0">
            <a:spAutoFit/>
          </a:bodyPr>
          <a:lstStyle/>
          <a:p>
            <a:pPr algn="ctr">
              <a:lnSpc>
                <a:spcPct val="100000"/>
              </a:lnSpc>
              <a:spcAft>
                <a:spcPts val="6000"/>
              </a:spcAft>
            </a:pPr>
            <a:r>
              <a:rPr sz="10000" b="1">
                <a:solidFill>
                  <a:srgbClr val="000000"/>
                </a:solidFill>
                <a:latin typeface="微软雅黑"/>
                <a:ea typeface="微软雅黑"/>
              </a:rPr>
              <a:t>运营体系正向设计基础概念</a:t>
            </a:r>
          </a:p>
          <a:p>
            <a:pPr algn="ctr">
              <a:lnSpc>
                <a:spcPct val="100000"/>
              </a:lnSpc>
            </a:pPr>
            <a:r>
              <a:rPr sz="6000" b="1">
                <a:solidFill>
                  <a:srgbClr val="000000"/>
                </a:solidFill>
                <a:latin typeface="微软雅黑"/>
                <a:ea typeface="微软雅黑"/>
              </a:rPr>
              <a:t>——答题 · 第 X 组</a:t>
            </a:r>
          </a:p>
        </p:txBody>
      </p:sp>
      <p:sp>
        <p:nvSpPr>
          <p:cNvPr id="3" name="TextBox 2"/>
          <p:cNvSpPr txBox="1"/>
          <p:nvPr/>
        </p:nvSpPr>
        <p:spPr>
          <a:xfrm>
            <a:off x="1206500" y="11224801"/>
            <a:ext cx="21971000" cy="1213127"/>
          </a:xfrm>
          <a:prstGeom prst="rect">
            <a:avLst/>
          </a:prstGeom>
          <a:noFill/>
        </p:spPr>
        <p:txBody>
          <a:bodyPr wrap="square" anchor="t" lIns="0" rIns="0" tIns="0" bIns="0">
            <a:spAutoFit/>
          </a:bodyPr>
          <a:lstStyle/>
          <a:p>
            <a:pPr algn="ctr">
              <a:lnSpc>
                <a:spcPct val="100000"/>
              </a:lnSpc>
            </a:pPr>
            <a:r>
              <a:rPr sz="4800" b="1">
                <a:solidFill>
                  <a:srgbClr val="000000"/>
                </a:solidFill>
                <a:latin typeface="微软雅黑"/>
                <a:ea typeface="微软雅黑"/>
              </a:rPr>
              <a:t>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什么是运营体系，什么是运营，什么是体系，运营体系的目的是什么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业务需求、合规要素、制度流程、IT系统及运行，哪些属于运营体系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支持管理业务的信息系统属于运营体系，研发所用的CAX工具算不算</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把运营体系看作产品，其所有方、需求方、开发方、使用方分别是谁</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运营体系是一个系统，运营体系的开发实现并运行应使用什么方法论</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产品开发含系统及各构件过程，视为一组流水线，线上流动的是什么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在产品开发过程中，各相关方所贡献的价值最终体现在什么载体上呢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产品与其产品数据是什么关系，开发产品本质上就是开发产品数据吗</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为什么应该用产品数据清单而非业务流程活动定义开发团队成员职责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判断管理是否精益，就看活动是否让产品数据增值，这样说对不对呢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什么是需求，什么是需要、期望，怎么理解声明的、隐含的、强制的</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什么是规定的需求，为什么要把隐含的和强制的需求转为规定的需求</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基于ISO标准，什么是质量，什么是固有特性，这里的需求类型是什么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好需求的判据有哪些，它们怎么来，为何好需求对产品开发非常重要</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质量与需求的关系是什么，当质量与进度发生冲突时，该怎么处理呢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基于ISO标准，何为设计与开发，该定义有哪些主要元素，你如何理解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产品设计过程起点终点各有什么产品数据，设计的终点是什么的起点</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产品工艺编制是否属于产品开发，为什么，它输出的产品数据是什么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设计开发、需求、质量三个概念，它们彼此之间究竟是怎样的关系呢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运营体系开发过程的终点是什么，它输出的产品数据具体包括哪些呢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系统工程、软件工程、硬件工程中，工程是什么，你怎么理解XX工程</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工程的底座是什么，工程的特征有哪些，它与手艺的区别究竟是什么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什么是工程化、系统化，系统化、工程化、流程化、信息化四者关系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个人能力和个人工程能力是一回事吗，那团队能力和团队工程能力呢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什么是工程师，流程工程师以什么产品为开发对象，能力和职责清单</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什么是系统的目的，定义有哪些主要元素，对系统开发的意义是什么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什么是系统的目标，定义有哪些主要元素，对系统开发的意义是什么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系统的目的、目标和需求是什么关系，请你以一个具体产品举例说明</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系统的目的是谁定义的，没有或不了解目的，系统开发会有什么问题</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开发运营体系，流程工程师应该最先明确它的目的还是目标，为什么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基于ISO标准，什么是评审，该定义有哪些主要构成元素，你怎样理解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基于ISO标准，什么是确认，该定义有哪些主要构成元素，你怎样理解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基于ISO标准，什么是验证，该定义有哪些主要构成元素，你怎样理解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目的、目标、需求与评审、确认、验证什么关系，确认的依据是什么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运营体系某个业务系统测试全部通过但无人使用，可能缺哪一道关口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基于ISO标准，什么是架构，定义中有哪些主要元素，你是怎么理解的</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架构定义中，基本概念中的基本，判据是什么，与系统目的有何关系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什么是架构的视图，TOGAF的四个架构，它们与企业架构是什么关系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开发架构过程，其输入的产品数据有哪些，其输出的产品数据有哪些</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系统架构表示为基本概念和基本属性清单，对系统开发的作用是什么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基于ISO标准，什么是治理，定义中有哪些主要元素，你是怎样理解的</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为什么业务存在委托时，就必须要有治理，治理的目的究竟是什么呢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治理与管理的关系是什么，为什么管理不能取代治理，二者如何分工</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治理是怎么启动的，怎样执行的，管理是怎么启动的，怎样执行的呢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企业架构为什么必须治理，其目的和组织是什么，架构师职责是什么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什么是概念，所指、能指和指称各是什么，它们之中哪个才是概念呢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概念体系中，什么是根概念、核心概念和一般概念，它们是什么关系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在一个专业领域，掌握根概念和核心概念，对理解专业有什么作用呢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你怎么掌握理解一个概念的，有什么判据可以判定你掌握了某个概念</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给出运营体系这个领域的根概念与核心概念，并说明各自的判断依据</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