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notesMaster" Target="notesMasters/notesMaster1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和日期"/>
          <p:cNvSpPr txBox="1"/>
          <p:nvPr>
            <p:ph type="body" sz="quarter" idx="21" hasCustomPrompt="1"/>
          </p:nvPr>
        </p:nvSpPr>
        <p:spPr>
          <a:xfrm>
            <a:off x="1206498" y="11839048"/>
            <a:ext cx="21971003" cy="636979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sz="3060" b="1"/>
            </a:lvl1pPr>
          </a:lstStyle>
          <a:p>
            <a:r>
              <a:t>作者和日期</a:t>
            </a:r>
          </a:p>
        </p:txBody>
      </p:sp>
      <p:sp>
        <p:nvSpPr>
          <p:cNvPr id="12" name="演示文稿标题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演示文稿标题</a:t>
            </a:r>
          </a:p>
        </p:txBody>
      </p:sp>
      <p:sp>
        <p:nvSpPr>
          <p:cNvPr id="13" name="正文级别 1…"/>
          <p:cNvSpPr txBox="1"/>
          <p:nvPr>
            <p:ph type="body" sz="quarter" idx="1" hasCustomPrompt="1"/>
          </p:nvPr>
        </p:nvSpPr>
        <p:spPr>
          <a:xfrm>
            <a:off x="1206500" y="7196865"/>
            <a:ext cx="21971000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72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72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72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72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7200" b="1"/>
            </a:lvl5pPr>
          </a:lstStyle>
          <a:p>
            <a:r>
              <a:t>演示文稿副标题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4" name="01"/>
          <p:cNvSpPr txBox="1"/>
          <p:nvPr>
            <p:ph type="sldNum" sz="quarter" idx="2"/>
          </p:nvPr>
        </p:nvSpPr>
        <p:spPr>
          <a:xfrm>
            <a:off x="11965381" y="12994233"/>
            <a:ext cx="453238" cy="46136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绿色丘陵景观"/>
          <p:cNvSpPr/>
          <p:nvPr>
            <p:ph type="pic" idx="21"/>
          </p:nvPr>
        </p:nvSpPr>
        <p:spPr>
          <a:xfrm>
            <a:off x="-431800" y="-4038600"/>
            <a:ext cx="29464000" cy="18034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22" name="演示文稿标题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演示文稿标题</a:t>
            </a:r>
          </a:p>
        </p:txBody>
      </p:sp>
      <p:sp>
        <p:nvSpPr>
          <p:cNvPr id="23" name="作者和日期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sz="3060" b="1"/>
            </a:lvl1pPr>
          </a:lstStyle>
          <a:p>
            <a:r>
              <a:t>作者和日期</a:t>
            </a:r>
          </a:p>
        </p:txBody>
      </p:sp>
      <p:sp>
        <p:nvSpPr>
          <p:cNvPr id="24" name="正文级别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4468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72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72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72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72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7200" b="1"/>
            </a:lvl5pPr>
          </a:lstStyle>
          <a:p>
            <a:r>
              <a:t>演示文稿副标题 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5" name="01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幻灯片标题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幻灯片标题</a:t>
            </a:r>
          </a:p>
        </p:txBody>
      </p:sp>
      <p:sp>
        <p:nvSpPr>
          <p:cNvPr id="33" name="正文级别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2403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72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72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72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72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7200" b="1"/>
            </a:lvl5pPr>
          </a:lstStyle>
          <a:p>
            <a:r>
              <a:t>幻灯片副标题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4" name="苔藓覆盖的岩石"/>
          <p:cNvSpPr/>
          <p:nvPr>
            <p:ph type="pic" sz="half" idx="21"/>
          </p:nvPr>
        </p:nvSpPr>
        <p:spPr>
          <a:xfrm>
            <a:off x="12052303" y="1270000"/>
            <a:ext cx="11188406" cy="1120988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35" name="01"/>
          <p:cNvSpPr txBox="1"/>
          <p:nvPr>
            <p:ph type="sldNum" sz="quarter" idx="2"/>
          </p:nvPr>
        </p:nvSpPr>
        <p:spPr>
          <a:xfrm>
            <a:off x="11959132" y="12998467"/>
            <a:ext cx="453239" cy="46136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灯片标题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幻灯片标题</a:t>
            </a:r>
          </a:p>
        </p:txBody>
      </p:sp>
      <p:sp>
        <p:nvSpPr>
          <p:cNvPr id="43" name="幻灯片副标题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553085">
              <a:lnSpc>
                <a:spcPct val="100000"/>
              </a:lnSpc>
              <a:spcBef>
                <a:spcPts val="0"/>
              </a:spcBef>
              <a:buSzTx/>
              <a:buNone/>
              <a:defRPr sz="4825" b="1"/>
            </a:lvl1pPr>
          </a:lstStyle>
          <a:p>
            <a:r>
              <a:t>幻灯片副标题</a:t>
            </a:r>
          </a:p>
        </p:txBody>
      </p:sp>
      <p:sp>
        <p:nvSpPr>
          <p:cNvPr id="44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幻灯片项目符号文本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5" name="01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幻灯片项目符号文本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53" name="01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幻灯片标题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幻灯片标题</a:t>
            </a:r>
          </a:p>
        </p:txBody>
      </p:sp>
      <p:sp>
        <p:nvSpPr>
          <p:cNvPr id="61" name="幻灯片副标题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553085">
              <a:lnSpc>
                <a:spcPct val="100000"/>
              </a:lnSpc>
              <a:spcBef>
                <a:spcPts val="0"/>
              </a:spcBef>
              <a:buSzTx/>
              <a:buNone/>
              <a:defRPr sz="4825" b="1"/>
            </a:lvl1pPr>
          </a:lstStyle>
          <a:p>
            <a:r>
              <a:t>幻灯片副标题</a:t>
            </a:r>
          </a:p>
        </p:txBody>
      </p:sp>
      <p:sp>
        <p:nvSpPr>
          <p:cNvPr id="6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r>
              <a:t>幻灯片项目符号文本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63" name="乌云下的大岩层，前景是一条土路"/>
          <p:cNvSpPr/>
          <p:nvPr>
            <p:ph type="pic" idx="22"/>
          </p:nvPr>
        </p:nvSpPr>
        <p:spPr>
          <a:xfrm>
            <a:off x="6380200" y="1263848"/>
            <a:ext cx="22529801" cy="1119347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64" name="01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、项目符号与实时视频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幻灯片标题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幻灯片标题</a:t>
            </a:r>
          </a:p>
        </p:txBody>
      </p:sp>
      <p:sp>
        <p:nvSpPr>
          <p:cNvPr id="72" name="幻灯片副标题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553085">
              <a:lnSpc>
                <a:spcPct val="100000"/>
              </a:lnSpc>
              <a:spcBef>
                <a:spcPts val="0"/>
              </a:spcBef>
              <a:buSzTx/>
              <a:buNone/>
              <a:defRPr sz="4825" b="1"/>
            </a:lvl1pPr>
          </a:lstStyle>
          <a:p>
            <a:r>
              <a:t>幻灯片副标题</a:t>
            </a:r>
          </a:p>
        </p:txBody>
      </p:sp>
      <p:sp>
        <p:nvSpPr>
          <p:cNvPr id="73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r>
              <a:t>幻灯片项目符号文本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74" name="01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、项目符号与实时视频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幻灯片标题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幻灯片标题</a:t>
            </a:r>
          </a:p>
        </p:txBody>
      </p:sp>
      <p:sp>
        <p:nvSpPr>
          <p:cNvPr id="82" name="幻灯片副标题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553085">
              <a:lnSpc>
                <a:spcPct val="100000"/>
              </a:lnSpc>
              <a:spcBef>
                <a:spcPts val="0"/>
              </a:spcBef>
              <a:buSzTx/>
              <a:buNone/>
              <a:defRPr sz="4825" b="1"/>
            </a:lvl1pPr>
          </a:lstStyle>
          <a:p>
            <a:r>
              <a:t>幻灯片副标题</a:t>
            </a:r>
          </a:p>
        </p:txBody>
      </p:sp>
      <p:sp>
        <p:nvSpPr>
          <p:cNvPr id="83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r>
              <a:t>幻灯片项目符号文本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84" name="01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章节标题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章节标题</a:t>
            </a:r>
          </a:p>
        </p:txBody>
      </p:sp>
      <p:sp>
        <p:nvSpPr>
          <p:cNvPr id="92" name="01"/>
          <p:cNvSpPr txBox="1"/>
          <p:nvPr>
            <p:ph type="sldNum" sz="quarter" idx="2"/>
          </p:nvPr>
        </p:nvSpPr>
        <p:spPr>
          <a:xfrm>
            <a:off x="11959132" y="12998467"/>
            <a:ext cx="453239" cy="46136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幻灯片标题"/>
          <p:cNvSpPr txBox="1"/>
          <p:nvPr>
            <p:ph type="title" hasCustomPrompt="1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幻灯片标题</a:t>
            </a:r>
          </a:p>
        </p:txBody>
      </p:sp>
      <p:sp>
        <p:nvSpPr>
          <p:cNvPr id="100" name="幻灯片副标题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553085">
              <a:lnSpc>
                <a:spcPct val="100000"/>
              </a:lnSpc>
              <a:spcBef>
                <a:spcPts val="0"/>
              </a:spcBef>
              <a:buSzTx/>
              <a:buNone/>
              <a:defRPr sz="4825" b="1"/>
            </a:lvl1pPr>
          </a:lstStyle>
          <a:p>
            <a:r>
              <a:t>幻灯片副标题</a:t>
            </a:r>
          </a:p>
        </p:txBody>
      </p:sp>
      <p:sp>
        <p:nvSpPr>
          <p:cNvPr id="101" name="01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议程标题"/>
          <p:cNvSpPr txBox="1"/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议程标题</a:t>
            </a:r>
          </a:p>
        </p:txBody>
      </p:sp>
      <p:sp>
        <p:nvSpPr>
          <p:cNvPr id="109" name="议程副标题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553085">
              <a:lnSpc>
                <a:spcPct val="100000"/>
              </a:lnSpc>
              <a:spcBef>
                <a:spcPts val="0"/>
              </a:spcBef>
              <a:buSzTx/>
              <a:buNone/>
              <a:defRPr sz="4825" b="1"/>
            </a:lvl1pPr>
          </a:lstStyle>
          <a:p>
            <a:r>
              <a:t>议程副标题</a:t>
            </a:r>
          </a:p>
        </p:txBody>
      </p:sp>
      <p:sp>
        <p:nvSpPr>
          <p:cNvPr id="110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议程主题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11" name="01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正文级别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说明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19" name="01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显著事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事实信息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26440">
              <a:lnSpc>
                <a:spcPct val="100000"/>
              </a:lnSpc>
              <a:spcBef>
                <a:spcPts val="0"/>
              </a:spcBef>
              <a:buSzTx/>
              <a:buNone/>
              <a:defRPr sz="4840" b="1"/>
            </a:lvl1pPr>
          </a:lstStyle>
          <a:p>
            <a:r>
              <a:t>事实信息</a:t>
            </a:r>
          </a:p>
        </p:txBody>
      </p:sp>
      <p:sp>
        <p:nvSpPr>
          <p:cNvPr id="127" name="正文级别 1…"/>
          <p:cNvSpPr txBox="1"/>
          <p:nvPr>
            <p:ph type="body" idx="1" hasCustomPrompt="1"/>
          </p:nvPr>
        </p:nvSpPr>
        <p:spPr>
          <a:xfrm>
            <a:off x="1206500" y="935258"/>
            <a:ext cx="21971000" cy="7359063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28" name="01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属性"/>
          <p:cNvSpPr txBox="1"/>
          <p:nvPr>
            <p:ph type="body" sz="quarter" idx="21" hasCustomPrompt="1"/>
          </p:nvPr>
        </p:nvSpPr>
        <p:spPr>
          <a:xfrm>
            <a:off x="2480825" y="10675453"/>
            <a:ext cx="201492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sz="3060" b="1"/>
            </a:lvl1pPr>
          </a:lstStyle>
          <a:p>
            <a:r>
              <a:t>属性</a:t>
            </a:r>
          </a:p>
        </p:txBody>
      </p:sp>
      <p:sp>
        <p:nvSpPr>
          <p:cNvPr id="136" name="正文级别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 anchor="ctr"/>
          <a:lstStyle>
            <a:lvl1pPr marL="638810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810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810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810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810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“著名引文”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37" name="01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生长在岩石之间的野生植物的特写"/>
          <p:cNvSpPr/>
          <p:nvPr>
            <p:ph type="pic" sz="quarter" idx="21"/>
          </p:nvPr>
        </p:nvSpPr>
        <p:spPr>
          <a:xfrm>
            <a:off x="15430500" y="7085409"/>
            <a:ext cx="8128000" cy="54102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45" name="乌云下的大岩层，前景是一条土路"/>
          <p:cNvSpPr/>
          <p:nvPr>
            <p:ph type="pic" idx="22"/>
          </p:nvPr>
        </p:nvSpPr>
        <p:spPr>
          <a:xfrm>
            <a:off x="-2933700" y="1270000"/>
            <a:ext cx="22699133" cy="11277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46" name="生长在熔岩岩石之间的野生植物的特写"/>
          <p:cNvSpPr/>
          <p:nvPr>
            <p:ph type="pic" sz="quarter" idx="23"/>
          </p:nvPr>
        </p:nvSpPr>
        <p:spPr>
          <a:xfrm>
            <a:off x="15430500" y="1270000"/>
            <a:ext cx="8128000" cy="541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47" name="01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被绿色岩石景观环绕的瀑布"/>
          <p:cNvSpPr/>
          <p:nvPr>
            <p:ph type="pic" idx="21"/>
          </p:nvPr>
        </p:nvSpPr>
        <p:spPr>
          <a:xfrm>
            <a:off x="-1511300" y="-3721100"/>
            <a:ext cx="28511500" cy="1903024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55" name="01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01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"/>
          <p:cNvSpPr txBox="1"/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r>
              <a:t>幻灯片标题</a:t>
            </a:r>
          </a:p>
        </p:txBody>
      </p:sp>
      <p:sp>
        <p:nvSpPr>
          <p:cNvPr id="3" name="正文级别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r>
              <a:t>幻灯片项目符号文本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" name="01"/>
          <p:cNvSpPr txBox="1"/>
          <p:nvPr>
            <p:ph type="sldNum" sz="quarter" idx="2"/>
          </p:nvPr>
        </p:nvSpPr>
        <p:spPr>
          <a:xfrm>
            <a:off x="11959132" y="12994233"/>
            <a:ext cx="453239" cy="46136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2400"/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ransition spd="med"/>
  <p:txStyles>
    <p:titleStyle>
      <a:lvl1pPr marL="0" marR="0" indent="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2025～2026"/>
          <p:cNvSpPr txBox="1"/>
          <p:nvPr>
            <p:ph type="body" idx="21"/>
          </p:nvPr>
        </p:nvSpPr>
        <p:spPr>
          <a:xfrm>
            <a:off x="1206498" y="11224801"/>
            <a:ext cx="21971003" cy="1213127"/>
          </a:xfrm>
          <a:prstGeom prst="rect">
            <a:avLst/>
          </a:prstGeom>
        </p:spPr>
        <p:txBody>
          <a:bodyPr/>
          <a:lstStyle>
            <a:lvl1pPr algn="ctr" defTabSz="825500">
              <a:defRPr sz="4800"/>
            </a:lvl1pPr>
          </a:lstStyle>
          <a:p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2025～2026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2" name="如何开发运营体系…"/>
          <p:cNvSpPr txBox="1"/>
          <p:nvPr>
            <p:ph type="ctrTitle"/>
          </p:nvPr>
        </p:nvSpPr>
        <p:spPr>
          <a:xfrm>
            <a:off x="1206496" y="3709758"/>
            <a:ext cx="21971004" cy="4465934"/>
          </a:xfrm>
          <a:prstGeom prst="rect">
            <a:avLst/>
          </a:prstGeom>
        </p:spPr>
        <p:txBody>
          <a:bodyPr anchor="t"/>
          <a:lstStyle/>
          <a:p>
            <a:pPr algn="ctr" defTabSz="914400">
              <a:lnSpc>
                <a:spcPct val="150000"/>
              </a:lnSpc>
              <a:spcBef>
                <a:spcPts val="600"/>
              </a:spcBef>
              <a:defRPr sz="100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8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如何开发运营体系</a:t>
            </a:r>
            <a:endParaRPr sz="8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defTabSz="914400">
              <a:lnSpc>
                <a:spcPct val="150000"/>
              </a:lnSpc>
              <a:spcBef>
                <a:spcPts val="600"/>
              </a:spcBef>
              <a:defRPr sz="60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——正向设计方法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6C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基础概念对齐…"/>
          <p:cNvSpPr txBox="1"/>
          <p:nvPr>
            <p:ph type="ctrTitle"/>
          </p:nvPr>
        </p:nvSpPr>
        <p:spPr>
          <a:xfrm>
            <a:off x="1206496" y="3159203"/>
            <a:ext cx="21863437" cy="8978707"/>
          </a:xfrm>
          <a:prstGeom prst="rect">
            <a:avLst/>
          </a:prstGeom>
        </p:spPr>
        <p:txBody>
          <a:bodyPr anchor="t"/>
          <a:lstStyle/>
          <a:p>
            <a:pPr algn="ctr" defTabSz="914400">
              <a:lnSpc>
                <a:spcPct val="120000"/>
              </a:lnSpc>
              <a:spcBef>
                <a:spcPts val="600"/>
              </a:spcBef>
              <a:defRPr sz="60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</a:p>
          <a:p>
            <a:pPr algn="ctr" defTabSz="914400">
              <a:lnSpc>
                <a:spcPct val="120000"/>
              </a:lnSpc>
              <a:spcBef>
                <a:spcPts val="600"/>
              </a:spcBef>
              <a:defRPr sz="60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基础概念对齐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algn="ctr" defTabSz="914400">
              <a:lnSpc>
                <a:spcPct val="120000"/>
              </a:lnSpc>
              <a:spcBef>
                <a:spcPts val="600"/>
              </a:spcBef>
              <a:defRPr sz="60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消除方言行话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5" name="01"/>
          <p:cNvSpPr txBox="1"/>
          <p:nvPr>
            <p:ph type="sldNum" sz="quarter" idx="4294967295"/>
          </p:nvPr>
        </p:nvSpPr>
        <p:spPr>
          <a:xfrm>
            <a:off x="12050115" y="12994233"/>
            <a:ext cx="283770" cy="46136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176" name="预习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r>
              <a:rPr>
                <a:latin typeface="微软雅黑" panose="020B0503020204020204" charset="-122"/>
                <a:ea typeface="微软雅黑" panose="020B0503020204020204" charset="-122"/>
              </a:rPr>
              <a:t>预习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6C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业务：Business，企业赖以生存的核心商业活动，其内涵经常被扩大…"/>
          <p:cNvSpPr txBox="1"/>
          <p:nvPr>
            <p:ph type="ctrTitle"/>
          </p:nvPr>
        </p:nvSpPr>
        <p:spPr>
          <a:xfrm>
            <a:off x="1206496" y="3096189"/>
            <a:ext cx="21971004" cy="10128144"/>
          </a:xfrm>
          <a:prstGeom prst="rect">
            <a:avLst/>
          </a:prstGeom>
        </p:spPr>
        <p:txBody>
          <a:bodyPr anchor="t"/>
          <a:lstStyle/>
          <a:p>
            <a:pPr marL="1524000" indent="-762000" defTabSz="914400">
              <a:lnSpc>
                <a:spcPct val="150000"/>
              </a:lnSpc>
              <a:spcBef>
                <a:spcPts val="600"/>
              </a:spcBef>
              <a:buSzPct val="123000"/>
              <a:buChar char="•"/>
              <a:defRPr sz="48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业务：Business，企业赖以生存的核心商业活动，其内涵经常被扩大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24000" indent="-762000" algn="l" defTabSz="914400">
              <a:lnSpc>
                <a:spcPct val="150000"/>
              </a:lnSpc>
              <a:spcBef>
                <a:spcPts val="600"/>
              </a:spcBef>
              <a:buSzPct val="123000"/>
              <a:buChar char="•"/>
              <a:defRPr sz="48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经营：Business Operation，维持业务正常运行的整体活动，侧重规划决策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24000" indent="-762000" algn="l" defTabSz="914400">
              <a:lnSpc>
                <a:spcPct val="150000"/>
              </a:lnSpc>
              <a:spcBef>
                <a:spcPts val="600"/>
              </a:spcBef>
              <a:buSzPct val="123000"/>
              <a:buChar char="•"/>
              <a:defRPr sz="48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管理：Management，通过计划、组织、领导、控制等手段，协调资源以实现目标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24000" indent="-762000" algn="l" defTabSz="914400">
              <a:lnSpc>
                <a:spcPct val="150000"/>
              </a:lnSpc>
              <a:spcBef>
                <a:spcPts val="600"/>
              </a:spcBef>
              <a:buSzPct val="123000"/>
              <a:buChar char="•"/>
              <a:defRPr sz="48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运营：Operations，企业核心业务及其管理支持的日常执行活动，是业务和经营的具体实现和支撑过程程”，明确了步骤、责任人和规则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9" name="0、基础术语—业务相关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0、基础术语</a:t>
            </a:r>
            <a:r>
              <a:rPr sz="6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—业务相关</a:t>
            </a:r>
            <a:endParaRPr sz="6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0" name="01"/>
          <p:cNvSpPr txBox="1"/>
          <p:nvPr>
            <p:ph type="sldNum" sz="quarter" idx="4294967295"/>
          </p:nvPr>
        </p:nvSpPr>
        <p:spPr>
          <a:xfrm>
            <a:off x="12050115" y="12994233"/>
            <a:ext cx="283770" cy="46136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6C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过程：Process，为达成特定目标而进行的一系列逻辑相关的活动集合…"/>
          <p:cNvSpPr txBox="1"/>
          <p:nvPr>
            <p:ph type="ctrTitle"/>
          </p:nvPr>
        </p:nvSpPr>
        <p:spPr>
          <a:xfrm>
            <a:off x="1206496" y="3083489"/>
            <a:ext cx="21971004" cy="10128144"/>
          </a:xfrm>
          <a:prstGeom prst="rect">
            <a:avLst/>
          </a:prstGeom>
        </p:spPr>
        <p:txBody>
          <a:bodyPr anchor="t"/>
          <a:lstStyle/>
          <a:p>
            <a:pPr marL="1524000" indent="-762000" defTabSz="914400">
              <a:lnSpc>
                <a:spcPct val="150000"/>
              </a:lnSpc>
              <a:spcBef>
                <a:spcPts val="600"/>
              </a:spcBef>
              <a:buSzPct val="123000"/>
              <a:buChar char="•"/>
              <a:defRPr sz="48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过程：Process，为达成特定目标而进行的一系列逻辑相关的活动集合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24000" indent="-762000" algn="l" defTabSz="914400">
              <a:lnSpc>
                <a:spcPct val="150000"/>
              </a:lnSpc>
              <a:spcBef>
                <a:spcPts val="600"/>
              </a:spcBef>
              <a:buSzPct val="123000"/>
              <a:buChar char="•"/>
              <a:defRPr sz="48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流程：Workflow，标准化、固化的“过程”，明确了步骤、责任人和规则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24000" indent="-762000" algn="l" defTabSz="914400">
              <a:lnSpc>
                <a:spcPct val="150000"/>
              </a:lnSpc>
              <a:spcBef>
                <a:spcPts val="600"/>
              </a:spcBef>
              <a:buSzPct val="123000"/>
              <a:buChar char="•"/>
              <a:defRPr sz="48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活动：：Activity，项目中识别出的最小工作项。经常理解为有组织、有目的的特定事件或行动，通常是计划或过程的一部分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24000" indent="-762000" algn="l" defTabSz="914400">
              <a:lnSpc>
                <a:spcPct val="150000"/>
              </a:lnSpc>
              <a:spcBef>
                <a:spcPts val="600"/>
              </a:spcBef>
              <a:buSzPct val="123000"/>
              <a:buChar char="•"/>
              <a:defRPr sz="48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任务：Task，需要完成的最小工作单元，具体明确，有负责人和截止时间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3" name="0、基础术语—业务相关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0、基础术语</a:t>
            </a:r>
            <a:r>
              <a:rPr sz="6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—业务相关</a:t>
            </a:r>
            <a:endParaRPr sz="6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4" name="01"/>
          <p:cNvSpPr txBox="1"/>
          <p:nvPr>
            <p:ph type="sldNum" sz="quarter" idx="4294967295"/>
          </p:nvPr>
        </p:nvSpPr>
        <p:spPr>
          <a:xfrm>
            <a:off x="12050115" y="12994233"/>
            <a:ext cx="283770" cy="46136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6C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计划：Plan，为实现目标而制定的行动方案，包括内容、步骤和资源分配，资源包括人力资源、资金资源、时间资源、设备资源以及信息资源等…"/>
          <p:cNvSpPr txBox="1"/>
          <p:nvPr>
            <p:ph type="ctrTitle"/>
          </p:nvPr>
        </p:nvSpPr>
        <p:spPr>
          <a:xfrm>
            <a:off x="1206496" y="3197303"/>
            <a:ext cx="21971004" cy="9980324"/>
          </a:xfrm>
          <a:prstGeom prst="rect">
            <a:avLst/>
          </a:prstGeom>
        </p:spPr>
        <p:txBody>
          <a:bodyPr anchor="t"/>
          <a:lstStyle/>
          <a:p>
            <a:pPr marL="1524000" indent="-762000" defTabSz="914400">
              <a:lnSpc>
                <a:spcPct val="150000"/>
              </a:lnSpc>
              <a:spcBef>
                <a:spcPts val="600"/>
              </a:spcBef>
              <a:buSzPct val="123000"/>
              <a:buChar char="•"/>
              <a:defRPr sz="48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计划：Plan，为实现目标而制定的行动方案，包括内容、步骤和资源分配，资源包括人力资源、资金资源、时间资源、设备资源以及信息资源等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24000" indent="-762000" algn="l" defTabSz="914400">
              <a:lnSpc>
                <a:spcPct val="150000"/>
              </a:lnSpc>
              <a:spcBef>
                <a:spcPts val="600"/>
              </a:spcBef>
              <a:buSzPct val="123000"/>
              <a:buChar char="•"/>
              <a:defRPr sz="48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日程：Schedule，计划在时间上的具体体现，明确规定了任务执行的时间点和顺序，是以时间资源为视角的计划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24000" indent="-762000" algn="l" defTabSz="914400">
              <a:lnSpc>
                <a:spcPct val="150000"/>
              </a:lnSpc>
              <a:spcBef>
                <a:spcPts val="600"/>
              </a:spcBef>
              <a:buSzPct val="123000"/>
              <a:buChar char="•"/>
              <a:defRPr sz="48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工作：Work，泛指一切脑力或体力的劳动，是以上所有术语的总称或统称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7" name="0、基础术语—业务相关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0、基础术语</a:t>
            </a:r>
            <a:r>
              <a:rPr sz="6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—业务相关</a:t>
            </a:r>
            <a:endParaRPr sz="6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8" name="01"/>
          <p:cNvSpPr txBox="1"/>
          <p:nvPr>
            <p:ph type="sldNum" sz="quarter" idx="4294967295"/>
          </p:nvPr>
        </p:nvSpPr>
        <p:spPr>
          <a:xfrm>
            <a:off x="12050115" y="12994233"/>
            <a:ext cx="283770" cy="46136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6C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业务域：Business Domain，也常被称为问题域（Problem Domain），是指企业运营中一个特定、边界清晰、自成体系的业务领域或业务主体…"/>
          <p:cNvSpPr txBox="1"/>
          <p:nvPr>
            <p:ph type="ctrTitle"/>
          </p:nvPr>
        </p:nvSpPr>
        <p:spPr>
          <a:xfrm>
            <a:off x="1206496" y="3222703"/>
            <a:ext cx="21971004" cy="9980324"/>
          </a:xfrm>
          <a:prstGeom prst="rect">
            <a:avLst/>
          </a:prstGeom>
        </p:spPr>
        <p:txBody>
          <a:bodyPr anchor="t"/>
          <a:lstStyle/>
          <a:p>
            <a:pPr marL="1524000" indent="-762000" defTabSz="914400">
              <a:lnSpc>
                <a:spcPct val="150000"/>
              </a:lnSpc>
              <a:spcBef>
                <a:spcPts val="600"/>
              </a:spcBef>
              <a:buSzPct val="123000"/>
              <a:buChar char="•"/>
              <a:defRPr sz="48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业务域：Business Domain，也常被称为问题域（Problem Domain），是指企业运营中一个特定、边界清晰、自成体系的业务领域或业务主体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0" indent="-889000" defTabSz="914400">
              <a:lnSpc>
                <a:spcPct val="150000"/>
              </a:lnSpc>
              <a:spcBef>
                <a:spcPts val="600"/>
              </a:spcBef>
              <a:buSzPct val="123000"/>
              <a:buFont typeface="Arial" panose="020B0604020202020204" pitchFamily="34" charset="0"/>
              <a:buChar char="•"/>
              <a:defRPr sz="48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每个域都专注于解决一类特定的业务问题，拥有自己的一套核心概念、规则、流程和数据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marL="2413000" indent="-889000" defTabSz="914400">
              <a:lnSpc>
                <a:spcPct val="150000"/>
              </a:lnSpc>
              <a:spcBef>
                <a:spcPts val="600"/>
              </a:spcBef>
              <a:buSzPct val="123000"/>
              <a:buFont typeface="Arial" panose="020B0604020202020204" pitchFamily="34" charset="0"/>
              <a:buChar char="•"/>
              <a:defRPr sz="48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一个典型的业务域通常具备以下特征：高内聚、低耦合、拥有专属核心数据，以及拥有域内通用语言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1" name="0、基础术语—业务域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0、基础术语</a:t>
            </a:r>
            <a:r>
              <a:rPr sz="6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—业务域</a:t>
            </a:r>
            <a:endParaRPr sz="6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2" name="01"/>
          <p:cNvSpPr txBox="1"/>
          <p:nvPr>
            <p:ph type="sldNum" sz="quarter" idx="4294967295"/>
          </p:nvPr>
        </p:nvSpPr>
        <p:spPr>
          <a:xfrm>
            <a:off x="12050115" y="12994233"/>
            <a:ext cx="283770" cy="46136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6C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运营体系：Operating System， 是指一个组织为了持续稳定地交付产品或服务，而建立的一整套相互关联、协同运作的流程、人员、工具、标准和规则的集合。包括以下四大核心组成部分：…"/>
          <p:cNvSpPr txBox="1"/>
          <p:nvPr>
            <p:ph type="ctrTitle"/>
          </p:nvPr>
        </p:nvSpPr>
        <p:spPr>
          <a:xfrm>
            <a:off x="1206496" y="3210003"/>
            <a:ext cx="21971004" cy="9980324"/>
          </a:xfrm>
          <a:prstGeom prst="rect">
            <a:avLst/>
          </a:prstGeom>
        </p:spPr>
        <p:txBody>
          <a:bodyPr anchor="t"/>
          <a:lstStyle/>
          <a:p>
            <a:pPr marL="1524000" indent="-762000" defTabSz="914400">
              <a:lnSpc>
                <a:spcPct val="150000"/>
              </a:lnSpc>
              <a:spcBef>
                <a:spcPts val="600"/>
              </a:spcBef>
              <a:buSzPct val="123000"/>
              <a:buChar char="•"/>
              <a:defRPr sz="48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运营体系：Operating System， 是指一个组织为了持续稳定地交付产品或服务，而建立的一整套相互关联、协同运作的流程、人员、工具、标准和规则的集合。包括以下四大核心组成部分：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413000" indent="-889000" algn="l" defTabSz="914400">
              <a:lnSpc>
                <a:spcPct val="150000"/>
              </a:lnSpc>
              <a:spcBef>
                <a:spcPts val="600"/>
              </a:spcBef>
              <a:buSzPct val="123000"/>
              <a:buFont typeface="Arial" panose="020B0604020202020204" pitchFamily="34" charset="0"/>
              <a:buChar char="•"/>
              <a:defRPr sz="48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流程体系：定义了工作的方式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marL="2413000" indent="-889000" algn="l" defTabSz="914400">
              <a:lnSpc>
                <a:spcPct val="150000"/>
              </a:lnSpc>
              <a:spcBef>
                <a:spcPts val="600"/>
              </a:spcBef>
              <a:buSzPct val="123000"/>
              <a:buFont typeface="Arial" panose="020B0604020202020204" pitchFamily="34" charset="0"/>
              <a:buChar char="•"/>
              <a:defRPr sz="48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人员与组织体系：定义了流程的执行者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marL="2413000" indent="-889000" algn="l" defTabSz="914400">
              <a:lnSpc>
                <a:spcPct val="150000"/>
              </a:lnSpc>
              <a:spcBef>
                <a:spcPts val="600"/>
              </a:spcBef>
              <a:buSzPct val="123000"/>
              <a:buFont typeface="Arial" panose="020B0604020202020204" pitchFamily="34" charset="0"/>
              <a:buChar char="•"/>
              <a:defRPr sz="48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工具与技术体系：定义了人员和流程的赋能者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marL="2413000" indent="-889000" algn="l" defTabSz="914400">
              <a:lnSpc>
                <a:spcPct val="150000"/>
              </a:lnSpc>
              <a:spcBef>
                <a:spcPts val="600"/>
              </a:spcBef>
              <a:buSzPct val="123000"/>
              <a:buFont typeface="Arial" panose="020B0604020202020204" pitchFamily="34" charset="0"/>
              <a:buChar char="•"/>
              <a:defRPr sz="48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指标体系：监控以上三者的运行效果，并为优化提供决策依据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5" name="0、基础术语—运营体系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0、基础术语</a:t>
            </a:r>
            <a:r>
              <a:rPr sz="6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—运营体系</a:t>
            </a:r>
            <a:endParaRPr sz="6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6" name="01"/>
          <p:cNvSpPr txBox="1"/>
          <p:nvPr>
            <p:ph type="sldNum" sz="quarter" idx="4294967295"/>
          </p:nvPr>
        </p:nvSpPr>
        <p:spPr>
          <a:xfrm>
            <a:off x="12050115" y="12994233"/>
            <a:ext cx="283770" cy="46136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6C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计划类任务：由单人负责、其他人可参与、以开发满足给定需求的单个文档为目的、以独立于输出文档的单据而存在的任务，以计划引擎实现…"/>
          <p:cNvSpPr txBox="1"/>
          <p:nvPr>
            <p:ph type="ctrTitle"/>
          </p:nvPr>
        </p:nvSpPr>
        <p:spPr>
          <a:xfrm>
            <a:off x="1206496" y="3184603"/>
            <a:ext cx="21971004" cy="9980324"/>
          </a:xfrm>
          <a:prstGeom prst="rect">
            <a:avLst/>
          </a:prstGeom>
        </p:spPr>
        <p:txBody>
          <a:bodyPr anchor="t"/>
          <a:lstStyle/>
          <a:p>
            <a:pPr marL="1524000" indent="-762000" defTabSz="914400">
              <a:lnSpc>
                <a:spcPct val="150000"/>
              </a:lnSpc>
              <a:spcBef>
                <a:spcPts val="600"/>
              </a:spcBef>
              <a:buSzPct val="123000"/>
              <a:buChar char="•"/>
              <a:defRPr sz="48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计划类任务：由单人负责、其他人可参与、以开发满足给定需求的单个文档为目的、以独立于输出文档的单据而存在的任务，以计划引擎实现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marL="1524000" indent="-762000" algn="l" defTabSz="914400">
              <a:lnSpc>
                <a:spcPct val="150000"/>
              </a:lnSpc>
              <a:spcBef>
                <a:spcPts val="600"/>
              </a:spcBef>
              <a:buSzPct val="123000"/>
              <a:buChar char="•"/>
              <a:defRPr sz="48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流程类任务：由单人发起、由多人参与、以审核或审批单个或多个给定对象为目的、按照预设规则进行的任务，以流程引擎实现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marL="1524000" indent="-762000" algn="l" defTabSz="914400">
              <a:lnSpc>
                <a:spcPct val="150000"/>
              </a:lnSpc>
              <a:spcBef>
                <a:spcPts val="600"/>
              </a:spcBef>
              <a:buSzPct val="123000"/>
              <a:buChar char="•"/>
              <a:defRPr sz="48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工单类任务：由多</a:t>
            </a:r>
            <a:r>
              <a:rPr lang="zh-CN">
                <a:latin typeface="微软雅黑" panose="020B0503020204020204" charset="-122"/>
                <a:ea typeface="微软雅黑" panose="020B0503020204020204" charset="-122"/>
              </a:rPr>
              <a:t>人</a:t>
            </a:r>
            <a:r>
              <a:rPr>
                <a:latin typeface="微软雅黑" panose="020B0503020204020204" charset="-122"/>
                <a:ea typeface="微软雅黑" panose="020B0503020204020204" charset="-122"/>
              </a:rPr>
              <a:t>分别发起</a:t>
            </a:r>
            <a:r>
              <a:rPr lang="zh-CN">
                <a:latin typeface="微软雅黑" panose="020B0503020204020204" charset="-122"/>
                <a:ea typeface="微软雅黑" panose="020B0503020204020204" charset="-122"/>
              </a:rPr>
              <a:t>或由系统自动生成</a:t>
            </a:r>
            <a:r>
              <a:rPr>
                <a:latin typeface="微软雅黑" panose="020B0503020204020204" charset="-122"/>
                <a:ea typeface="微软雅黑" panose="020B0503020204020204" charset="-122"/>
              </a:rPr>
              <a:t>、多人</a:t>
            </a:r>
            <a:r>
              <a:rPr lang="zh-CN">
                <a:latin typeface="微软雅黑" panose="020B0503020204020204" charset="-122"/>
                <a:ea typeface="微软雅黑" panose="020B0503020204020204" charset="-122"/>
              </a:rPr>
              <a:t>参与并</a:t>
            </a:r>
            <a:r>
              <a:rPr>
                <a:latin typeface="微软雅黑" panose="020B0503020204020204" charset="-122"/>
                <a:ea typeface="微软雅黑" panose="020B0503020204020204" charset="-122"/>
              </a:rPr>
              <a:t>依次处理、以分析策划所发起的多条业务单据为目的的任务，以工单引擎实现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9" name="0、基础术语—任务类型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0、基础术语</a:t>
            </a:r>
            <a:r>
              <a:rPr sz="6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—任务类型</a:t>
            </a:r>
            <a:endParaRPr sz="6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0" name="01"/>
          <p:cNvSpPr txBox="1"/>
          <p:nvPr>
            <p:ph type="sldNum" sz="quarter" idx="4294967295"/>
          </p:nvPr>
        </p:nvSpPr>
        <p:spPr>
          <a:xfrm>
            <a:off x="12050115" y="12994233"/>
            <a:ext cx="283770" cy="46136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6C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指标类绩效：用来衡量业务运营状况、评估绩效目标达成情况以及辅助管理决策的量化标准，以指标引擎实现；…"/>
          <p:cNvSpPr txBox="1"/>
          <p:nvPr>
            <p:ph type="ctrTitle"/>
          </p:nvPr>
        </p:nvSpPr>
        <p:spPr>
          <a:xfrm>
            <a:off x="1206496" y="3184603"/>
            <a:ext cx="21971004" cy="9980324"/>
          </a:xfrm>
          <a:prstGeom prst="rect">
            <a:avLst/>
          </a:prstGeom>
        </p:spPr>
        <p:txBody>
          <a:bodyPr anchor="t"/>
          <a:lstStyle/>
          <a:p>
            <a:pPr marL="1524000" indent="-762000" defTabSz="914400">
              <a:lnSpc>
                <a:spcPct val="150000"/>
              </a:lnSpc>
              <a:spcBef>
                <a:spcPts val="600"/>
              </a:spcBef>
              <a:buSzPct val="123000"/>
              <a:buChar char="•"/>
              <a:defRPr sz="48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指标类绩效：用来衡量业务运营状况、评估绩效目标达成情况以及辅助管理决策的量化标准，以指标引擎实现；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marL="1524000" indent="-762000" algn="l" defTabSz="914400">
              <a:lnSpc>
                <a:spcPct val="150000"/>
              </a:lnSpc>
              <a:spcBef>
                <a:spcPts val="600"/>
              </a:spcBef>
              <a:buSzPct val="123000"/>
              <a:buChar char="•"/>
              <a:defRPr sz="48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进展类绩效：用来展示业务对象进度或状态的定性或定量说明 ，以计划引擎、流程引擎或工单引擎实现；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3" name="0、基础术语—绩效类型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0、基础术语</a:t>
            </a:r>
            <a:r>
              <a:rPr sz="6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—绩效类型</a:t>
            </a:r>
            <a:endParaRPr sz="6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4" name="01"/>
          <p:cNvSpPr txBox="1"/>
          <p:nvPr>
            <p:ph type="sldNum" sz="quarter" idx="4294967295"/>
          </p:nvPr>
        </p:nvSpPr>
        <p:spPr>
          <a:xfrm>
            <a:off x="12050115" y="12994233"/>
            <a:ext cx="283770" cy="46136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6C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企业组成：主元素、业务数据、数据之间关系、数据应用…"/>
          <p:cNvSpPr txBox="1"/>
          <p:nvPr>
            <p:ph type="ctrTitle"/>
          </p:nvPr>
        </p:nvSpPr>
        <p:spPr>
          <a:xfrm>
            <a:off x="1206496" y="3184603"/>
            <a:ext cx="21971004" cy="9980324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marL="1524000" lvl="0" indent="-762000" algn="l" defTabSz="914400">
              <a:lnSpc>
                <a:spcPct val="150000"/>
              </a:lnSpc>
              <a:spcBef>
                <a:spcPts val="600"/>
              </a:spcBef>
              <a:buSzPct val="123000"/>
              <a:buChar char="•"/>
              <a:defRPr sz="48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企业组成：</a:t>
            </a:r>
            <a:r>
              <a:rPr lang="zh-CN">
                <a:latin typeface="微软雅黑" panose="020B0503020204020204" charset="-122"/>
                <a:ea typeface="微软雅黑" panose="020B0503020204020204" charset="-122"/>
              </a:rPr>
              <a:t>主元素、</a:t>
            </a:r>
            <a:r>
              <a:rPr>
                <a:latin typeface="微软雅黑" panose="020B0503020204020204" charset="-122"/>
                <a:ea typeface="微软雅黑" panose="020B0503020204020204" charset="-122"/>
              </a:rPr>
              <a:t>业务数据、数据之间关系、数据应用</a:t>
            </a:r>
            <a:br>
              <a:rPr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>
                <a:latin typeface="微软雅黑" panose="020B0503020204020204" charset="-122"/>
                <a:ea typeface="微软雅黑" panose="020B0503020204020204" charset="-122"/>
              </a:rPr>
              <a:t>主元素：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Master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组成企业业务骨架的关键实体</a:t>
            </a:r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524000" indent="-762000" algn="l" defTabSz="914400">
              <a:lnSpc>
                <a:spcPct val="150000"/>
              </a:lnSpc>
              <a:spcBef>
                <a:spcPts val="600"/>
              </a:spcBef>
              <a:buSzPct val="123000"/>
              <a:buChar char="•"/>
              <a:defRPr sz="48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主数据：Master Data，定义或描述主元素的数据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marL="1524000" indent="-762000" algn="l" defTabSz="914400">
              <a:lnSpc>
                <a:spcPct val="150000"/>
              </a:lnSpc>
              <a:spcBef>
                <a:spcPts val="600"/>
              </a:spcBef>
              <a:buSzPct val="123000"/>
              <a:buChar char="•"/>
              <a:defRPr sz="48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业务数据：Transaction Data，记录主元素业务的数据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marL="1524000" indent="-762000" algn="l" defTabSz="914400">
              <a:lnSpc>
                <a:spcPct val="150000"/>
              </a:lnSpc>
              <a:spcBef>
                <a:spcPts val="600"/>
              </a:spcBef>
              <a:buSzPct val="123000"/>
              <a:buChar char="•"/>
              <a:defRPr sz="48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主数据及其业务数据关系：主子业务（字段引用）关系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marL="1524000" indent="-762000" algn="l" defTabSz="914400">
              <a:lnSpc>
                <a:spcPct val="150000"/>
              </a:lnSpc>
              <a:spcBef>
                <a:spcPts val="600"/>
              </a:spcBef>
              <a:buSzPct val="123000"/>
              <a:buChar char="•"/>
              <a:defRPr sz="48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主数据间关系：架构物料关系、主子业务关系、……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marL="1524000" indent="-762000" algn="l" defTabSz="914400">
              <a:lnSpc>
                <a:spcPct val="150000"/>
              </a:lnSpc>
              <a:spcBef>
                <a:spcPts val="600"/>
              </a:spcBef>
              <a:buSzPct val="123000"/>
              <a:buChar char="•"/>
              <a:defRPr sz="48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业务数据间关系：分配承接关系、弱关联关系、……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marL="1524000" indent="-762000" algn="l" defTabSz="914400">
              <a:lnSpc>
                <a:spcPct val="150000"/>
              </a:lnSpc>
              <a:spcBef>
                <a:spcPts val="600"/>
              </a:spcBef>
              <a:buSzPct val="123000"/>
              <a:buChar char="•"/>
              <a:defRPr sz="48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业务绩效：对主数据、业务数据以及数据关系的分析与统计数据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" name="0、基础术语—企业元素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0、基础术语</a:t>
            </a:r>
            <a:r>
              <a:rPr sz="6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—企业元素</a:t>
            </a:r>
            <a:endParaRPr sz="6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8" name="01"/>
          <p:cNvSpPr txBox="1"/>
          <p:nvPr>
            <p:ph type="sldNum" sz="quarter" idx="4294967295"/>
          </p:nvPr>
        </p:nvSpPr>
        <p:spPr>
          <a:xfrm>
            <a:off x="11965381" y="12994233"/>
            <a:ext cx="453238" cy="46136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6C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BOM：通用物料清单，General BOM…"/>
          <p:cNvSpPr txBox="1"/>
          <p:nvPr>
            <p:ph type="ctrTitle"/>
          </p:nvPr>
        </p:nvSpPr>
        <p:spPr>
          <a:xfrm>
            <a:off x="1206496" y="3184603"/>
            <a:ext cx="21971004" cy="9980324"/>
          </a:xfrm>
          <a:prstGeom prst="rect">
            <a:avLst/>
          </a:prstGeom>
        </p:spPr>
        <p:txBody>
          <a:bodyPr anchor="t"/>
          <a:lstStyle/>
          <a:p>
            <a:pPr marL="1524000" indent="-762000" defTabSz="914400">
              <a:lnSpc>
                <a:spcPct val="150000"/>
              </a:lnSpc>
              <a:spcBef>
                <a:spcPts val="600"/>
              </a:spcBef>
              <a:buSzPct val="123000"/>
              <a:buChar char="•"/>
              <a:defRPr sz="48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GBOM：通用物料清单，General BOM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24000" indent="-762000" algn="l" defTabSz="914400">
              <a:lnSpc>
                <a:spcPct val="150000"/>
              </a:lnSpc>
              <a:spcBef>
                <a:spcPts val="600"/>
              </a:spcBef>
              <a:buSzPct val="123000"/>
              <a:buChar char="•"/>
              <a:defRPr sz="48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DBOM/PBS：概要设计BOM，Designing BOM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24000" indent="-762000" algn="l" defTabSz="914400">
              <a:lnSpc>
                <a:spcPct val="150000"/>
              </a:lnSpc>
              <a:spcBef>
                <a:spcPts val="600"/>
              </a:spcBef>
              <a:buSzPct val="123000"/>
              <a:buChar char="•"/>
              <a:defRPr sz="48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PBS：产品分解结构，Product BreakDown Structure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24000" indent="-762000" algn="l" defTabSz="914400">
              <a:lnSpc>
                <a:spcPct val="150000"/>
              </a:lnSpc>
              <a:spcBef>
                <a:spcPts val="600"/>
              </a:spcBef>
              <a:buSzPct val="123000"/>
              <a:buChar char="•"/>
              <a:defRPr sz="48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EBOM：详细设计BOM，Engineering BOM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24000" indent="-762000" algn="l" defTabSz="914400">
              <a:lnSpc>
                <a:spcPct val="150000"/>
              </a:lnSpc>
              <a:spcBef>
                <a:spcPts val="600"/>
              </a:spcBef>
              <a:buSzPct val="123000"/>
              <a:buChar char="•"/>
              <a:defRPr sz="48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MBOM：量产工艺BOM，Manufacturing BOM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24000" indent="-762000" algn="l" defTabSz="914400">
              <a:lnSpc>
                <a:spcPct val="150000"/>
              </a:lnSpc>
              <a:spcBef>
                <a:spcPts val="600"/>
              </a:spcBef>
              <a:buSzPct val="123000"/>
              <a:buChar char="•"/>
              <a:defRPr sz="48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BBOM：实物产品BOM，Building BOM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24000" indent="-762000" algn="l" defTabSz="914400">
              <a:lnSpc>
                <a:spcPct val="150000"/>
              </a:lnSpc>
              <a:spcBef>
                <a:spcPts val="600"/>
              </a:spcBef>
              <a:buSzPct val="123000"/>
              <a:buChar char="•"/>
              <a:defRPr sz="48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SBOM：服务方案BOM，Service BOM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1" name="0、基础术语—xBOM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0、基础术语</a:t>
            </a:r>
            <a:r>
              <a:rPr sz="6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—xBOM</a:t>
            </a:r>
            <a:endParaRPr sz="6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2" name="01"/>
          <p:cNvSpPr txBox="1"/>
          <p:nvPr>
            <p:ph type="sldNum" sz="quarter" idx="4294967295"/>
          </p:nvPr>
        </p:nvSpPr>
        <p:spPr>
          <a:xfrm>
            <a:off x="11965381" y="12994233"/>
            <a:ext cx="453238" cy="46136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6C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辩论题目二选一…"/>
          <p:cNvSpPr txBox="1"/>
          <p:nvPr>
            <p:ph type="ctrTitle"/>
          </p:nvPr>
        </p:nvSpPr>
        <p:spPr>
          <a:xfrm>
            <a:off x="1206496" y="3159203"/>
            <a:ext cx="21863437" cy="8978707"/>
          </a:xfrm>
          <a:prstGeom prst="rect">
            <a:avLst/>
          </a:prstGeom>
        </p:spPr>
        <p:txBody>
          <a:bodyPr anchor="t"/>
          <a:lstStyle/>
          <a:p>
            <a:pPr algn="ctr" defTabSz="914400">
              <a:lnSpc>
                <a:spcPct val="120000"/>
              </a:lnSpc>
              <a:spcBef>
                <a:spcPts val="600"/>
              </a:spcBef>
              <a:defRPr sz="60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</a:p>
          <a:p>
            <a:pPr algn="ctr" defTabSz="914400">
              <a:lnSpc>
                <a:spcPct val="120000"/>
              </a:lnSpc>
              <a:spcBef>
                <a:spcPts val="600"/>
              </a:spcBef>
              <a:defRPr sz="60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辩论题目二选一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algn="ctr" defTabSz="914400">
              <a:lnSpc>
                <a:spcPct val="120000"/>
              </a:lnSpc>
              <a:spcBef>
                <a:spcPts val="600"/>
              </a:spcBef>
              <a:defRPr sz="60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正方反方观察方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" name="01"/>
          <p:cNvSpPr txBox="1"/>
          <p:nvPr>
            <p:ph type="sldNum" sz="quarter" idx="4294967295"/>
          </p:nvPr>
        </p:nvSpPr>
        <p:spPr>
          <a:xfrm>
            <a:off x="11965381" y="12994233"/>
            <a:ext cx="453238" cy="46136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216" name="开始辩论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r>
              <a:rPr>
                <a:latin typeface="微软雅黑" panose="020B0503020204020204" charset="-122"/>
                <a:ea typeface="微软雅黑" panose="020B0503020204020204" charset="-122"/>
              </a:rPr>
              <a:t>开始辩论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6C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原始意图：削个苹果，给客人吃。…"/>
          <p:cNvSpPr txBox="1"/>
          <p:nvPr>
            <p:ph type="ctrTitle"/>
          </p:nvPr>
        </p:nvSpPr>
        <p:spPr>
          <a:xfrm>
            <a:off x="1206496" y="3159203"/>
            <a:ext cx="21971004" cy="9980324"/>
          </a:xfrm>
          <a:prstGeom prst="rect">
            <a:avLst/>
          </a:prstGeom>
        </p:spPr>
        <p:txBody>
          <a:bodyPr anchor="t"/>
          <a:lstStyle/>
          <a:p>
            <a:pPr defTabSz="393065">
              <a:lnSpc>
                <a:spcPct val="100000"/>
              </a:lnSpc>
              <a:spcBef>
                <a:spcPts val="500"/>
              </a:spcBef>
              <a:defRPr sz="2750" b="0" spc="0">
                <a:uFill>
                  <a:solidFill>
                    <a:srgbClr val="000000"/>
                  </a:solidFill>
                </a:u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PingFang SC Semibold"/>
              </a:rPr>
              <a:t>原始意图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：削个苹果，给客人吃。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393065">
              <a:lnSpc>
                <a:spcPct val="100000"/>
              </a:lnSpc>
              <a:spcBef>
                <a:spcPts val="500"/>
              </a:spcBef>
              <a:defRPr sz="2750" b="0" spc="0"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393065">
              <a:lnSpc>
                <a:spcPct val="100000"/>
              </a:lnSpc>
              <a:spcBef>
                <a:spcPts val="500"/>
              </a:spcBef>
              <a:defRPr sz="2750" b="0" spc="0"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任务过程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PingFang SC Regular"/>
              </a:rPr>
              <a:t>：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PingFang SC Regular"/>
            </a:endParaRPr>
          </a:p>
          <a:p>
            <a:pPr indent="154940" defTabSz="393065">
              <a:lnSpc>
                <a:spcPct val="100000"/>
              </a:lnSpc>
              <a:spcBef>
                <a:spcPts val="500"/>
              </a:spcBef>
              <a:defRPr sz="2750" b="0" spc="0"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PingFang SC Regular"/>
              </a:rPr>
              <a:t>1、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需求文档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PingFang SC Regular"/>
              </a:rPr>
              <a:t>：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PingFang SC Regular"/>
            </a:endParaRPr>
          </a:p>
          <a:p>
            <a:pPr lvl="1" indent="393065" defTabSz="393065">
              <a:lnSpc>
                <a:spcPct val="100000"/>
              </a:lnSpc>
              <a:spcBef>
                <a:spcPts val="500"/>
              </a:spcBef>
              <a:defRPr sz="2750" b="0" spc="0">
                <a:uFill>
                  <a:solidFill>
                    <a:srgbClr val="000000"/>
                  </a:solidFill>
                </a:u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客人的背景、人数、基本信息、期望、要求，以及本人或本组织的能力、资产等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154940" defTabSz="393065">
              <a:lnSpc>
                <a:spcPct val="100000"/>
              </a:lnSpc>
              <a:spcBef>
                <a:spcPts val="500"/>
              </a:spcBef>
              <a:defRPr sz="2750" b="0" spc="0"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2、方案文档：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393065" defTabSz="393065">
              <a:lnSpc>
                <a:spcPct val="100000"/>
              </a:lnSpc>
              <a:spcBef>
                <a:spcPts val="500"/>
              </a:spcBef>
              <a:defRPr sz="2750" b="0" spc="0">
                <a:uFill>
                  <a:solidFill>
                    <a:srgbClr val="000000"/>
                  </a:solidFill>
                </a:u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确定削苹果的工具（如刀具、砧板），制定操作步骤，包括如何准备苹果，如何削皮，如何切片。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154940" defTabSz="393065">
              <a:lnSpc>
                <a:spcPct val="100000"/>
              </a:lnSpc>
              <a:spcBef>
                <a:spcPts val="500"/>
              </a:spcBef>
              <a:defRPr sz="2750" b="0" spc="0"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3、风险分析：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393065" defTabSz="393065">
              <a:lnSpc>
                <a:spcPct val="100000"/>
              </a:lnSpc>
              <a:spcBef>
                <a:spcPts val="500"/>
              </a:spcBef>
              <a:defRPr sz="2750" b="0" spc="0">
                <a:uFill>
                  <a:solidFill>
                    <a:srgbClr val="000000"/>
                  </a:solidFill>
                </a:u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可能遇到的风险：刀具不够锋利，苹果表面有瑕疵，操作过程中可能出现的安全隐患等。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154940" defTabSz="393065">
              <a:lnSpc>
                <a:spcPct val="100000"/>
              </a:lnSpc>
              <a:spcBef>
                <a:spcPts val="500"/>
              </a:spcBef>
              <a:defRPr sz="2750" b="0" spc="0"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4、测试计划：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393065" defTabSz="393065">
              <a:lnSpc>
                <a:spcPct val="100000"/>
              </a:lnSpc>
              <a:spcBef>
                <a:spcPts val="500"/>
              </a:spcBef>
              <a:defRPr sz="2750" b="0" spc="0">
                <a:uFill>
                  <a:solidFill>
                    <a:srgbClr val="000000"/>
                  </a:solidFill>
                </a:u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切好的苹果片是否符合预期要求：厚度是否一致，口感是否正常。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154940" defTabSz="393065">
              <a:lnSpc>
                <a:spcPct val="100000"/>
              </a:lnSpc>
              <a:spcBef>
                <a:spcPts val="500"/>
              </a:spcBef>
              <a:defRPr sz="2750" b="0" spc="0"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5、实施计划：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393065" defTabSz="393065">
              <a:lnSpc>
                <a:spcPct val="100000"/>
              </a:lnSpc>
              <a:spcBef>
                <a:spcPts val="500"/>
              </a:spcBef>
              <a:defRPr sz="2750" b="0" spc="0">
                <a:uFill>
                  <a:solidFill>
                    <a:srgbClr val="000000"/>
                  </a:solidFill>
                </a:u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安排具体的时间和人员，确保削苹果的任务能够顺利完成，指定负责的工具和资源。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154940" defTabSz="393065">
              <a:lnSpc>
                <a:spcPct val="100000"/>
              </a:lnSpc>
              <a:spcBef>
                <a:spcPts val="500"/>
              </a:spcBef>
              <a:defRPr sz="2750" b="0" spc="0"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6、报告文档：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 indent="393065" defTabSz="393065">
              <a:lnSpc>
                <a:spcPct val="100000"/>
              </a:lnSpc>
              <a:spcBef>
                <a:spcPts val="500"/>
              </a:spcBef>
              <a:defRPr sz="2750" b="0" spc="0">
                <a:uFill>
                  <a:solidFill>
                    <a:srgbClr val="000000"/>
                  </a:solidFill>
                </a:u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任务完成后的总结报告，包括削苹果的过程、遇到的问题、最终成果以及改进建议。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393065">
              <a:lnSpc>
                <a:spcPct val="100000"/>
              </a:lnSpc>
              <a:spcBef>
                <a:spcPts val="500"/>
              </a:spcBef>
              <a:defRPr sz="2750" b="0" spc="0">
                <a:uFill>
                  <a:solidFill>
                    <a:srgbClr val="000000"/>
                  </a:solidFill>
                </a:u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393065">
              <a:lnSpc>
                <a:spcPct val="100000"/>
              </a:lnSpc>
              <a:spcBef>
                <a:spcPts val="500"/>
              </a:spcBef>
              <a:defRPr sz="2750" b="0" spc="0">
                <a:uFill>
                  <a:solidFill>
                    <a:srgbClr val="000000"/>
                  </a:solidFill>
                </a:uFill>
                <a:latin typeface="PingFang SC Regular"/>
                <a:ea typeface="PingFang SC Regular"/>
                <a:cs typeface="PingFang SC Regular"/>
                <a:sym typeface="PingFang SC Regular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PingFang SC Semibold"/>
              </a:rPr>
              <a:t>总结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：原本只是一个简单的削苹果任务，现在变成了一整套复杂的文档和流程。这种夸张的情况旨在讽刺那些形式主义管理者的做法，并引起大家的思考，请再深入思考一层，这样做一定是形式主义吗。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9" name="题目1：削个苹果给客人吃，至于这样麻烦吗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题目1：削个苹果给客人吃，至于这样麻烦吗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0" name="01"/>
          <p:cNvSpPr txBox="1"/>
          <p:nvPr>
            <p:ph type="sldNum" sz="quarter" idx="4294967295"/>
          </p:nvPr>
        </p:nvSpPr>
        <p:spPr>
          <a:xfrm>
            <a:off x="11965381" y="12994233"/>
            <a:ext cx="453238" cy="46136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6C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01"/>
          <p:cNvSpPr txBox="1"/>
          <p:nvPr>
            <p:ph type="sldNum" sz="quarter" idx="4294967295"/>
          </p:nvPr>
        </p:nvSpPr>
        <p:spPr>
          <a:xfrm>
            <a:off x="11965381" y="12994233"/>
            <a:ext cx="453238" cy="46136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223" name="题目2：用户让你编制一份报告，至于这样繁琐吗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题目2：用户让你编制一份报告，至于这样繁琐吗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4" name="1、收集并整理相关方需求…"/>
          <p:cNvSpPr txBox="1"/>
          <p:nvPr>
            <p:ph type="ctrTitle"/>
          </p:nvPr>
        </p:nvSpPr>
        <p:spPr>
          <a:xfrm>
            <a:off x="1493529" y="3159203"/>
            <a:ext cx="8680312" cy="9980324"/>
          </a:xfrm>
          <a:prstGeom prst="rect">
            <a:avLst/>
          </a:prstGeom>
        </p:spPr>
        <p:txBody>
          <a:bodyPr anchor="t"/>
          <a:lstStyle/>
          <a:p>
            <a:pPr defTabSz="457200">
              <a:lnSpc>
                <a:spcPct val="100000"/>
              </a:lnSpc>
              <a:spcBef>
                <a:spcPts val="600"/>
              </a:spcBef>
              <a:defRPr sz="3200" b="0" spc="0"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endParaRPr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indent="179705" defTabSz="457200">
              <a:lnSpc>
                <a:spcPct val="150000"/>
              </a:lnSpc>
              <a:spcBef>
                <a:spcPts val="600"/>
              </a:spcBef>
              <a:defRPr sz="4800" b="0" spc="0"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1、收集并整理</a:t>
            </a:r>
            <a:r>
              <a:rPr>
                <a:solidFill>
                  <a:schemeClr val="accent5">
                    <a:hueOff val="128995"/>
                    <a:satOff val="10158"/>
                    <a:lumOff val="-13822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相关方需求</a:t>
            </a:r>
            <a:endParaRPr>
              <a:solidFill>
                <a:schemeClr val="accent5">
                  <a:hueOff val="128995"/>
                  <a:satOff val="10158"/>
                  <a:lumOff val="-13822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179705" defTabSz="457200">
              <a:lnSpc>
                <a:spcPct val="150000"/>
              </a:lnSpc>
              <a:spcBef>
                <a:spcPts val="600"/>
              </a:spcBef>
              <a:defRPr sz="4800" b="0" spc="0"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2、分别向相关方确认需求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179705" defTabSz="457200">
              <a:lnSpc>
                <a:spcPct val="150000"/>
              </a:lnSpc>
              <a:spcBef>
                <a:spcPts val="600"/>
              </a:spcBef>
              <a:defRPr sz="4800" b="0" spc="0"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3、基于资产开发</a:t>
            </a:r>
            <a:r>
              <a:rPr>
                <a:solidFill>
                  <a:schemeClr val="accent5">
                    <a:hueOff val="128995"/>
                    <a:satOff val="10158"/>
                    <a:lumOff val="-13822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系统需求</a:t>
            </a:r>
            <a:endParaRPr>
              <a:solidFill>
                <a:schemeClr val="accent5">
                  <a:hueOff val="128995"/>
                  <a:satOff val="10158"/>
                  <a:lumOff val="-13822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179705" defTabSz="457200">
              <a:lnSpc>
                <a:spcPct val="150000"/>
              </a:lnSpc>
              <a:spcBef>
                <a:spcPts val="600"/>
              </a:spcBef>
              <a:defRPr sz="4800" b="0" spc="0"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4、同行专家评审系统需求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179705" defTabSz="457200">
              <a:lnSpc>
                <a:spcPct val="150000"/>
              </a:lnSpc>
              <a:spcBef>
                <a:spcPts val="600"/>
              </a:spcBef>
              <a:defRPr sz="4800" b="0" spc="0"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5、基于资产开发</a:t>
            </a:r>
            <a:r>
              <a:rPr>
                <a:solidFill>
                  <a:schemeClr val="accent5">
                    <a:hueOff val="128995"/>
                    <a:satOff val="10158"/>
                    <a:lumOff val="-13822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报告架构</a:t>
            </a:r>
            <a:endParaRPr>
              <a:solidFill>
                <a:schemeClr val="accent5">
                  <a:hueOff val="128995"/>
                  <a:satOff val="10158"/>
                  <a:lumOff val="-13822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179705" defTabSz="457200">
              <a:lnSpc>
                <a:spcPct val="150000"/>
              </a:lnSpc>
              <a:spcBef>
                <a:spcPts val="600"/>
              </a:spcBef>
              <a:defRPr sz="4800" b="0" spc="0"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6、同行专家评审报告架构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179705" defTabSz="457200">
              <a:lnSpc>
                <a:spcPct val="150000"/>
              </a:lnSpc>
              <a:spcBef>
                <a:spcPts val="600"/>
              </a:spcBef>
              <a:defRPr sz="4800" b="0" spc="0"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7、向主要相关方确认架构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5" name="8、依据架构策划开发任务…"/>
          <p:cNvSpPr txBox="1"/>
          <p:nvPr/>
        </p:nvSpPr>
        <p:spPr>
          <a:xfrm>
            <a:off x="13484550" y="3159203"/>
            <a:ext cx="8680312" cy="9980324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pPr defTabSz="457200">
              <a:lnSpc>
                <a:spcPct val="100000"/>
              </a:lnSpc>
              <a:spcBef>
                <a:spcPts val="600"/>
              </a:spcBef>
              <a:defRPr sz="3200"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endParaRPr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indent="179705" defTabSz="457200">
              <a:lnSpc>
                <a:spcPct val="150000"/>
              </a:lnSpc>
              <a:spcBef>
                <a:spcPts val="600"/>
              </a:spcBef>
              <a:defRPr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PingFang SC Regular"/>
              </a:rPr>
              <a:t>8、依据架构策划</a:t>
            </a:r>
            <a:r>
              <a:rPr>
                <a:solidFill>
                  <a:schemeClr val="accent5">
                    <a:hueOff val="128995"/>
                    <a:satOff val="10158"/>
                    <a:lumOff val="-13822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开发任务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PingFang SC Regular"/>
            </a:endParaRPr>
          </a:p>
          <a:p>
            <a:pPr indent="179705" defTabSz="457200">
              <a:lnSpc>
                <a:spcPct val="150000"/>
              </a:lnSpc>
              <a:spcBef>
                <a:spcPts val="600"/>
              </a:spcBef>
              <a:defRPr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9、确认架构各</a:t>
            </a:r>
            <a:r>
              <a:rPr>
                <a:solidFill>
                  <a:schemeClr val="accent5">
                    <a:hueOff val="128995"/>
                    <a:satOff val="10158"/>
                    <a:lumOff val="-13822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节点详细需求</a:t>
            </a:r>
            <a:endParaRPr>
              <a:solidFill>
                <a:schemeClr val="accent5">
                  <a:hueOff val="128995"/>
                  <a:satOff val="10158"/>
                  <a:lumOff val="-13822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179705" defTabSz="457200">
              <a:lnSpc>
                <a:spcPct val="150000"/>
              </a:lnSpc>
              <a:spcBef>
                <a:spcPts val="600"/>
              </a:spcBef>
              <a:defRPr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10、开发架构各</a:t>
            </a:r>
            <a:r>
              <a:rPr>
                <a:solidFill>
                  <a:schemeClr val="accent5">
                    <a:hueOff val="128995"/>
                    <a:satOff val="10158"/>
                    <a:lumOff val="-13822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节点详细报告</a:t>
            </a:r>
            <a:endParaRPr>
              <a:solidFill>
                <a:schemeClr val="accent5">
                  <a:hueOff val="128995"/>
                  <a:satOff val="10158"/>
                  <a:lumOff val="-13822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179705" defTabSz="457200">
              <a:lnSpc>
                <a:spcPct val="150000"/>
              </a:lnSpc>
              <a:spcBef>
                <a:spcPts val="600"/>
              </a:spcBef>
              <a:defRPr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11、评审架构各</a:t>
            </a:r>
            <a:r>
              <a:rPr>
                <a:solidFill>
                  <a:schemeClr val="accent5">
                    <a:hueOff val="128995"/>
                    <a:satOff val="10158"/>
                    <a:lumOff val="-13822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节点详细报告</a:t>
            </a:r>
            <a:endParaRPr>
              <a:solidFill>
                <a:schemeClr val="accent5">
                  <a:hueOff val="128995"/>
                  <a:satOff val="10158"/>
                  <a:lumOff val="-13822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179705" defTabSz="457200">
              <a:lnSpc>
                <a:spcPct val="150000"/>
              </a:lnSpc>
              <a:spcBef>
                <a:spcPts val="600"/>
              </a:spcBef>
              <a:defRPr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12、将各报告集成为</a:t>
            </a:r>
            <a:r>
              <a:rPr>
                <a:solidFill>
                  <a:schemeClr val="accent5">
                    <a:hueOff val="128995"/>
                    <a:satOff val="10158"/>
                    <a:lumOff val="-13822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整体报告</a:t>
            </a:r>
            <a:endParaRPr>
              <a:solidFill>
                <a:schemeClr val="accent5">
                  <a:hueOff val="128995"/>
                  <a:satOff val="10158"/>
                  <a:lumOff val="-13822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179705" defTabSz="457200">
              <a:lnSpc>
                <a:spcPct val="150000"/>
              </a:lnSpc>
              <a:spcBef>
                <a:spcPts val="600"/>
              </a:spcBef>
              <a:defRPr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13、评审并归零</a:t>
            </a:r>
            <a:r>
              <a:rPr>
                <a:solidFill>
                  <a:schemeClr val="accent5">
                    <a:hueOff val="128995"/>
                    <a:satOff val="10158"/>
                    <a:lumOff val="-13822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整体报告</a:t>
            </a:r>
            <a:endParaRPr>
              <a:solidFill>
                <a:schemeClr val="accent5">
                  <a:hueOff val="128995"/>
                  <a:satOff val="10158"/>
                  <a:lumOff val="-13822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179705" defTabSz="457200">
              <a:lnSpc>
                <a:spcPct val="150000"/>
              </a:lnSpc>
              <a:spcBef>
                <a:spcPts val="600"/>
              </a:spcBef>
              <a:defRPr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14、交付并确认</a:t>
            </a:r>
            <a:r>
              <a:rPr>
                <a:solidFill>
                  <a:schemeClr val="accent5">
                    <a:hueOff val="128995"/>
                    <a:satOff val="10158"/>
                    <a:lumOff val="-13822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整体报告</a:t>
            </a:r>
            <a:endParaRPr>
              <a:solidFill>
                <a:schemeClr val="accent5">
                  <a:hueOff val="128995"/>
                  <a:satOff val="10158"/>
                  <a:lumOff val="-13822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6C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开卷讨论可上网…"/>
          <p:cNvSpPr txBox="1"/>
          <p:nvPr>
            <p:ph type="ctrTitle"/>
          </p:nvPr>
        </p:nvSpPr>
        <p:spPr>
          <a:xfrm>
            <a:off x="1206496" y="3159203"/>
            <a:ext cx="21863437" cy="8978707"/>
          </a:xfrm>
          <a:prstGeom prst="rect">
            <a:avLst/>
          </a:prstGeom>
        </p:spPr>
        <p:txBody>
          <a:bodyPr anchor="t"/>
          <a:lstStyle/>
          <a:p>
            <a:pPr algn="ctr" defTabSz="914400">
              <a:lnSpc>
                <a:spcPct val="120000"/>
              </a:lnSpc>
              <a:spcBef>
                <a:spcPts val="600"/>
              </a:spcBef>
              <a:defRPr sz="60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</a:p>
          <a:p>
            <a:pPr algn="ctr" defTabSz="914400">
              <a:lnSpc>
                <a:spcPct val="120000"/>
              </a:lnSpc>
              <a:spcBef>
                <a:spcPts val="600"/>
              </a:spcBef>
              <a:defRPr sz="60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开卷讨论可上网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algn="ctr" defTabSz="914400">
              <a:lnSpc>
                <a:spcPct val="120000"/>
              </a:lnSpc>
              <a:spcBef>
                <a:spcPts val="600"/>
              </a:spcBef>
              <a:defRPr sz="60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指定代表台上讲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algn="ctr" defTabSz="914400">
              <a:lnSpc>
                <a:spcPct val="120000"/>
              </a:lnSpc>
              <a:spcBef>
                <a:spcPts val="600"/>
              </a:spcBef>
              <a:defRPr sz="60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同组问题有关系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algn="ctr" defTabSz="914400">
              <a:lnSpc>
                <a:spcPct val="120000"/>
              </a:lnSpc>
              <a:spcBef>
                <a:spcPts val="600"/>
              </a:spcBef>
              <a:defRPr sz="60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基本概念要深想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8" name="01"/>
          <p:cNvSpPr txBox="1"/>
          <p:nvPr>
            <p:ph type="sldNum" sz="quarter" idx="4294967295"/>
          </p:nvPr>
        </p:nvSpPr>
        <p:spPr>
          <a:xfrm>
            <a:off x="11965381" y="12994233"/>
            <a:ext cx="453238" cy="46136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229" name="开始讨论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r>
              <a:rPr>
                <a:latin typeface="微软雅黑" panose="020B0503020204020204" charset="-122"/>
                <a:ea typeface="微软雅黑" panose="020B0503020204020204" charset="-122"/>
              </a:rPr>
              <a:t>开始讨论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6C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01"/>
          <p:cNvSpPr txBox="1"/>
          <p:nvPr>
            <p:ph type="sldNum" sz="quarter" idx="4294967295"/>
          </p:nvPr>
        </p:nvSpPr>
        <p:spPr>
          <a:xfrm>
            <a:off x="11965381" y="12994233"/>
            <a:ext cx="453238" cy="46136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232" name="讨论提纲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r>
              <a:rPr>
                <a:latin typeface="微软雅黑" panose="020B0503020204020204" charset="-122"/>
                <a:ea typeface="微软雅黑" panose="020B0503020204020204" charset="-122"/>
              </a:rPr>
              <a:t>讨论提纲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3" name="1、运营体系的价值…"/>
          <p:cNvSpPr txBox="1"/>
          <p:nvPr>
            <p:ph type="ctrTitle"/>
          </p:nvPr>
        </p:nvSpPr>
        <p:spPr>
          <a:xfrm>
            <a:off x="3017529" y="3159203"/>
            <a:ext cx="8680312" cy="9980324"/>
          </a:xfrm>
          <a:prstGeom prst="rect">
            <a:avLst/>
          </a:prstGeom>
        </p:spPr>
        <p:txBody>
          <a:bodyPr anchor="t"/>
          <a:lstStyle/>
          <a:p>
            <a:pPr defTabSz="457200">
              <a:lnSpc>
                <a:spcPct val="100000"/>
              </a:lnSpc>
              <a:spcBef>
                <a:spcPts val="600"/>
              </a:spcBef>
              <a:defRPr sz="3200" b="0" spc="0"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endParaRPr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indent="179705" defTabSz="457200">
              <a:lnSpc>
                <a:spcPct val="150000"/>
              </a:lnSpc>
              <a:spcBef>
                <a:spcPts val="600"/>
              </a:spcBef>
              <a:defRPr sz="4800" b="0" spc="0"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1、运营体系的价值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179705" defTabSz="457200">
              <a:lnSpc>
                <a:spcPct val="150000"/>
              </a:lnSpc>
              <a:spcBef>
                <a:spcPts val="600"/>
              </a:spcBef>
              <a:defRPr sz="4800" b="0" spc="0"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2、何为端到端业务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179705" defTabSz="457200">
              <a:lnSpc>
                <a:spcPct val="150000"/>
              </a:lnSpc>
              <a:spcBef>
                <a:spcPts val="600"/>
              </a:spcBef>
              <a:defRPr sz="4800" b="0" spc="0"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3、产品之构件开发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179705" defTabSz="457200">
              <a:lnSpc>
                <a:spcPct val="150000"/>
              </a:lnSpc>
              <a:spcBef>
                <a:spcPts val="600"/>
              </a:spcBef>
              <a:defRPr sz="4800" b="0" spc="0"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4、项目之计划模板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179705" defTabSz="457200">
              <a:lnSpc>
                <a:spcPct val="150000"/>
              </a:lnSpc>
              <a:spcBef>
                <a:spcPts val="600"/>
              </a:spcBef>
              <a:defRPr sz="4800" b="0" spc="0"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5、产品开发的抓手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179705" defTabSz="457200">
              <a:lnSpc>
                <a:spcPct val="150000"/>
              </a:lnSpc>
              <a:spcBef>
                <a:spcPts val="600"/>
              </a:spcBef>
              <a:defRPr sz="4800" b="0" spc="0"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6、何为设计与开发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4" name="7、运营体系xBOM…"/>
          <p:cNvSpPr txBox="1"/>
          <p:nvPr/>
        </p:nvSpPr>
        <p:spPr>
          <a:xfrm>
            <a:off x="12468550" y="3159203"/>
            <a:ext cx="8680312" cy="9980324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pPr defTabSz="457200">
              <a:lnSpc>
                <a:spcPct val="100000"/>
              </a:lnSpc>
              <a:spcBef>
                <a:spcPts val="600"/>
              </a:spcBef>
              <a:defRPr sz="3200"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endParaRPr>
              <a:latin typeface="PingFang SC Regular"/>
              <a:ea typeface="PingFang SC Regular"/>
              <a:cs typeface="PingFang SC Regular"/>
              <a:sym typeface="PingFang SC Regular"/>
            </a:endParaRPr>
          </a:p>
          <a:p>
            <a:pPr indent="179705" defTabSz="457200">
              <a:lnSpc>
                <a:spcPct val="150000"/>
              </a:lnSpc>
              <a:spcBef>
                <a:spcPts val="600"/>
              </a:spcBef>
              <a:defRPr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PingFang SC Regular"/>
              </a:rPr>
              <a:t>7、运营体系xBOM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PingFang SC Regular"/>
            </a:endParaRPr>
          </a:p>
          <a:p>
            <a:pPr indent="179705" defTabSz="457200">
              <a:lnSpc>
                <a:spcPct val="150000"/>
              </a:lnSpc>
              <a:spcBef>
                <a:spcPts val="600"/>
              </a:spcBef>
              <a:defRPr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8、实施设计与开发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179705" defTabSz="457200">
              <a:lnSpc>
                <a:spcPct val="150000"/>
              </a:lnSpc>
              <a:spcBef>
                <a:spcPts val="600"/>
              </a:spcBef>
              <a:defRPr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9、开发业务架构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179705" defTabSz="457200">
              <a:lnSpc>
                <a:spcPct val="150000"/>
              </a:lnSpc>
              <a:spcBef>
                <a:spcPts val="600"/>
              </a:spcBef>
              <a:defRPr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10、开发应用架构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179705" defTabSz="457200">
              <a:lnSpc>
                <a:spcPct val="150000"/>
              </a:lnSpc>
              <a:spcBef>
                <a:spcPts val="600"/>
              </a:spcBef>
              <a:defRPr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11、企业信息化特征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179705" defTabSz="457200">
              <a:lnSpc>
                <a:spcPct val="150000"/>
              </a:lnSpc>
              <a:spcBef>
                <a:spcPts val="600"/>
              </a:spcBef>
              <a:defRPr>
                <a:uFill>
                  <a:solidFill>
                    <a:srgbClr val="000000"/>
                  </a:solidFill>
                </a:uFill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12、数字化转型方法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6C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我们谈论运营体系时，是指其需求、定义、模型、IT实现，还是运行实例…"/>
          <p:cNvSpPr txBox="1"/>
          <p:nvPr>
            <p:ph type="ctrTitle"/>
          </p:nvPr>
        </p:nvSpPr>
        <p:spPr>
          <a:xfrm>
            <a:off x="675640" y="3171825"/>
            <a:ext cx="23297515" cy="9980295"/>
          </a:xfrm>
          <a:prstGeom prst="rect">
            <a:avLst/>
          </a:prstGeom>
        </p:spPr>
        <p:txBody>
          <a:bodyPr anchor="t"/>
          <a:lstStyle/>
          <a:p>
            <a:pPr marL="1638935" lvl="2" indent="-915035" defTabSz="914400">
              <a:lnSpc>
                <a:spcPct val="200000"/>
              </a:lnSpc>
              <a:spcBef>
                <a:spcPts val="500"/>
              </a:spcBef>
              <a:buSzPct val="100000"/>
              <a:buAutoNum type="arabicPeriod"/>
              <a:defRPr sz="494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5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我们谈论运营体系时，是指其需求、定义、模型、IT实现，还是运行实例</a:t>
            </a:r>
            <a:endParaRPr sz="5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38935" lvl="2" indent="-915035" algn="l" defTabSz="914400">
              <a:lnSpc>
                <a:spcPct val="200000"/>
              </a:lnSpc>
              <a:spcBef>
                <a:spcPts val="500"/>
              </a:spcBef>
              <a:buAutoNum type="arabicPeriod"/>
              <a:defRPr sz="494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5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对于员工，运营体系是其导航系统、交通规则、行进道路，还是驾驶工具</a:t>
            </a:r>
            <a:endParaRPr sz="5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38935" lvl="2" indent="-915035" algn="l" defTabSz="914400">
              <a:lnSpc>
                <a:spcPct val="200000"/>
              </a:lnSpc>
              <a:spcBef>
                <a:spcPts val="500"/>
              </a:spcBef>
              <a:buAutoNum type="arabicPeriod"/>
              <a:defRPr sz="494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5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运营体系的服务对象是企业的外部客户还是内部员工，其最终服务对象呢</a:t>
            </a:r>
            <a:endParaRPr sz="5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38935" lvl="2" indent="-915035" algn="l" defTabSz="914400">
              <a:lnSpc>
                <a:spcPct val="200000"/>
              </a:lnSpc>
              <a:spcBef>
                <a:spcPts val="500"/>
              </a:spcBef>
              <a:buAutoNum type="arabicPeriod"/>
              <a:defRPr sz="494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5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对于研发制造服务一体化企业，其端到端业务的起点和终点是外部客户吗</a:t>
            </a:r>
            <a:endParaRPr sz="5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38935" lvl="2" indent="-915035" algn="l" defTabSz="914400">
              <a:lnSpc>
                <a:spcPct val="200000"/>
              </a:lnSpc>
              <a:spcBef>
                <a:spcPts val="500"/>
              </a:spcBef>
              <a:buAutoNum type="arabicPeriod"/>
              <a:defRPr sz="494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5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对于研发制造服务一体化企业，构建或改进运营体系的价值和目的是什么</a:t>
            </a:r>
            <a:endParaRPr sz="5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7" name="1、运营体系的价值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1、运营体系的价值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8" name="01"/>
          <p:cNvSpPr txBox="1"/>
          <p:nvPr>
            <p:ph type="sldNum" sz="quarter" idx="4294967295"/>
          </p:nvPr>
        </p:nvSpPr>
        <p:spPr>
          <a:xfrm>
            <a:off x="11965381" y="12994233"/>
            <a:ext cx="453238" cy="46136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6C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对一体化企业，其端到端业务的相关方主要包括哪些类型…"/>
          <p:cNvSpPr txBox="1"/>
          <p:nvPr>
            <p:ph type="ctrTitle"/>
          </p:nvPr>
        </p:nvSpPr>
        <p:spPr>
          <a:xfrm>
            <a:off x="1206496" y="3171903"/>
            <a:ext cx="21971004" cy="9980324"/>
          </a:xfrm>
          <a:prstGeom prst="rect">
            <a:avLst/>
          </a:prstGeom>
        </p:spPr>
        <p:txBody>
          <a:bodyPr anchor="t"/>
          <a:lstStyle/>
          <a:p>
            <a:pPr marL="1725295" lvl="2" indent="-963295" defTabSz="914400">
              <a:lnSpc>
                <a:spcPct val="200000"/>
              </a:lnSpc>
              <a:spcBef>
                <a:spcPts val="600"/>
              </a:spcBef>
              <a:buSzPct val="100000"/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对一体化企业，其端到端业务的相关方主要包括哪些类型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marL="1725295" lvl="2" indent="-963295" algn="l" defTabSz="914400">
              <a:lnSpc>
                <a:spcPct val="200000"/>
              </a:lnSpc>
              <a:spcBef>
                <a:spcPts val="600"/>
              </a:spcBef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对一体化企业，各相关方的端到端业务主要包括哪些类型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marL="1725295" lvl="2" indent="-963295" algn="l" defTabSz="914400">
              <a:lnSpc>
                <a:spcPct val="200000"/>
              </a:lnSpc>
              <a:spcBef>
                <a:spcPts val="600"/>
              </a:spcBef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在企业运营体系定义中，其中的端到端业务的载体是什么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marL="1725295" lvl="2" indent="-963295" algn="l" defTabSz="914400">
              <a:lnSpc>
                <a:spcPct val="200000"/>
              </a:lnSpc>
              <a:spcBef>
                <a:spcPts val="600"/>
              </a:spcBef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以端到端项目为视角，端到端业务流程定义的表现是什么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marL="1725295" lvl="2" indent="-963295" algn="l" defTabSz="914400">
              <a:lnSpc>
                <a:spcPct val="200000"/>
              </a:lnSpc>
              <a:spcBef>
                <a:spcPts val="600"/>
              </a:spcBef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以端到端项目为视角，端到端业务运行输出的成果是什么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1" name="2、何为端到端业务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2、何为端到端业务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2" name="01"/>
          <p:cNvSpPr txBox="1"/>
          <p:nvPr>
            <p:ph type="sldNum" sz="quarter" idx="4294967295"/>
          </p:nvPr>
        </p:nvSpPr>
        <p:spPr>
          <a:xfrm>
            <a:off x="11965381" y="12994233"/>
            <a:ext cx="453238" cy="46136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6C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从开发到退役，在构件全生命周期中，主要包括哪些阶段…"/>
          <p:cNvSpPr txBox="1"/>
          <p:nvPr>
            <p:ph type="ctrTitle"/>
          </p:nvPr>
        </p:nvSpPr>
        <p:spPr>
          <a:xfrm>
            <a:off x="1206496" y="3171903"/>
            <a:ext cx="21971004" cy="9980324"/>
          </a:xfrm>
          <a:prstGeom prst="rect">
            <a:avLst/>
          </a:prstGeom>
        </p:spPr>
        <p:txBody>
          <a:bodyPr anchor="t"/>
          <a:lstStyle/>
          <a:p>
            <a:pPr marL="1725295" lvl="2" indent="-963295" defTabSz="914400">
              <a:lnSpc>
                <a:spcPct val="200000"/>
              </a:lnSpc>
              <a:spcBef>
                <a:spcPts val="600"/>
              </a:spcBef>
              <a:buSzPct val="100000"/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从开发到退役，在构件全生命周期中，主要包括哪些阶段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marL="1725295" lvl="2" indent="-963295" algn="l" defTabSz="914400">
              <a:lnSpc>
                <a:spcPct val="200000"/>
              </a:lnSpc>
              <a:spcBef>
                <a:spcPts val="600"/>
              </a:spcBef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在构件全生命周期中，各阶段主要产品数据主要包括哪些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marL="1725295" lvl="2" indent="-963295" algn="l" defTabSz="914400">
              <a:lnSpc>
                <a:spcPct val="200000"/>
              </a:lnSpc>
              <a:spcBef>
                <a:spcPts val="600"/>
              </a:spcBef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在你们单位中，开发实现构件产品数据的任务类型有哪些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marL="1725295" lvl="2" indent="-963295" algn="l" defTabSz="914400">
              <a:lnSpc>
                <a:spcPct val="200000"/>
              </a:lnSpc>
              <a:spcBef>
                <a:spcPts val="600"/>
              </a:spcBef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为构件定义其全生命周期定义任务清单，应主要依据什么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marL="1725295" lvl="2" indent="-963295" algn="l" defTabSz="914400">
              <a:lnSpc>
                <a:spcPct val="200000"/>
              </a:lnSpc>
              <a:spcBef>
                <a:spcPts val="600"/>
              </a:spcBef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员工开发实现构件产品数据，运营体系应为员工提供什么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5" name="3、产品之构件开发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3、产品之构件开发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6" name="01"/>
          <p:cNvSpPr txBox="1"/>
          <p:nvPr>
            <p:ph type="sldNum" sz="quarter" idx="4294967295"/>
          </p:nvPr>
        </p:nvSpPr>
        <p:spPr>
          <a:xfrm>
            <a:off x="11965381" y="12994233"/>
            <a:ext cx="453238" cy="46136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6C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项目成果的构件应作为项目计划模板的一级节点，为什么…"/>
          <p:cNvSpPr txBox="1"/>
          <p:nvPr>
            <p:ph type="ctrTitle"/>
          </p:nvPr>
        </p:nvSpPr>
        <p:spPr>
          <a:xfrm>
            <a:off x="1206496" y="3171903"/>
            <a:ext cx="21971004" cy="9980324"/>
          </a:xfrm>
          <a:prstGeom prst="rect">
            <a:avLst/>
          </a:prstGeom>
        </p:spPr>
        <p:txBody>
          <a:bodyPr anchor="t"/>
          <a:lstStyle/>
          <a:p>
            <a:pPr marL="1725295" lvl="2" indent="-963295" defTabSz="914400">
              <a:lnSpc>
                <a:spcPct val="200000"/>
              </a:lnSpc>
              <a:spcBef>
                <a:spcPts val="600"/>
              </a:spcBef>
              <a:buSzPct val="100000"/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项目成果的构件应作为项目计划模板的一级节点，为什么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marL="1725295" lvl="2" indent="-963295" algn="l" defTabSz="914400">
              <a:lnSpc>
                <a:spcPct val="200000"/>
              </a:lnSpc>
              <a:spcBef>
                <a:spcPts val="600"/>
              </a:spcBef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在项目计划模板中，其一、二、三、四级节点分别是什么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marL="1725295" lvl="2" indent="-963295" algn="l" defTabSz="914400">
              <a:lnSpc>
                <a:spcPct val="200000"/>
              </a:lnSpc>
              <a:spcBef>
                <a:spcPts val="600"/>
              </a:spcBef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在项目计划模板中，为什么构件产品数据与三级节点等价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marL="1725295" lvl="2" indent="-963295" algn="l" defTabSz="914400">
              <a:lnSpc>
                <a:spcPct val="200000"/>
              </a:lnSpc>
              <a:spcBef>
                <a:spcPts val="600"/>
              </a:spcBef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为构件实现定义任务清单取决于其产品数据清单，为什么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marL="1725295" lvl="2" indent="-963295" algn="l" defTabSz="914400">
              <a:lnSpc>
                <a:spcPct val="200000"/>
              </a:lnSpc>
              <a:spcBef>
                <a:spcPts val="600"/>
              </a:spcBef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产品相关方对产品开发贡献价值，价值体现的载体是什么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9" name="4、项目之计划模板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4、项目之计划模板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0" name="01"/>
          <p:cNvSpPr txBox="1"/>
          <p:nvPr>
            <p:ph type="sldNum" sz="quarter" idx="4294967295"/>
          </p:nvPr>
        </p:nvSpPr>
        <p:spPr>
          <a:xfrm>
            <a:off x="11965381" y="12994233"/>
            <a:ext cx="453238" cy="46136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6C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开发产品就等价于开发产品数据，这种说法对吗，为什么…"/>
          <p:cNvSpPr txBox="1"/>
          <p:nvPr>
            <p:ph type="ctrTitle"/>
          </p:nvPr>
        </p:nvSpPr>
        <p:spPr>
          <a:xfrm>
            <a:off x="1206496" y="3171903"/>
            <a:ext cx="21971004" cy="9980324"/>
          </a:xfrm>
          <a:prstGeom prst="rect">
            <a:avLst/>
          </a:prstGeom>
        </p:spPr>
        <p:txBody>
          <a:bodyPr anchor="t"/>
          <a:lstStyle/>
          <a:p>
            <a:pPr marL="1725295" lvl="2" indent="-963295" defTabSz="914400">
              <a:lnSpc>
                <a:spcPct val="200000"/>
              </a:lnSpc>
              <a:spcBef>
                <a:spcPts val="600"/>
              </a:spcBef>
              <a:buSzPct val="100000"/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开发产品就等价于开发产品数据，这种说法对吗，为什么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marL="1725295" lvl="2" indent="-963295" algn="l" defTabSz="914400">
              <a:lnSpc>
                <a:spcPct val="200000"/>
              </a:lnSpc>
              <a:spcBef>
                <a:spcPts val="600"/>
              </a:spcBef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在产品全生命周期过程中，产品数据的作用和目的有哪些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marL="1725295" lvl="2" indent="-963295" algn="l" defTabSz="914400">
              <a:lnSpc>
                <a:spcPct val="200000"/>
              </a:lnSpc>
              <a:spcBef>
                <a:spcPts val="600"/>
              </a:spcBef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不同团队基于同样的需求开发产品，产品数据清单相同吗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marL="1725295" lvl="2" indent="-963295" algn="l" defTabSz="914400">
              <a:lnSpc>
                <a:spcPct val="200000"/>
              </a:lnSpc>
              <a:spcBef>
                <a:spcPts val="600"/>
              </a:spcBef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产品开发项目中，如何判断开发过程或管理过程是精益的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marL="1725295" lvl="2" indent="-963295" algn="l" defTabSz="914400">
              <a:lnSpc>
                <a:spcPct val="200000"/>
              </a:lnSpc>
              <a:spcBef>
                <a:spcPts val="600"/>
              </a:spcBef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你应用什么方法开发产品数据，并确保产品数据满足需求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3" name="5、产品开发的抓手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5、产品开发的抓手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4" name="01"/>
          <p:cNvSpPr txBox="1"/>
          <p:nvPr>
            <p:ph type="sldNum" sz="quarter" idx="4294967295"/>
          </p:nvPr>
        </p:nvSpPr>
        <p:spPr>
          <a:xfrm>
            <a:off x="11965381" y="12994233"/>
            <a:ext cx="453238" cy="46136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6C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基于ISO-9000:2015标准，什么是设计与开发，怎么理解…"/>
          <p:cNvSpPr txBox="1"/>
          <p:nvPr>
            <p:ph type="ctrTitle"/>
          </p:nvPr>
        </p:nvSpPr>
        <p:spPr>
          <a:xfrm>
            <a:off x="1206496" y="3171903"/>
            <a:ext cx="21971004" cy="9980324"/>
          </a:xfrm>
          <a:prstGeom prst="rect">
            <a:avLst/>
          </a:prstGeom>
        </p:spPr>
        <p:txBody>
          <a:bodyPr anchor="t"/>
          <a:lstStyle/>
          <a:p>
            <a:pPr marL="1725295" lvl="2" indent="-963295" defTabSz="914400">
              <a:lnSpc>
                <a:spcPct val="200000"/>
              </a:lnSpc>
              <a:spcBef>
                <a:spcPts val="600"/>
              </a:spcBef>
              <a:buSzPct val="100000"/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基于ISO-9000:2015标准，什么是设计与开发，怎么理解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25295" lvl="2" indent="-963295" algn="l" defTabSz="914400">
              <a:lnSpc>
                <a:spcPct val="200000"/>
              </a:lnSpc>
              <a:spcBef>
                <a:spcPts val="600"/>
              </a:spcBef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基于ISO-9000:2015标准，什么是质量、需求，怎么理解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25295" lvl="2" indent="-963295" algn="l" defTabSz="914400">
              <a:lnSpc>
                <a:spcPct val="200000"/>
              </a:lnSpc>
              <a:spcBef>
                <a:spcPts val="600"/>
              </a:spcBef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产品设计与开发过程的终点是什么，是何业务过程的起点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25295" lvl="2" indent="-963295" algn="l" defTabSz="914400">
              <a:lnSpc>
                <a:spcPct val="200000"/>
              </a:lnSpc>
              <a:spcBef>
                <a:spcPts val="600"/>
              </a:spcBef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 xBOM视角，请说明产品开发与设计过程的输出文档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25295" lvl="2" indent="-963295" algn="l" defTabSz="914400">
              <a:lnSpc>
                <a:spcPct val="200000"/>
              </a:lnSpc>
              <a:spcBef>
                <a:spcPts val="600"/>
              </a:spcBef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 xBOM视角，请说明产品生产与运维过程的输出文档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7" name="6、何为设计与开发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6、何为设计与开发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8" name="01"/>
          <p:cNvSpPr txBox="1"/>
          <p:nvPr>
            <p:ph type="sldNum" sz="quarter" idx="4294967295"/>
          </p:nvPr>
        </p:nvSpPr>
        <p:spPr>
          <a:xfrm>
            <a:off x="11965381" y="12994233"/>
            <a:ext cx="453238" cy="46136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6C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以 xBOM为视角，说明产品开发、生产、运维及改进过程…"/>
          <p:cNvSpPr txBox="1"/>
          <p:nvPr>
            <p:ph type="ctrTitle"/>
          </p:nvPr>
        </p:nvSpPr>
        <p:spPr>
          <a:xfrm>
            <a:off x="1206496" y="3171903"/>
            <a:ext cx="21971004" cy="9980324"/>
          </a:xfrm>
          <a:prstGeom prst="rect">
            <a:avLst/>
          </a:prstGeom>
        </p:spPr>
        <p:txBody>
          <a:bodyPr anchor="t"/>
          <a:lstStyle/>
          <a:p>
            <a:pPr marL="1725295" lvl="2" indent="-963295" defTabSz="914400">
              <a:lnSpc>
                <a:spcPct val="200000"/>
              </a:lnSpc>
              <a:spcBef>
                <a:spcPts val="600"/>
              </a:spcBef>
              <a:buSzPct val="100000"/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 xBOM为视角，说明产品开发、生产、运维及改进过程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25295" lvl="2" indent="-963295" algn="l" defTabSz="914400">
              <a:lnSpc>
                <a:spcPct val="200000"/>
              </a:lnSpc>
              <a:spcBef>
                <a:spcPts val="600"/>
              </a:spcBef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GBOM、PBS、EBOM、PBOM、BBOM、SBOM的关系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25295" lvl="2" indent="-963295" algn="l" defTabSz="914400">
              <a:lnSpc>
                <a:spcPct val="200000"/>
              </a:lnSpc>
              <a:spcBef>
                <a:spcPts val="600"/>
              </a:spcBef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以xBOM为视角，用户使用的是什么，用户参与的是什么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25295" lvl="2" indent="-963295" algn="l" defTabSz="914400">
              <a:lnSpc>
                <a:spcPct val="200000"/>
              </a:lnSpc>
              <a:spcBef>
                <a:spcPts val="600"/>
              </a:spcBef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构建运营体系的等价于产品的开发、生产与运营，为什么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25295" lvl="2" indent="-963295" algn="l" defTabSz="914400">
              <a:lnSpc>
                <a:spcPct val="200000"/>
              </a:lnSpc>
              <a:spcBef>
                <a:spcPts val="600"/>
              </a:spcBef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运营体系GBOM、PBS、EBOM、PBOM、BBOM、SBOM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1" name="7、运营体系xBOM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7、运营体系xBOM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2" name="01"/>
          <p:cNvSpPr txBox="1"/>
          <p:nvPr>
            <p:ph type="sldNum" sz="quarter" idx="4294967295"/>
          </p:nvPr>
        </p:nvSpPr>
        <p:spPr>
          <a:xfrm>
            <a:off x="11965381" y="12994233"/>
            <a:ext cx="453238" cy="46136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6C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把设计与开发理解为需求的持续分解、分配与分析，如何…"/>
          <p:cNvSpPr txBox="1"/>
          <p:nvPr>
            <p:ph type="ctrTitle"/>
          </p:nvPr>
        </p:nvSpPr>
        <p:spPr>
          <a:xfrm>
            <a:off x="1206496" y="3171903"/>
            <a:ext cx="21971004" cy="9980324"/>
          </a:xfrm>
          <a:prstGeom prst="rect">
            <a:avLst/>
          </a:prstGeom>
        </p:spPr>
        <p:txBody>
          <a:bodyPr anchor="t"/>
          <a:lstStyle/>
          <a:p>
            <a:pPr marL="1725295" lvl="2" indent="-963295" defTabSz="914400">
              <a:lnSpc>
                <a:spcPct val="200000"/>
              </a:lnSpc>
              <a:spcBef>
                <a:spcPts val="600"/>
              </a:spcBef>
              <a:buSzPct val="100000"/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把设计与开发理解为需求的持续分解、分配与分析，如何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marL="1725295" lvl="2" indent="-963295" algn="l" defTabSz="914400">
              <a:lnSpc>
                <a:spcPct val="200000"/>
              </a:lnSpc>
              <a:spcBef>
                <a:spcPts val="600"/>
              </a:spcBef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产品设计开发人员分解需求的目的是什么，是为了分配吗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marL="1725295" lvl="2" indent="-963295" algn="l" defTabSz="914400">
              <a:lnSpc>
                <a:spcPct val="200000"/>
              </a:lnSpc>
              <a:spcBef>
                <a:spcPts val="600"/>
              </a:spcBef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前序需求分解分配到后续架构节点，分配关系是多对一吗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marL="1725295" lvl="2" indent="-963295" algn="l" defTabSz="914400">
              <a:lnSpc>
                <a:spcPct val="200000"/>
              </a:lnSpc>
              <a:spcBef>
                <a:spcPts val="600"/>
              </a:spcBef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相关方需求、业务架构、应用架构是并行还是串行开发的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marL="1725295" lvl="2" indent="-963295" algn="l" defTabSz="914400">
              <a:lnSpc>
                <a:spcPct val="200000"/>
              </a:lnSpc>
              <a:spcBef>
                <a:spcPts val="600"/>
              </a:spcBef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前序需求分解的颗粒度如何确定，以相关方需求开发为例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5" name="8、实施设计与开发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8、实施设计与开发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6" name="01"/>
          <p:cNvSpPr txBox="1"/>
          <p:nvPr>
            <p:ph type="sldNum" sz="quarter" idx="4294967295"/>
          </p:nvPr>
        </p:nvSpPr>
        <p:spPr>
          <a:xfrm>
            <a:off x="11965381" y="12994233"/>
            <a:ext cx="453238" cy="46136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6C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对于企业运营体系，请列出其相关方及其相关方需求类型…"/>
          <p:cNvSpPr txBox="1"/>
          <p:nvPr>
            <p:ph type="ctrTitle"/>
          </p:nvPr>
        </p:nvSpPr>
        <p:spPr>
          <a:xfrm>
            <a:off x="1206496" y="3171903"/>
            <a:ext cx="21971004" cy="9980324"/>
          </a:xfrm>
          <a:prstGeom prst="rect">
            <a:avLst/>
          </a:prstGeom>
        </p:spPr>
        <p:txBody>
          <a:bodyPr anchor="t"/>
          <a:lstStyle/>
          <a:p>
            <a:pPr marL="1725295" lvl="2" indent="-963295" defTabSz="914400">
              <a:lnSpc>
                <a:spcPct val="200000"/>
              </a:lnSpc>
              <a:spcBef>
                <a:spcPts val="600"/>
              </a:spcBef>
              <a:buSzPct val="100000"/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对于企业运营体系，请列出其相关方及其相关方需求类型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25295" lvl="2" indent="-963295" algn="l" defTabSz="914400">
              <a:lnSpc>
                <a:spcPct val="200000"/>
              </a:lnSpc>
              <a:spcBef>
                <a:spcPts val="600"/>
              </a:spcBef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在企业运营体系中，请给出维度、业务域及各域项目类型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25295" lvl="2" indent="-963295" algn="l" defTabSz="914400">
              <a:lnSpc>
                <a:spcPct val="200000"/>
              </a:lnSpc>
              <a:spcBef>
                <a:spcPts val="600"/>
              </a:spcBef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请选择一个端到端项目类型，定义其成果的构件类型清单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25295" lvl="2" indent="-963295" algn="l" defTabSz="914400">
              <a:lnSpc>
                <a:spcPct val="200000"/>
              </a:lnSpc>
              <a:spcBef>
                <a:spcPts val="600"/>
              </a:spcBef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请选择一个构件类型，定义其实现所需WBS包和任务清单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25295" lvl="2" indent="-963295" algn="l" defTabSz="914400">
              <a:lnSpc>
                <a:spcPct val="200000"/>
              </a:lnSpc>
              <a:spcBef>
                <a:spcPts val="600"/>
              </a:spcBef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将相关方需求分解分配到业务架构节点，应分配到哪一级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9" name="9、开发业务架构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9、开发业务架构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0" name="01"/>
          <p:cNvSpPr txBox="1"/>
          <p:nvPr>
            <p:ph type="sldNum" sz="quarter" idx="4294967295"/>
          </p:nvPr>
        </p:nvSpPr>
        <p:spPr>
          <a:xfrm>
            <a:off x="11965381" y="12994233"/>
            <a:ext cx="453238" cy="46136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6C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运营体系应用架构可否分解为IT系统、菜单、TAB、操作…"/>
          <p:cNvSpPr txBox="1"/>
          <p:nvPr>
            <p:ph type="ctrTitle"/>
          </p:nvPr>
        </p:nvSpPr>
        <p:spPr>
          <a:xfrm>
            <a:off x="1206496" y="3171903"/>
            <a:ext cx="21971004" cy="9980324"/>
          </a:xfrm>
          <a:prstGeom prst="rect">
            <a:avLst/>
          </a:prstGeom>
        </p:spPr>
        <p:txBody>
          <a:bodyPr anchor="t"/>
          <a:lstStyle/>
          <a:p>
            <a:pPr marL="1725295" lvl="2" indent="-963295" defTabSz="914400">
              <a:lnSpc>
                <a:spcPct val="200000"/>
              </a:lnSpc>
              <a:spcBef>
                <a:spcPts val="600"/>
              </a:spcBef>
              <a:buSzPct val="100000"/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运营体系应用架构可否分解为IT系统、菜单、TAB、操作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25295" lvl="2" indent="-963295" algn="l" defTabSz="914400">
              <a:lnSpc>
                <a:spcPct val="200000"/>
              </a:lnSpc>
              <a:spcBef>
                <a:spcPts val="600"/>
              </a:spcBef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业务架构中的任务节点，应该分配给应用架构的哪类节点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25295" lvl="2" indent="-963295" algn="l" defTabSz="914400">
              <a:lnSpc>
                <a:spcPct val="200000"/>
              </a:lnSpc>
              <a:spcBef>
                <a:spcPts val="600"/>
              </a:spcBef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应用架构中的TAB内容，对应业务架构中任务节点的什么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25295" lvl="2" indent="-963295" algn="l" defTabSz="914400">
              <a:lnSpc>
                <a:spcPct val="200000"/>
              </a:lnSpc>
              <a:spcBef>
                <a:spcPts val="600"/>
              </a:spcBef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应用架构中 TAB上的操作，可否视为系统支持的用例场景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25295" lvl="2" indent="-963295" algn="l" defTabSz="914400">
              <a:lnSpc>
                <a:spcPct val="200000"/>
              </a:lnSpc>
              <a:spcBef>
                <a:spcPts val="600"/>
              </a:spcBef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用例场景中的活动，与信息系统前、后端组件是什么关系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3" name="10、开发应用架构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10、开发应用架构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4" name="01"/>
          <p:cNvSpPr txBox="1"/>
          <p:nvPr>
            <p:ph type="sldNum" sz="quarter" idx="4294967295"/>
          </p:nvPr>
        </p:nvSpPr>
        <p:spPr>
          <a:xfrm>
            <a:off x="11965381" y="12994233"/>
            <a:ext cx="453238" cy="46136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6C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管理支持类业务的固有特点是永远处于改进之中，为什么…"/>
          <p:cNvSpPr txBox="1"/>
          <p:nvPr>
            <p:ph type="ctrTitle"/>
          </p:nvPr>
        </p:nvSpPr>
        <p:spPr>
          <a:xfrm>
            <a:off x="1206496" y="3171903"/>
            <a:ext cx="21971004" cy="9980324"/>
          </a:xfrm>
          <a:prstGeom prst="rect">
            <a:avLst/>
          </a:prstGeom>
        </p:spPr>
        <p:txBody>
          <a:bodyPr anchor="t"/>
          <a:lstStyle/>
          <a:p>
            <a:pPr marL="1725295" lvl="2" indent="-963295" defTabSz="914400">
              <a:lnSpc>
                <a:spcPct val="200000"/>
              </a:lnSpc>
              <a:spcBef>
                <a:spcPts val="600"/>
              </a:spcBef>
              <a:buSzPct val="100000"/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管理支持类业务的固有特点是永远处于改进之中，为什么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marL="1725295" lvl="2" indent="-963295" algn="l" defTabSz="914400">
              <a:lnSpc>
                <a:spcPct val="200000"/>
              </a:lnSpc>
              <a:spcBef>
                <a:spcPts val="600"/>
              </a:spcBef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导致运营体系中业务不通、数据孤岛等问题的原因是什么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marL="1725295" lvl="2" indent="-963295" algn="l" defTabSz="914400">
              <a:lnSpc>
                <a:spcPct val="200000"/>
              </a:lnSpc>
              <a:spcBef>
                <a:spcPts val="600"/>
              </a:spcBef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怎样的运营体系应用架构及原则，才能解决以上两大问题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marL="1725295" lvl="2" indent="-963295" algn="l" defTabSz="914400">
              <a:lnSpc>
                <a:spcPct val="200000"/>
              </a:lnSpc>
              <a:spcBef>
                <a:spcPts val="600"/>
              </a:spcBef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企业运营体系与企业内员工使用的各CAX工具是什么关系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marL="1725295" lvl="2" indent="-963295" algn="l" defTabSz="914400">
              <a:lnSpc>
                <a:spcPct val="200000"/>
              </a:lnSpc>
              <a:spcBef>
                <a:spcPts val="600"/>
              </a:spcBef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以配置方式实现各任务类型的信息系统，是可配置平台吗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7" name="11、企业信息化特征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11、企业信息化特征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8" name="01"/>
          <p:cNvSpPr txBox="1"/>
          <p:nvPr>
            <p:ph type="sldNum" sz="quarter" idx="4294967295"/>
          </p:nvPr>
        </p:nvSpPr>
        <p:spPr>
          <a:xfrm>
            <a:off x="11965381" y="12994233"/>
            <a:ext cx="453238" cy="46136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6C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企业存在的价值是什么，企业运营体系存在的价值是什么…"/>
          <p:cNvSpPr txBox="1"/>
          <p:nvPr>
            <p:ph type="ctrTitle"/>
          </p:nvPr>
        </p:nvSpPr>
        <p:spPr>
          <a:xfrm>
            <a:off x="1206496" y="3171903"/>
            <a:ext cx="21971004" cy="9980324"/>
          </a:xfrm>
          <a:prstGeom prst="rect">
            <a:avLst/>
          </a:prstGeom>
        </p:spPr>
        <p:txBody>
          <a:bodyPr anchor="t"/>
          <a:lstStyle/>
          <a:p>
            <a:pPr marL="1725295" lvl="2" indent="-963295" defTabSz="914400">
              <a:lnSpc>
                <a:spcPct val="200000"/>
              </a:lnSpc>
              <a:spcBef>
                <a:spcPts val="600"/>
              </a:spcBef>
              <a:buSzPct val="100000"/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企业存在的价值是什么，企业运营体系存在的价值是什么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marL="1725295" lvl="2" indent="-963295" algn="l" defTabSz="914400">
              <a:lnSpc>
                <a:spcPct val="200000"/>
              </a:lnSpc>
              <a:spcBef>
                <a:spcPts val="600"/>
              </a:spcBef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企业战略与运营体系是什么关系，运营体系如何服务战略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marL="1725295" lvl="2" indent="-963295" algn="l" defTabSz="914400">
              <a:lnSpc>
                <a:spcPct val="200000"/>
              </a:lnSpc>
              <a:spcBef>
                <a:spcPts val="600"/>
              </a:spcBef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构建基于资产的端到端业务，是改善产品研制TQC关键吗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marL="1725295" lvl="2" indent="-963295" algn="l" defTabSz="914400">
              <a:lnSpc>
                <a:spcPct val="200000"/>
              </a:lnSpc>
              <a:spcBef>
                <a:spcPts val="600"/>
              </a:spcBef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构建业务CAX自动化工具链，是业务数字化转型的关键吗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  <a:p>
            <a:pPr marL="1725295" lvl="2" indent="-963295" algn="l" defTabSz="914400">
              <a:lnSpc>
                <a:spcPct val="200000"/>
              </a:lnSpc>
              <a:spcBef>
                <a:spcPts val="600"/>
              </a:spcBef>
              <a:buAutoNum type="arabicPeriod"/>
              <a:defRPr sz="52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</a:rPr>
              <a:t>作为企业员工，基于运营体系的主要典型工作场景有哪些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1" name="12、数字化转型方法"/>
          <p:cNvSpPr txBox="1"/>
          <p:nvPr>
            <p:ph type="subTitle" sz="quarter" idx="1"/>
          </p:nvPr>
        </p:nvSpPr>
        <p:spPr>
          <a:xfrm>
            <a:off x="1206500" y="787924"/>
            <a:ext cx="21971000" cy="1509268"/>
          </a:xfrm>
          <a:prstGeom prst="rect">
            <a:avLst/>
          </a:prstGeom>
        </p:spPr>
        <p:txBody>
          <a:bodyPr/>
          <a:lstStyle/>
          <a:p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12、数字化转型方法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2" name="01"/>
          <p:cNvSpPr txBox="1"/>
          <p:nvPr>
            <p:ph type="sldNum" sz="quarter" idx="4294967295"/>
          </p:nvPr>
        </p:nvSpPr>
        <p:spPr>
          <a:xfrm>
            <a:off x="11965381" y="12994233"/>
            <a:ext cx="453238" cy="46136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2025～2026"/>
          <p:cNvSpPr txBox="1"/>
          <p:nvPr>
            <p:ph type="body" idx="21"/>
          </p:nvPr>
        </p:nvSpPr>
        <p:spPr>
          <a:xfrm>
            <a:off x="1206498" y="11224801"/>
            <a:ext cx="21971003" cy="1213127"/>
          </a:xfrm>
          <a:prstGeom prst="rect">
            <a:avLst/>
          </a:prstGeom>
        </p:spPr>
        <p:txBody>
          <a:bodyPr/>
          <a:lstStyle>
            <a:lvl1pPr algn="ctr" defTabSz="825500">
              <a:defRPr sz="4800"/>
            </a:lvl1pPr>
          </a:lstStyle>
          <a:p>
            <a:r>
              <a:rPr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2025～2026</a:t>
            </a:r>
            <a:endParaRPr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5" name="Q&amp;A…"/>
          <p:cNvSpPr txBox="1"/>
          <p:nvPr>
            <p:ph type="ctrTitle"/>
          </p:nvPr>
        </p:nvSpPr>
        <p:spPr>
          <a:xfrm>
            <a:off x="1206496" y="3430358"/>
            <a:ext cx="21971004" cy="4465934"/>
          </a:xfrm>
          <a:prstGeom prst="rect">
            <a:avLst/>
          </a:prstGeom>
        </p:spPr>
        <p:txBody>
          <a:bodyPr anchor="t"/>
          <a:lstStyle/>
          <a:p>
            <a:pPr algn="ctr" defTabSz="914400">
              <a:lnSpc>
                <a:spcPct val="150000"/>
              </a:lnSpc>
              <a:spcBef>
                <a:spcPts val="600"/>
              </a:spcBef>
              <a:defRPr sz="100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 sz="8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Q&amp;A</a:t>
            </a:r>
            <a:endParaRPr sz="8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defTabSz="914400">
              <a:lnSpc>
                <a:spcPct val="150000"/>
              </a:lnSpc>
              <a:spcBef>
                <a:spcPts val="600"/>
              </a:spcBef>
              <a:defRPr sz="6000" b="0" spc="0">
                <a:latin typeface="PingFang SC Semibold"/>
                <a:ea typeface="PingFang SC Semibold"/>
                <a:cs typeface="PingFang SC Semibold"/>
                <a:sym typeface="PingFang SC Semibold"/>
              </a:defRPr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相互学习、共同进步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400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defRPr kumimoji="0" sz="48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400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defRPr kumimoji="0" sz="48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4136</Words>
  <Application>WPS 演示</Application>
  <PresentationFormat/>
  <Paragraphs>296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1" baseType="lpstr">
      <vt:lpstr>Arial</vt:lpstr>
      <vt:lpstr>宋体</vt:lpstr>
      <vt:lpstr>Wingdings</vt:lpstr>
      <vt:lpstr>Helvetica Neue</vt:lpstr>
      <vt:lpstr>Helvetica Neue Medium</vt:lpstr>
      <vt:lpstr>微软雅黑</vt:lpstr>
      <vt:lpstr>PingFang SC Semibold</vt:lpstr>
      <vt:lpstr>Arial Unicode MS</vt:lpstr>
      <vt:lpstr>PingFang SC Regular</vt:lpstr>
      <vt:lpstr>黑体</vt:lpstr>
      <vt:lpstr>Wingdings</vt:lpstr>
      <vt:lpstr>20_BasicBlack</vt:lpstr>
      <vt:lpstr>——正向设计方法</vt:lpstr>
      <vt:lpstr>消除方言行话</vt:lpstr>
      <vt:lpstr>运营：Operations，企业核心业务及其管理支持的日常执行活动，是业务和经营的具体实现和支撑过程程”，明确了步骤、责任人和规则</vt:lpstr>
      <vt:lpstr>任务：Task，需要完成的最小工作单元，具体明确，有负责人和截止时间</vt:lpstr>
      <vt:lpstr>工作：Work，泛指一切脑力或体力的劳动，是以上所有术语的总称或统称</vt:lpstr>
      <vt:lpstr>一个典型的业务域通常具备以下特征：高内聚、低耦合、拥有专属核心数据，以及拥有域内通用语言</vt:lpstr>
      <vt:lpstr>指标体系：监控以上三者的运行效果，并为优化提供决策依据</vt:lpstr>
      <vt:lpstr>工单类任务：由多员分别发起、由多人依次处理、以分析策划所发起的多条业务单据为目的的任务，以工单引擎实现</vt:lpstr>
      <vt:lpstr>进展类绩效：用来展示业务对象进度或状态的定性或定量说明 ，以计划引擎、流程引擎或工单引擎实现；</vt:lpstr>
      <vt:lpstr>业务绩效：对主数据、业务数据以及数据关系的分析与统计数据</vt:lpstr>
      <vt:lpstr>SBOM：服务方案BOM，Service BOM</vt:lpstr>
      <vt:lpstr>正方反方观察方</vt:lpstr>
      <vt:lpstr>总结：原本只是一个简单的削苹果任务，现在变成了一整套复杂的文档和流程。这种夸张的情况旨在讽刺那些形式主义管理者的做法，并引起大家的思考，请再深入思考一层，这样做一定是形式主义吗。</vt:lpstr>
      <vt:lpstr>7、向主要相关方确认架构</vt:lpstr>
      <vt:lpstr>基本概念要深想</vt:lpstr>
      <vt:lpstr>6、何为设计与开发</vt:lpstr>
      <vt:lpstr>对于研发制造服务一体化企业，构建或改进运营体系的价值和目的是什么</vt:lpstr>
      <vt:lpstr>以端到端项目为视角，端到端业务运行输出的成果是什么</vt:lpstr>
      <vt:lpstr>员工开发实现构件产品数据，运营体系应为员工提供什么</vt:lpstr>
      <vt:lpstr>产品相关方对产品开发贡献价值，价值体现的载体是什么</vt:lpstr>
      <vt:lpstr>你应用什么方法开发产品数据，并确保产品数据满足需求</vt:lpstr>
      <vt:lpstr>基于 xBOM视角，请说明产品生产与运维过程的输出文档</vt:lpstr>
      <vt:lpstr>运营体系GBOM、PBS、EBOM、PBOM、BBOM、SBOM</vt:lpstr>
      <vt:lpstr>前序需求分解的颗粒度如何确定，以相关方需求开发为例</vt:lpstr>
      <vt:lpstr>将相关方需求分解分配到业务架构节点，应分配到哪一级</vt:lpstr>
      <vt:lpstr>用例场景中的活动，与信息系统前、后端组件是什么关系</vt:lpstr>
      <vt:lpstr>以配置方式实现各任务类型的信息系统，是可配置平台吗</vt:lpstr>
      <vt:lpstr>作为企业员工，基于运营体系的主要典型工作场景有哪些</vt:lpstr>
      <vt:lpstr>相互学习、共同进步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如何开发运营体系——正向设计方法</dc:title>
  <dc:creator/>
  <cp:lastModifiedBy>MickeyChow</cp:lastModifiedBy>
  <cp:revision>9</cp:revision>
  <dcterms:created xsi:type="dcterms:W3CDTF">2026-02-04T00:18:00Z</dcterms:created>
  <dcterms:modified xsi:type="dcterms:W3CDTF">2026-02-04T02:23:16Z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FBD17EF603814E27A4F97471576BD6E6_12</vt:lpwstr>
  </property>
</Properties>
</file>