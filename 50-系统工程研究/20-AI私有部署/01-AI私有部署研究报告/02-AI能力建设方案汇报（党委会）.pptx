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9" Type="http://schemas.openxmlformats.org/officeDocument/2006/relationships/slide" Target="slides/slide9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1.sv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linear-gradient(160deg, #8F120C 0%, #A81810 25%, #C42819 55%, #E63F26 85%, #EE5530 100%)', position: 'relative', overflow: 'hidden' }}&gt;&#10;    {/* 金色光晕 - 右上 */}&#10;    &lt;Box style={{ position: 'absolute', top: -140, right: -100, width: 520, height: 520, borderRadius: 260, background: 'radial-gradient(circle, rgba(255,215,0,0.28) 0%, rgba(255,215,0,0) 70%)' }} /&gt;&#10;    {/* 金色光晕 - 左下 */}&#10;    &lt;Box style={{ position: 'absolute', bottom: -160, left: -120, width: 460, height: 460, borderRadius: 230, background: 'radial-gradient(circle, rgba(255,231,155,0.20) 0%, rgba(255,231,155,0) 70%)' }} /&gt;&#10;    {/* 金色粒子装饰 */}&#10;    &lt;Box style={{ position: 'absolute', top: 110, left: 120, width: 10, height: 10, borderRadius: 5, background: 'rgba(255,215,0,0.55)' }} /&gt;&#10;    &lt;Box style={{ position: 'absolute', top: 180, left: 260, width: 6, height: 6, borderRadius: 3, background: 'rgba(255,231,155,0.5)' }} /&gt;&#10;    &lt;Box style={{ position: 'absolute', top: 90, right: 220, width: 8, height: 8, borderRadius: 4, background: 'rgba(255,215,0,0.5)' }} /&gt;&#10;    &lt;Box style={{ position: 'absolute', top: 250, right: 140, width: 5, height: 5, borderRadius: 3, background: 'rgba(255,231,155,0.45)' }} /&gt;&#10;    &lt;Box style={{ position: 'absolute', bottom: 190, left: 180, width: 7, height: 7, borderRadius: 4, background: 'rgba(255,215,0,0.4)' }} /&gt;&#10;    &lt;Box style={{ position: 'absolute', bottom: 140, right: 300, width: 6, height: 6, borderRadius: 3, background: 'rgba(255,231,155,0.5)' }} /&gt;&#10;    {/* 顶部细金线 */}&#10;    &lt;Box style={{ position: 'absolute', top: 0, left: 0, width: '100%', height: 6, background: 'linear-gradient(90deg, #FFE79B 0%, #FFD700 30%, #E19825 60%, #FFE79B 100%)' }} /&gt;&#10;&#10;    {/* 主内容区 */}&#10;    &lt;Box style={{ position: 'relative', zIndex: 2, width: '100%', height: '100%', padding: '56px 90px', justifyContent: 'space-between' }}&gt;&#10;        {/* 顶部议题条 */}&#10;        &lt;Box style={{ flexDirection: 'row', alignItems: 'center', justifyContent: 'center', gap: 18 }}&gt;&#10;            &lt;Box style={{ width: 46, height: 2, background: 'rgba(255,215,0,0.8)' }} /&gt;&#10;            &lt;Box style={{ padding: '8px 30px', borderRadius: 24, border: '1px solid rgba(255,215,0,0.75)' }}&gt;&#10;                &lt;Text style={{ fontSize: 20, color: '#FFE79B', letterSpacing: 6, fontWeight: 'bold' }}&gt;党委会审议 · 专题汇报&lt;/Text&gt;&#10;            &lt;/Box&gt;&#10;            &lt;Box style={{ width: 46, height: 2, background: 'rgba(255,215,0,0.8)' }} /&gt;&#10;        &lt;/Box&gt;&#10;&#10;        {/* 中部标题 */}&#10;        &lt;Box style={{ alignItems: 'center' }}&gt;&#10;            {/* 主标底层阴影 */}&#10;            &lt;Box style={{ position: 'relative', height: 210, justifyContent: 'center' }}&gt;&#10;                &lt;Text style={{ position: 'absolute', top: 10, left: 0, width: '100%', textAlign: 'center', fontSize: 168, fontWeight: 'bold', fontFamily: 'KaiTi', color: '#6E0D08', letterSpacing: 10 }}&gt;&#10;                    AI 能力建设&#10;                &lt;/Text&gt;&#10;                &lt;Text style={{ position: 'relative', fontSize: 168, fontWeight: 'bold', fontFamily: 'KaiTi', textAlign: 'center', letterSpacing: 10, backgroundImage: 'linear-gradient(180deg, #FFF3C4 0%, #FFD700 45%, #E19825 100%)', backgroundClip: 'text', color: 'transparent' }}&gt;&#10;                    AI 能力建设&#10;                &lt;/Text&gt;&#10;            &lt;/Box&gt;&#10;            &lt;Box style={{ flexDirection: 'row', alignItems: 'center', gap: 26, marginTop: 6 }}&gt;&#10;                &lt;Box style={{ width: 90, height: 2, background: 'linear-gradient(90deg, rgba(255,215,0,0), #FFD700)' }} /&gt;&#10;                &lt;Text style={{ fontSize: 66, fontWeight: 'bold', fontFamily: 'KaiTi', color: '#FFFFFF', letterSpacing: 26 }}&gt;&#10;                    方案汇报&#10;                &lt;/Text&gt;&#10;                &lt;Box style={{ width: 90, height: 2, background: 'linear-gradient(90deg, #FFD700, rgba(255,215,0,0))' }} /&gt;&#10;            &lt;/Box&gt;&#10;            {/* 副标金飘带 */}&#10;            &lt;Box style={{ marginTop: 40, flexDirection: 'row', alignItems: 'center', justifyContent: 'center' }}&gt;&#10;                &lt;Box style={{ background: 'rgba(255,215,0,0.92)', height: 2, width: 30 }} /&gt;&#10;                &lt;Text style={{ fontSize: 24, color: '#FFE79B', letterSpacing: 5, padding: '0 20px' }}&gt;&#10;                    产品智能升级 · 研发办公提效 · 双网安全可控&#10;                &lt;/Text&gt;&#10;                &lt;Box style={{ background: 'rgba(255,215,0,0.92)', height: 2, width: 30 }} /&gt;&#10;            &lt;/Box&gt;&#10;        &lt;/Box&gt;&#10;&#10;        {/* 底部汇报人/日期 */}&#10;        &lt;Box style={{ flexDirection: 'row', alignItems: 'center', justifyContent: 'center', gap: 20 }}&gt;&#10;            &lt;Box style={{ padding: '9px 36px', borderRadius: 22, background: 'rgba(255,255,255,0.12)', border: '1px solid rgba(255,255,255,0.35)' }}&gt;&#10;                &lt;Text style={{ fontSize: 20, color: '#FFFFFF', letterSpacing: 3 }}&gt;汇报单位：××××（占位）&lt;/Text&gt;&#10;            &lt;/Box&gt;&#10;            &lt;Box style={{ padding: '9px 36px', borderRadius: 22, background: 'rgba(255,255,255,0.12)', border: '1px solid rgba(255,255,255,0.35)' }}&gt;&#10;                &lt;Text style={{ fontSize: 20, color: '#FFFFFF', letterSpacing: 3 }}&gt;2026 年 9 月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F120C"/>
              </a:gs>
              <a:gs pos="25000">
                <a:srgbClr val="A81810"/>
              </a:gs>
              <a:gs pos="55000">
                <a:srgbClr val="C42819"/>
              </a:gs>
              <a:gs pos="85000">
                <a:srgbClr val="E63F26"/>
              </a:gs>
              <a:gs pos="100000">
                <a:srgbClr val="EE5530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191500" y="-13335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20" y="140"/>
                </a:lnTo>
                <a:close/>
              </a:path>
            </a:pathLst>
          </a:custGeom>
          <a:gradFill>
            <a:gsLst>
              <a:gs pos="0">
                <a:srgbClr val="FFD700">
                  <a:alpha val="28000"/>
                </a:srgbClr>
              </a:gs>
              <a:gs pos="70000">
                <a:srgbClr val="FFD7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143000" y="40005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4" y="282"/>
                </a:lnTo>
                <a:lnTo>
                  <a:pt x="453" y="287"/>
                </a:lnTo>
                <a:lnTo>
                  <a:pt x="451" y="293"/>
                </a:lnTo>
                <a:lnTo>
                  <a:pt x="450" y="298"/>
                </a:lnTo>
                <a:lnTo>
                  <a:pt x="449" y="300"/>
                </a:lnTo>
                <a:lnTo>
                  <a:pt x="120" y="300"/>
                </a:lnTo>
                <a:lnTo>
                  <a:pt x="120" y="28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FFE79B">
                  <a:alpha val="20000"/>
                </a:srgbClr>
              </a:gs>
              <a:gs pos="70000">
                <a:srgbClr val="FFE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04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D700">
              <a:alpha val="55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2476500" y="1714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E79B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10020300" y="857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D700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10810875" y="2381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E79B">
              <a:alpha val="45000"/>
            </a:srgbClr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1714500" y="4981575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D700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9277350" y="54673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E79B">
              <a:alpha val="50000"/>
            </a:srgbClr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FE79B"/>
              </a:gs>
              <a:gs pos="30000">
                <a:srgbClr val="FFD700"/>
              </a:gs>
              <a:gs pos="60000">
                <a:srgbClr val="E19825"/>
              </a:gs>
              <a:gs pos="100000">
                <a:srgbClr val="FFE79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3905250" y="714375"/>
            <a:ext cx="438150" cy="19050"/>
          </a:xfrm>
          <a:prstGeom prst="rect">
            <a:avLst/>
          </a:prstGeom>
          <a:solidFill>
            <a:srgbClr val="FFD700">
              <a:alpha val="80000"/>
            </a:srgbClr>
          </a:soli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4514850" y="533400"/>
            <a:ext cx="3171825" cy="381000"/>
          </a:xfrm>
          <a:prstGeom prst="roundRect">
            <a:avLst>
              <a:gd name="adj" fmla="val 60000"/>
            </a:avLst>
          </a:prstGeom>
          <a:ln w="12700">
            <a:solidFill>
              <a:srgbClr val="FFD70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800600" y="6096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450">
                <a:solidFill>
                  <a:srgbClr val="FFE79B"/>
                </a:solidFill>
                <a:latin typeface="Microsoft YaHei"/>
                <a:ea typeface="Microsoft YaHei"/>
              </a:rPr>
              <a:t>党委会审议</a:t>
            </a:r>
            <a:r>
              <a:rPr lang="en-US" sz="1500" b="1" spc="450">
                <a:solidFill>
                  <a:srgbClr val="FFE79B"/>
                </a:solidFill>
                <a:latin typeface="Microsoft YaHei"/>
                <a:ea typeface="Microsoft YaHei"/>
              </a:rPr>
              <a:t> · </a:t>
            </a:r>
            <a:r>
              <a:rPr lang="zh-CN" sz="1500" b="1" spc="450">
                <a:solidFill>
                  <a:srgbClr val="FFE79B"/>
                </a:solidFill>
                <a:latin typeface="Microsoft YaHei"/>
                <a:ea typeface="Microsoft YaHei"/>
              </a:rPr>
              <a:t>专题汇报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858125" y="714375"/>
            <a:ext cx="438150" cy="19050"/>
          </a:xfrm>
          <a:prstGeom prst="rect">
            <a:avLst/>
          </a:prstGeom>
          <a:solidFill>
            <a:srgbClr val="FFD700">
              <a:alpha val="80000"/>
            </a:srgbClr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3238500" y="4114800"/>
            <a:ext cx="857250" cy="19050"/>
          </a:xfrm>
          <a:prstGeom prst="rect">
            <a:avLst/>
          </a:prstGeom>
          <a:gradFill>
            <a:gsLst>
              <a:gs pos="0">
                <a:srgbClr val="FFD700">
                  <a:alpha val="0"/>
                </a:srgbClr>
              </a:gs>
              <a:gs pos="100000">
                <a:srgbClr val="FFD700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343400" y="3743325"/>
            <a:ext cx="35052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 spc="1950">
                <a:solidFill>
                  <a:srgbClr val="FFFFFF"/>
                </a:solidFill>
                <a:latin typeface="KaiTi"/>
                <a:ea typeface="KaiTi"/>
              </a:rPr>
              <a:t>方案汇报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96250" y="4114800"/>
            <a:ext cx="857250" cy="19050"/>
          </a:xfrm>
          <a:prstGeom prst="rect">
            <a:avLst/>
          </a:prstGeom>
          <a:gradFill>
            <a:gsLst>
              <a:gs pos="0">
                <a:srgbClr val="FFD700"/>
              </a:gs>
              <a:gs pos="100000">
                <a:srgbClr val="FFD7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2800350" y="5019675"/>
            <a:ext cx="285750" cy="19050"/>
          </a:xfrm>
          <a:prstGeom prst="rect">
            <a:avLst/>
          </a:prstGeom>
          <a:solidFill>
            <a:srgbClr val="FFD700">
              <a:alpha val="92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086100" y="4886325"/>
            <a:ext cx="6019800" cy="276225"/>
          </a:xfrm>
          <a:prstGeom prst="rect"/>
        </p:spPr>
        <p:txBody>
          <a:bodyPr wrap="none" lIns="142875" tIns="0" rIns="142875" bIns="0"/>
          <a:p>
            <a:pPr>
              <a:lnSpc>
                <a:spcPct val="100000"/>
              </a:lnSpc>
            </a:pPr>
            <a:r>
              <a:rPr lang="zh-CN" sz="1800" spc="375">
                <a:solidFill>
                  <a:srgbClr val="FFE79B"/>
                </a:solidFill>
                <a:latin typeface="Microsoft YaHei"/>
                <a:ea typeface="Microsoft YaHei"/>
              </a:rPr>
              <a:t>产品智能升级</a:t>
            </a:r>
            <a:r>
              <a:rPr lang="en-US" sz="1800" spc="375">
                <a:solidFill>
                  <a:srgbClr val="FFE79B"/>
                </a:solidFill>
                <a:latin typeface="Microsoft YaHei"/>
                <a:ea typeface="Microsoft YaHei"/>
              </a:rPr>
              <a:t> · </a:t>
            </a:r>
            <a:r>
              <a:rPr lang="zh-CN" sz="1800" spc="375">
                <a:solidFill>
                  <a:srgbClr val="FFE79B"/>
                </a:solidFill>
                <a:latin typeface="Microsoft YaHei"/>
                <a:ea typeface="Microsoft YaHei"/>
              </a:rPr>
              <a:t>研发办公提效</a:t>
            </a:r>
            <a:r>
              <a:rPr lang="en-US" sz="1800" spc="375">
                <a:solidFill>
                  <a:srgbClr val="FFE79B"/>
                </a:solidFill>
                <a:latin typeface="Microsoft YaHei"/>
                <a:ea typeface="Microsoft YaHei"/>
              </a:rPr>
              <a:t> · </a:t>
            </a:r>
            <a:r>
              <a:rPr lang="zh-CN" sz="1800" spc="375">
                <a:solidFill>
                  <a:srgbClr val="FFE79B"/>
                </a:solidFill>
                <a:latin typeface="Microsoft YaHei"/>
                <a:ea typeface="Microsoft YaHei"/>
              </a:rPr>
              <a:t>双网安全可控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105900" y="5019675"/>
            <a:ext cx="285750" cy="19050"/>
          </a:xfrm>
          <a:prstGeom prst="rect">
            <a:avLst/>
          </a:prstGeom>
          <a:solidFill>
            <a:srgbClr val="FFD700">
              <a:alpha val="92000"/>
            </a:srgbClr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3286125" y="5924550"/>
            <a:ext cx="3343275" cy="400050"/>
          </a:xfrm>
          <a:prstGeom prst="roundRect">
            <a:avLst>
              <a:gd name="adj" fmla="val 523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629025" y="6010275"/>
            <a:ext cx="2657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225">
                <a:solidFill>
                  <a:srgbClr val="FFFFFF"/>
                </a:solidFill>
                <a:latin typeface="Microsoft YaHei"/>
                <a:ea typeface="Microsoft YaHei"/>
              </a:rPr>
              <a:t>汇报单位：××××（占位）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819900" y="5924550"/>
            <a:ext cx="2085975" cy="400050"/>
          </a:xfrm>
          <a:prstGeom prst="roundRect">
            <a:avLst>
              <a:gd name="adj" fmla="val 523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162800" y="6010275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500" spc="225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500" spc="225">
                <a:solidFill>
                  <a:srgbClr val="FFFFFF"/>
                </a:solidFill>
                <a:latin typeface="Microsoft YaHei"/>
                <a:ea typeface="Microsoft YaHei"/>
              </a:rPr>
              <a:t> 9 </a:t>
            </a:r>
            <a:r>
              <a:rPr lang="zh-CN" sz="1500" spc="225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362075" y="1781175"/>
            <a:ext cx="9467850" cy="19240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600" b="1" spc="750">
                <a:solidFill>
                  <a:srgbClr val="6E0D08"/>
                </a:solidFill>
                <a:latin typeface="KaiTi"/>
                <a:ea typeface="KaiTi"/>
              </a:rPr>
              <a:t>AI </a:t>
            </a:r>
            <a:r>
              <a:rPr lang="zh-CN" sz="12600" b="1" spc="750">
                <a:solidFill>
                  <a:srgbClr val="6E0D08"/>
                </a:solidFill>
                <a:latin typeface="KaiTi"/>
                <a:ea typeface="KaiTi"/>
              </a:rPr>
              <a:t>能力建设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362075" y="1724025"/>
            <a:ext cx="9467850" cy="19240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600" b="1" spc="750">
                <a:gradFill>
                  <a:gsLst>
                    <a:gs pos="0">
                      <a:srgbClr val="FFF3C4"/>
                    </a:gs>
                    <a:gs pos="45000">
                      <a:srgbClr val="FFD700"/>
                    </a:gs>
                    <a:gs pos="100000">
                      <a:srgbClr val="E19825"/>
                    </a:gs>
                  </a:gsLst>
                  <a:lin ang="5400000" scaled="1"/>
                </a:gradFill>
                <a:latin typeface="KaiTi"/>
                <a:ea typeface="KaiTi"/>
              </a:rPr>
              <a:t>AI </a:t>
            </a:r>
            <a:r>
              <a:rPr lang="zh-CN" sz="12600" b="1" spc="750">
                <a:gradFill>
                  <a:gsLst>
                    <a:gs pos="0">
                      <a:srgbClr val="FFF3C4"/>
                    </a:gs>
                    <a:gs pos="45000">
                      <a:srgbClr val="FFD700"/>
                    </a:gs>
                    <a:gs pos="100000">
                      <a:srgbClr val="E19825"/>
                    </a:gs>
                  </a:gsLst>
                  <a:lin ang="5400000" scaled="1"/>
                </a:gradFill>
                <a:latin typeface="KaiTi"/>
                <a:ea typeface="KaiTi"/>
              </a:rPr>
              <a:t>能力建设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40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Box style={{ flexDirection: 'column', marginLeft: 18 }}&gt;&#10;                &lt;Text style={{ fontSize: 36, fontWeight: 'bold', fontFamily: 'SimSun', color: '#171616' }}&gt;我们面对的：三个绕不开的现实问题&lt;/Text&gt;&#10;            &lt;/Box&gt;&#10;            &lt;Box style={{ flex: 1 }} /&gt;&#10;            &lt;Text style={{ fontSize: 20, color: '#C42819', fontWeight: 'bold' }}&gt;问题导向&lt;/Text&gt;&#10;        &lt;/Box&gt;&#10;&#10;        {/* 三问 + 三答 */}&#10;        &lt;Box style={{ position: 'absolute', top: 135, left: 0, right: 0, flexDirection: 'row', gap: 28 }}&gt;&#10;            {/* 左 大问 */}&#10;            &lt;Box style={{ width: '37%', flexDirection: 'column', justifyContent: 'center', gap: 26 }}&gt;&#10;                {[&#10;                    { q: '产品要增值，AI 能力从哪来？', tag: '产品之问', c: '#C42819' },&#10;                    { q: '研发办公大量重复劳动，如何提效？', tag: '组织之问', c: '#E63F26' },&#10;                    { q: '知识、制度、数据资产，怎么用起来？', tag: '资产之问', c: '#A81810' },&#10;                ].map((item, idx) =&gt; (&#10;                    &lt;Box key={idx} style={{ flexDirection: 'row', alignItems: 'center', gap: 16 }}&gt;&#10;                        &lt;Box style={{ width: 72, height: 72, borderRadius: 36, background: item.c, alignItems: 'center', justifyContent: 'center' }}&gt;&#10;                            &lt;Text style={{ fontSize: 32, fontWeight: 'bold', color: '#FFFFFF' }}&gt;{idx + 1}&lt;/Text&gt;&#10;                        &lt;/Box&gt;&#10;                        &lt;Box style={{ flexDirection: 'column' }}&gt;&#10;                            &lt;Text style={{ fontSize: 24, fontWeight: 'bold', color: '#171616', lineHeight: 1.4 }}&gt;{item.q}&lt;/Text&gt;&#10;                            &lt;Text style={{ fontSize: 17, color: item.c, marginTop: 4, fontWeight: 'bold' }}&gt;{item.tag}&lt;/Text&gt;&#10;                        &lt;/Box&gt;&#10;                    &lt;/Box&gt;&#10;                ))}&#10;            &lt;/Box&gt;&#10;&#10;            {/* 竖分隔线 */}&#10;            &lt;Box style={{ width: 2, background: '#E5E7EB', margin: '0 4px' }} /&gt;&#10;&#10;            {/* 右 三答 */}&#10;            &lt;Box style={{ flex: 1, flexDirection: 'column', gap: 18, justifyContent: 'center' }}&gt;&#10;                &lt;Box style={{ flexDirection: 'row', gap: 20, padding: 20, borderRadius: 14, border: '1px solid #E5E7EB', background: '#FFFFFF' }}&gt;&#10;                    &lt;FAIcon name='cube' style={{ fill: '#C42819', width: 36, height: 36 }} /&gt;&#10;                    &lt;Box style={{ flex: 1 }}&gt;&#10;                        &lt;Text style={{ fontSize: 20, fontWeight: 'bold', color: '#171616', lineHeight: 1.5 }}&gt;产品 AI 化的空间已经显现，但底座缺失&lt;/Text&gt;&#10;                        &lt;Text style={{ fontSize: 16, color: '#4B5563', lineHeight: 1.6, marginTop: 6 }}&gt;现有产品线功能稳定、数据积累深厚，具备叠加 AI 能力提升附加值的条件——但缺少算力环境与模型调优能力，AI 增值只能停留在设想。&lt;/Text&gt;&#10;                    &lt;/Box&gt;&#10;                &lt;/Box&gt;&#10;                &lt;Box style={{ flexDirection: 'row', gap: 20, padding: 20, borderRadius: 14, border: '1px solid #E5E7EB', background: '#FFFFFF' }}&gt;&#10;                    &lt;FAIcon name='pen-ruler' style={{ fill: '#E63F26', width: 36, height: 36 }} /&gt;&#10;                    &lt;Box style={{ flex: 1 }}&gt;&#10;                        &lt;Text style={{ fontSize: 20, fontWeight: 'bold', color: '#171616', lineHeight: 1.5 }}&gt;研发办公的重复劳动，靠人海战术难以为继&lt;/Text&gt;&#10;                        &lt;Text style={{ fontSize: 16, color: '#4B5563', lineHeight: 1.6, marginTop: 6 }}&gt;产品研制全生命周期的文档、代码、测试与数据分析工作量大，研发办公人员规模可观——但缺少统一的全流程 AI 辅助平台，提效没有抓手。&lt;/Text&gt;&#10;                    &lt;/Box&gt;&#10;                &lt;/Box&gt;&#10;                &lt;Box style={{ flexDirection: 'row', gap: 20, padding: 20, borderRadius: 14, border: '1px solid #E5E7EB', background: '#FFFFFF' }}&gt;&#10;                    &lt;FAIcon name='book-open' style={{ fill: '#A81810', width: 36, height: 36 }} /&gt;&#10;                    &lt;Box style={{ flex: 1 }}&gt;&#10;                        &lt;Text style={{ fontSize: 20, fontWeight: 'bold', color: '#171616', lineHeight: 1.5 }}&gt;知识、制度与数据资产，散落各处用不起来&lt;/Text&gt;&#10;                        &lt;Text style={{ fontSize: 16, color: '#4B5563', lineHeight: 1.6, marginTop: 6 }}&gt;制度、经验与产品数据分散在文档与人脑中，查找成本高、口径不一致——缺少内部可信的知识入口与数据资产管理应用，资产难以转化为生产力。&lt;/Text&gt;&#10;                    &lt;/Box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2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666750" y="4572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5486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我们面对的：三个绕不开的现实问题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0763250" y="5524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问题导向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66750" y="20955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914400" y="225742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504950" y="2124075"/>
            <a:ext cx="30670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产品要增值，</a:t>
            </a:r>
            <a:r>
              <a:rPr lang="en-US" sz="1800" b="1">
                <a:solidFill>
                  <a:srgbClr val="171616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能力从哪来？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504950" y="255270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2819"/>
                </a:solidFill>
                <a:latin typeface="Microsoft YaHei"/>
                <a:ea typeface="Microsoft YaHei"/>
              </a:rPr>
              <a:t>产品之问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66750" y="30289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914400" y="319087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428750" y="3057525"/>
            <a:ext cx="32575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研发办公大量重复劳动，如何提效？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428750" y="3867150"/>
            <a:ext cx="3257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63F26"/>
                </a:solidFill>
                <a:latin typeface="Microsoft YaHei"/>
                <a:ea typeface="Microsoft YaHei"/>
              </a:rPr>
              <a:t>组织之问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66750" y="39624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14400" y="4124325"/>
            <a:ext cx="190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1400175" y="3990975"/>
            <a:ext cx="32861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知识、制度、数据资产，怎么用起来？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400175" y="4800600"/>
            <a:ext cx="3286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A81810"/>
                </a:solidFill>
                <a:latin typeface="Microsoft YaHei"/>
                <a:ea typeface="Microsoft YaHei"/>
              </a:rPr>
              <a:t>资产之问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991100" y="1285875"/>
            <a:ext cx="19050" cy="41624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5314950" y="1143000"/>
            <a:ext cx="62103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05450" y="1333500"/>
            <a:ext cx="342900" cy="342900"/>
          </a:xfrm>
          <a:prstGeom prst="rect">
            <a:avLst/>
          </a:prstGeom>
          <a:ln/>
        </p:spPr>
      </p:pic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38850" y="1333500"/>
            <a:ext cx="52959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产品</a:t>
            </a:r>
            <a:r>
              <a:rPr lang="en-US" sz="1500" b="1">
                <a:solidFill>
                  <a:srgbClr val="171616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化的空间已经显现，但底座缺失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38850" y="1733550"/>
            <a:ext cx="5295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现有产品线功能稳定、数据积累深厚，具备叠加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能力提升附加值的条件——但缺少算力环境与模型调优能力，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增值只能停留在设想。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5314950" y="2686050"/>
            <a:ext cx="62103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05450" y="2876550"/>
            <a:ext cx="342900" cy="34290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52959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研发办公的重复劳动，靠人海战术难以为继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038850" y="3276600"/>
            <a:ext cx="5295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产品研制全生命周期的文档、代码、测试与数据分析工作量大，研发办公人员规模可观——但缺少统一的全流程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辅助平台，提效没有抓手。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5314950" y="4229100"/>
            <a:ext cx="62103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pic>
        <p:nvPicPr>
          <p:cNvPr id="4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05450" y="4419600"/>
            <a:ext cx="342900" cy="342900"/>
          </a:xfrm>
          <a:prstGeom prst="rect">
            <a:avLst/>
          </a:prstGeom>
          <a:ln/>
        </p:spPr>
      </p:pic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38850" y="4419600"/>
            <a:ext cx="52959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知识、制度与数据资产，散落各处用不起来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38850" y="4819650"/>
            <a:ext cx="5295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制度、经验与产品数据分散在文档与人脑中，查找成本高、口径不一致——缺少内部可信的知识入口与数据资产管理应用，资产难以转化为生产力。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4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4, left: 0, right: 0, flexDirection: 'row', alignItems: 'center' }}&gt;&#10;            &lt;Box style={{ width: 10, height: 44, background: '#C42819', borderRadius: 3 }} /&gt;&#10;            &lt;Box style={{ flexDirection: 'column', marginLeft: 18 }}&gt;&#10;                &lt;Text style={{ fontSize: 34, fontWeight: 'bold', fontFamily: 'SimSun', color: '#171616' }}&gt;先看清约束：我们的工作环境分两张物理隔离的网&lt;/Text&gt;&#10;            &lt;/Box&gt;&#10;            &lt;Box style={{ flex: 1 }} /&gt;&#10;            &lt;Text style={{ fontSize: 20, color: '#C42819', fontWeight: 'bold' }}&gt;硬约束&lt;/Text&gt;&#10;        &lt;/Box&gt;&#10;&#10;        {/* 引导语 */}&#10;        &lt;Box style={{ position: 'absolute', top: 112, left: 0, right: 0 }}&gt;&#10;            &lt;Text style={{ fontSize: 18, color: '#4B5563', lineHeight: 1.6 }}&gt;一张网满足不了全部需求——研发与办公分属两张物理隔离、互不连通的网络，AI 能力必须顺应这个现实来设计。&lt;/Text&gt;&#10;        &lt;/Box&gt;&#10;&#10;        {/* 上下双网对比 */}&#10;        &lt;Box style={{ position: 'absolute', top: 176, left: 0, right: 0, flexDirection: 'row', gap: 18, height: 368 }}&gt;&#10;            {/* 左：研发网 */}&#10;            &lt;Box style={{ flex: 1, borderRadius: 16, border: '2px solid #C42819', background: '#FFFFFF', flexDirection: 'column', overflow: 'hidden' }}&gt;&#10;                &lt;Box style={{ background: '#C42819', padding: '16px 24px', flexDirection: 'row', alignItems: 'center', gap: 14 }}&gt;&#10;                    &lt;FAIcon name='flask' style={{ fill: '#FFE79B', width: 30, height: 30 }} /&gt;&#10;                    &lt;Box style={{ flex: 1 }}&gt;&#10;                        &lt;Text style={{ fontSize: 25, fontWeight: 'bold', color: '#FFFFFF' }}&gt;研发网 · 实验室&lt;/Text&gt;&#10;                        &lt;Text style={{ fontSize: 15, color: '#FFE79B', marginTop: 2 }}&gt;专用科研环境，物理隔离&lt;/Text&gt;&#10;                    &lt;/Box&gt;&#10;                    &lt;Box style={{ padding: '4px 14px', borderRadius: 14, background: 'rgba(255,255,255,0.2)' }}&gt;&#10;                        &lt;Text style={{ fontSize: 15, fontWeight: 'bold', color: '#FFFFFF' }}&gt;承载专用模型训练调优&lt;/Text&gt;&#10;                    &lt;/Box&gt;&#10;                &lt;/Box&gt;&#10;                &lt;Box style={{ flex: 1, padding: '20px 26px', flexDirection: 'column', justifyContent: 'center', gap: 12 }}&gt;&#10;                    {[&#10;                        { icon: 'microchip', t: '专用模型训练与调优', d: '面向产品 AI 化的模型微调、评测在此完成' },&#10;                        { icon: 'code', t: '代码调试与研发验证', d: '算法与产品智能能力的开发调试' },&#10;                    ].map((item, idx) =&gt; (&#10;                        &lt;Box key={idx} style={{ flexDirection: 'row', gap: 14, alignItems: 'center', padding: '12px 16px', borderRadius: 10, background: '#FDF6F2' }}&gt;&#10;                            &lt;Box style={{ width: 42, height: 42, borderRadius: 10, background: '#C42819', alignItems: 'center', justifyContent: 'center' }}&gt;&#10;                                &lt;FAIcon name={item.icon} style={{ fill: '#FFFFFF', width: 22, height: 22 }} /&gt;&#10;                            &lt;/Box&gt;&#10;                            &lt;Box style={{ flex: 1 }}&gt;&#10;                                &lt;Text style={{ fontSize: 19, fontWeight: 'bold', color: '#171616' }}&gt;{item.t}&lt;/Text&gt;&#10;                                &lt;Text style={{ fontSize: 15, color: '#6B7280', marginTop: 2 }}&gt;{item.d}&lt;/Text&gt;&#10;                            &lt;/Box&gt;&#10;                        &lt;/Box&gt;&#10;                    ))}&#10;                &lt;/Box&gt;&#10;            &lt;/Box&gt;&#10;&#10;            {/* 中：隔离隔断 */}&#10;            &lt;Box style={{ width: 96, alignItems: 'center', justifyContent: 'center', flexDirection: 'column', gap: 8 }}&gt;&#10;                &lt;Box style={{ width: 64, height: 64, borderRadius: 32, background: '#A81810', alignItems: 'center', justifyContent: 'center' }}&gt;&#10;                    &lt;FAIcon name='lock' style={{ fill: '#FFE79B', width: 30, height: 30 }} /&gt;&#10;                &lt;/Box&gt;&#10;                &lt;Text style={{ fontSize: 18, fontWeight: 'bold', color: '#A81810', textAlign: 'center', lineHeight: 1.4 }}&gt;物理隔离&lt;/Text&gt;&#10;                &lt;Text style={{ fontSize: 13, color: '#9CA3AF', textAlign: 'center' }}&gt;两网不通&lt;/Text&gt;&#10;            &lt;/Box&gt;&#10;&#10;            {/* 右：办公网 */}&#10;            &lt;Box style={{ flex: 1, borderRadius: 16, border: '2px solid #E63F26', background: '#FFFFFF', flexDirection: 'column', overflow: 'hidden' }}&gt;&#10;                &lt;Box style={{ background: '#E63F26', padding: '16px 24px', flexDirection: 'row', alignItems: 'center', gap: 14 }}&gt;&#10;                    &lt;FAIcon name='building' style={{ fill: '#FFE79B', width: 30, height: 30 }} /&gt;&#10;                    &lt;Box style={{ flex: 1 }}&gt;&#10;                        &lt;Text style={{ fontSize: 25, fontWeight: 'bold', color: '#FFFFFF' }}&gt;办公网 · 员工办公&lt;/Text&gt;&#10;                        &lt;Text style={{ fontSize: 15, color: '#FFE79B', marginTop: 2 }}&gt;日常开发办公环境，物理隔离&lt;/Text&gt;&#10;                    &lt;/Box&gt;&#10;                    &lt;Box style={{ padding: '4px 14px', borderRadius: 14, background: 'rgba(255,255,255,0.2)' }}&gt;&#10;                        &lt;Text style={{ fontSize: 15, fontWeight: 'bold', color: '#FFFFFF' }}&gt;承载全生命周期办公&lt;/Text&gt;&#10;                    &lt;/Box&gt;&#10;                &lt;/Box&gt;&#10;                &lt;Box style={{ flex: 1, padding: '14px 20px', flexDirection: 'column', justifyContent: 'center', gap: 7 }}&gt;&#10;                    {[&#10;                        { icon: 'file-lines', t: '产品及各构件研制全生命周期文档开发', d: '方案·设计·评审·纪要' },&#10;                        { icon: 'database', t: '产品数据资产管理应用', d: '受控使用' },&#10;                        { icon: 'code', t: '代码开发', d: '日常研发编码' },&#10;                        { icon: 'comments', t: '智能问答', d: '知识制度入口' },&#10;                        { icon: 'file-check', t: '编制管理类报告', d: '汇报与决策材料' },&#10;                        { icon: 'chart-line', t: '业务数据和分析整理', d: '运营数据分析' },&#10;                    ].map((item, idx) =&gt; (&#10;                        &lt;Box key={idx} style={{ flexDirection: 'row', gap: 10, alignItems: 'center', padding: '5px 12px', borderRadius: 9, background: '#FFF7F4' }}&gt;&#10;                            &lt;FAIcon name={item.icon} style={{ fill: '#E63F26', width: 17, height: 17 }} /&gt;&#10;                            &lt;Text style={{ fontSize: 15.5, fontWeight: 'bold', color: '#171616' }}&gt;{item.t}&lt;/Text&gt;&#10;                            &lt;Text style={{ fontSize: 13, color: '#9CA3AF', marginLeft: 'auto' }}&gt;{item.d}&lt;/Text&gt;&#10;                        &lt;/Box&gt;&#10;                    ))}&#10;                &lt;/Box&gt;&#10;            &lt;/Box&gt;&#10;        &lt;/Box&gt;&#10;&#10;        {/* 判断条 */}&#10;        &lt;Box style={{ position: 'absolute', bottom: 72, left: 0, right: 0, flexDirection: 'row', gap: 16, alignItems: 'center', background: '#C42819', borderRadius: 14, padding: '18px 28px' }}&gt;&#10;            &lt;FAIcon name='lightbulb' style={{ fill: '#FFE79B', width: 30, height: 30 }} /&gt;&#10;            &lt;Box style={{ flex: 1 }}&gt;&#10;                &lt;Text style={{ fontSize: 20, fontWeight: 'bold', color: '#FFFFFF', lineHeight: 1.5 }}&gt;两网不通 → AI 能力必须各自成一套、完全隔离，成果不跨网&lt;/Text&gt;&#10;                &lt;Text style={{ fontSize: 16, color: '#FFE79B', lineHeight: 1.5, marginTop: 3 }}&gt;不存在&quot;一套平台两网共用&quot;的选项——这是后续一切设计与投资判断的出发点。&lt;/Text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3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666750" y="4191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33450" y="438150"/>
            <a:ext cx="7124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71616"/>
                </a:solidFill>
                <a:latin typeface="SimSun"/>
                <a:ea typeface="SimSun"/>
              </a:rPr>
              <a:t>先看清约束：我们的工作环境分两张物理隔离的网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0953750" y="5143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硬约束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66750" y="1066800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一张网满足不了全部需求——研发与办公分属两张物理隔离、互不连通的网络，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AI 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能力必须顺应这个现实来设计。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66750" y="1676400"/>
            <a:ext cx="4800600" cy="3505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C42819"/>
            </a:solidFill>
            <a:prstDash val="solid"/>
          </a:ln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666750" y="1676400"/>
            <a:ext cx="4800600" cy="781050"/>
          </a:xfrm>
          <a:custGeom>
            <a:pathLst>
              <a:path w="504" h="82">
                <a:moveTo>
                  <a:pt x="488" y="0"/>
                </a:moveTo>
                <a:cubicBezTo>
                  <a:pt x="497" y="0"/>
                  <a:pt x="504" y="7"/>
                  <a:pt x="504" y="16"/>
                </a:cubicBezTo>
                <a:lnTo>
                  <a:pt x="504" y="82"/>
                </a:lnTo>
                <a:lnTo>
                  <a:pt x="0" y="82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488" y="0"/>
                </a:lnTo>
                <a:close/>
              </a:path>
            </a:pathLst>
          </a:cu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924050"/>
            <a:ext cx="285750" cy="285750"/>
          </a:xfrm>
          <a:prstGeom prst="rect">
            <a:avLst/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314450" y="1828800"/>
            <a:ext cx="2095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研发网</a:t>
            </a: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实验室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314450" y="21336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E79B"/>
                </a:solidFill>
                <a:latin typeface="Microsoft YaHei"/>
                <a:ea typeface="Microsoft YaHei"/>
              </a:rPr>
              <a:t>专用科研环境，物理隔离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3543300" y="1943100"/>
            <a:ext cx="1695450" cy="247650"/>
          </a:xfrm>
          <a:prstGeom prst="roundRect">
            <a:avLst>
              <a:gd name="adj" fmla="val 5384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676650" y="19812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承载专用模型训练调优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914400" y="3124200"/>
            <a:ext cx="4305300" cy="638175"/>
          </a:xfrm>
          <a:prstGeom prst="roundRect">
            <a:avLst>
              <a:gd name="adj" fmla="val 14925"/>
            </a:avLst>
          </a:prstGeom>
          <a:solidFill>
            <a:srgbClr val="FDF6F2"/>
          </a:solidFill>
          <a:ln/>
        </p:spPr>
        <p:txBody>
          <a:bodyPr/>
          <a:p/>
        </p:txBody>
      </p:sp>
      <p:sp>
        <p:nvSpPr>
          <p:cNvPr id="488" name=""/>
          <p:cNvSpPr/>
          <p:nvPr/>
        </p:nvSpPr>
        <p:spPr>
          <a:xfrm rot="0" flipH="0" flipV="0">
            <a:off x="1066800" y="32480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4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62050" y="3343275"/>
            <a:ext cx="209550" cy="209550"/>
          </a:xfrm>
          <a:prstGeom prst="rect">
            <a:avLst/>
          </a:prstGeom>
          <a:ln/>
        </p:spPr>
      </p:pic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1600200" y="3238500"/>
            <a:ext cx="3467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71616"/>
                </a:solidFill>
                <a:latin typeface="Microsoft YaHei"/>
                <a:ea typeface="Microsoft YaHei"/>
              </a:rPr>
              <a:t>专用模型训练与调优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600200" y="3476625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面向产品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化的模型微调、评测在此完成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914400" y="3876675"/>
            <a:ext cx="4305300" cy="638175"/>
          </a:xfrm>
          <a:prstGeom prst="roundRect">
            <a:avLst>
              <a:gd name="adj" fmla="val 14925"/>
            </a:avLst>
          </a:prstGeom>
          <a:solidFill>
            <a:srgbClr val="FDF6F2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1066800" y="40005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4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62050" y="4095750"/>
            <a:ext cx="209550" cy="209550"/>
          </a:xfrm>
          <a:prstGeom prst="rect">
            <a:avLst/>
          </a:prstGeom>
          <a:ln/>
        </p:spPr>
      </p:pic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600200" y="3990975"/>
            <a:ext cx="3467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71616"/>
                </a:solidFill>
                <a:latin typeface="Microsoft YaHei"/>
                <a:ea typeface="Microsoft YaHei"/>
              </a:rPr>
              <a:t>代码调试与研发验证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600200" y="42291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算法与产品智能能力的开发调试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5791200" y="282892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4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2990850"/>
            <a:ext cx="285750" cy="285750"/>
          </a:xfrm>
          <a:prstGeom prst="rect">
            <a:avLst/>
          </a:prstGeom>
          <a:ln/>
        </p:spPr>
      </p:pic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753100" y="3514725"/>
            <a:ext cx="685800" cy="2952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350" b="1">
                <a:solidFill>
                  <a:srgbClr val="A81810"/>
                </a:solidFill>
                <a:latin typeface="Microsoft YaHei"/>
                <a:ea typeface="Microsoft YaHei"/>
              </a:rPr>
              <a:t>物理隔离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848350" y="388620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两网不通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724650" y="1676400"/>
            <a:ext cx="4800600" cy="3505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63F26"/>
            </a:solidFill>
            <a:prstDash val="solid"/>
          </a:ln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6724650" y="1676400"/>
            <a:ext cx="4800600" cy="781050"/>
          </a:xfrm>
          <a:custGeom>
            <a:pathLst>
              <a:path w="504" h="82">
                <a:moveTo>
                  <a:pt x="488" y="0"/>
                </a:moveTo>
                <a:cubicBezTo>
                  <a:pt x="497" y="0"/>
                  <a:pt x="504" y="7"/>
                  <a:pt x="504" y="16"/>
                </a:cubicBezTo>
                <a:lnTo>
                  <a:pt x="504" y="82"/>
                </a:lnTo>
                <a:lnTo>
                  <a:pt x="0" y="82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488" y="0"/>
                </a:lnTo>
                <a:close/>
              </a:path>
            </a:pathLst>
          </a:cu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5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0" y="1924050"/>
            <a:ext cx="285750" cy="285750"/>
          </a:xfrm>
          <a:prstGeom prst="rect">
            <a:avLst/>
          </a:prstGeom>
          <a:ln/>
        </p:spPr>
      </p:pic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372350" y="1828800"/>
            <a:ext cx="22383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办公网</a:t>
            </a:r>
            <a:r>
              <a:rPr lang="en-US" sz="18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员工办公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7372350" y="21336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E79B"/>
                </a:solidFill>
                <a:latin typeface="Microsoft YaHei"/>
                <a:ea typeface="Microsoft YaHei"/>
              </a:rPr>
              <a:t>日常开发办公环境，物理隔离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9744075" y="1943100"/>
            <a:ext cx="1552575" cy="247650"/>
          </a:xfrm>
          <a:prstGeom prst="roundRect">
            <a:avLst>
              <a:gd name="adj" fmla="val 53846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877425" y="19812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承载全生命周期办公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915150" y="28289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2886075"/>
            <a:ext cx="161925" cy="161925"/>
          </a:xfrm>
          <a:prstGeom prst="rect">
            <a:avLst/>
          </a:prstGeom>
          <a:ln/>
        </p:spPr>
      </p:pic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286625" y="2876550"/>
            <a:ext cx="25146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产品及各构件研制全生命周期文档开发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0134600" y="289560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方案·设计·评审·纪要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915150" y="31718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3228975"/>
            <a:ext cx="161925" cy="161925"/>
          </a:xfrm>
          <a:prstGeom prst="rect">
            <a:avLst/>
          </a:prstGeom>
          <a:ln/>
        </p:spPr>
      </p:pic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286625" y="3219450"/>
            <a:ext cx="14763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产品数据资产管理应用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0725150" y="32385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受控使用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915150" y="35147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3571875"/>
            <a:ext cx="161925" cy="161925"/>
          </a:xfrm>
          <a:prstGeom prst="rect">
            <a:avLst/>
          </a:prstGeom>
          <a:ln/>
        </p:spPr>
      </p:pic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286625" y="356235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代码开发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477500" y="35814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日常研发编码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915150" y="38576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3914775"/>
            <a:ext cx="161925" cy="161925"/>
          </a:xfrm>
          <a:prstGeom prst="rect">
            <a:avLst/>
          </a:prstGeom>
          <a:ln/>
        </p:spPr>
      </p:pic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286625" y="390525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智能问答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0477500" y="39243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知识制度入口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915150" y="42005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4257675"/>
            <a:ext cx="161925" cy="161925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286625" y="4248150"/>
            <a:ext cx="10382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编制管理类报告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0353675" y="42672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汇报与决策材料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915150" y="4543425"/>
            <a:ext cx="4419600" cy="276225"/>
          </a:xfrm>
          <a:prstGeom prst="roundRect">
            <a:avLst>
              <a:gd name="adj" fmla="val 31034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5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29450" y="4600575"/>
            <a:ext cx="161925" cy="161925"/>
          </a:xfrm>
          <a:prstGeom prst="rect">
            <a:avLst/>
          </a:prstGeom>
          <a:ln/>
        </p:spPr>
      </p:pic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286625" y="4591050"/>
            <a:ext cx="13335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业务数据和分析整理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477500" y="46101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运营数据分析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66750" y="5181600"/>
            <a:ext cx="10858500" cy="990600"/>
          </a:xfrm>
          <a:prstGeom prst="roundRect">
            <a:avLst>
              <a:gd name="adj" fmla="val 13462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5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" y="5534025"/>
            <a:ext cx="285750" cy="285750"/>
          </a:xfrm>
          <a:prstGeom prst="rect">
            <a:avLst/>
          </a:prstGeom>
          <a:ln/>
        </p:spPr>
      </p:pic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371600" y="5353050"/>
            <a:ext cx="98869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两网不通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→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能力必须各自成一套、完全隔离，成果不跨网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371600" y="5724525"/>
            <a:ext cx="9886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E79B"/>
                </a:solidFill>
                <a:latin typeface="Microsoft YaHei"/>
                <a:ea typeface="Microsoft YaHei"/>
              </a:rPr>
              <a:t>不存在</a:t>
            </a:r>
            <a:r>
              <a:rPr lang="en-US" sz="1200">
                <a:solidFill>
                  <a:srgbClr val="FFE79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FFE79B"/>
                </a:solidFill>
                <a:latin typeface="Microsoft YaHei"/>
                <a:ea typeface="Microsoft YaHei"/>
              </a:rPr>
              <a:t>一套平台两网共用</a:t>
            </a:r>
            <a:r>
              <a:rPr lang="en-US" sz="1200">
                <a:solidFill>
                  <a:srgbClr val="FFE79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FFE79B"/>
                </a:solidFill>
                <a:latin typeface="Microsoft YaHei"/>
                <a:ea typeface="Microsoft YaHei"/>
              </a:rPr>
              <a:t>的选项——这是后续一切设计与投资判断的出发点。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40" name="" descr="&lt;Slide style={{ width: '1280px', height: '720px', background: 'linear-gradient(150deg, #7A0E08 0%, #A81810 32%, #D02A1B 68%, #E8482C 100%)', position: 'relative', overflow: 'hidden' }}&gt;&#10;    {/* 金色光晕 */}&#10;    &lt;Box style={{ position: 'absolute', top: -150, right: -90, width: 520, height: 520, borderRadius: 260, background: 'radial-gradient(circle, rgba(255,215,0,0.25) 0%, rgba(255,215,0,0) 70%)' }} /&gt;&#10;    &lt;Box style={{ position: 'absolute', bottom: -160, left: -120, width: 460, height: 460, borderRadius: 230, background: 'radial-gradient(circle, rgba(255,231,155,0.16) 0%, rgba(255,231,155,0) 70%)' }} /&gt;&#10;    {/* 顶部细金线 */}&#10;    &lt;Box style={{ position: 'absolute', top: 0, left: 0, width: '100%', height: 6, background: 'linear-gradient(90deg, #FFE79B 0%, #FFD700 30%, #E19825 60%, #FFE79B 100%)' }} /&gt;&#10;&#10;    {/* 主内容 */}&#10;    &lt;Box style={{ position: 'relative', zIndex: 2, width: '100%', height: '100%', padding: '44px 70px' }}&gt;&#10;        {/* 标题区 */}&#10;        &lt;Box style={{ flexDirection: 'row', alignItems: 'center' }}&gt;&#10;            &lt;Box style={{ width: 8, height: 40, background: '#FFD700', borderRadius: 3 }} /&gt;&#10;            &lt;Box style={{ flexDirection: 'column', marginLeft: 16, flex: 1 }}&gt;&#10;                &lt;Text style={{ fontSize: 36, fontWeight: 'bold', fontFamily: 'SimSun', color: '#FFFFFF' }}&gt;我们要建的四项能力：落在两张网上&lt;/Text&gt;&#10;                &lt;Text style={{ fontSize: 16, color: 'rgba(255,231,155,0.9)', marginTop: 4, letterSpacing: 1 }}&gt;同一套能力设计 · 按承载网络分置部署 · 各成体系、互不跨网&lt;/Text&gt;&#10;            &lt;/Box&gt;&#10;            &lt;Box style={{ padding: '6px 18px', borderRadius: 16, border: '1px solid rgba(255,215,0,0.6)' }}&gt;&#10;                &lt;Text style={{ fontSize: 16, color: '#FFE79B', fontWeight: 'bold' }}&gt;场景全景&lt;/Text&gt;&#10;            &lt;/Box&gt;&#10;        &lt;/Box&gt;&#10;&#10;        {/* 主体：四场景象限（白色大卡） */}&#10;        &lt;Box style={{ flex: 1, marginTop: 24, borderRadius: 18, background: 'rgba(255,255,255,0.96)', padding: 20, flexDirection: 'row', gap: 24, minHeight: 0 }}&gt;&#10;            {/* 左：四象限 SVG */}&#10;            &lt;Box style={{ width: '58%', borderRadius: 12, background: '#FDF6F2', border: '1px solid #F3E3DB', padding: 14 }}&gt;&#10;                &lt;svg width='100%' height='100%' viewBox='0 0 620 428' style={{ display: 'block' }}&gt;&#10;                    {/* 象限底色 */}&#10;                    &lt;rect x='10' y='10' width='290' height='196' rx='12' fill='#FFFFFF' stroke='#F0D9CE' strokeWidth='1' /&gt;&#10;                    &lt;rect x='320' y='10' width='290' height='196' rx='12' fill='#FFFFFF' stroke='#F0D9CE' strokeWidth='1' /&gt;&#10;                    &lt;rect x='10' y='226' width='290' height='196' rx='12' fill='#FFFFFF' stroke='#F0D9CE' strokeWidth='1' /&gt;&#10;                    &lt;rect x='320' y='226' width='290' height='196' rx='12' fill='#FFFFFF' stroke='#F0D9CE' strokeWidth='1' /&gt;&#10;                    {/* 中轴标注 */}&#10;                    &lt;text x='310' y='112' textAnchor='middle' fill='#9CA3AF' fontSize='13'&gt;面向产品 · 客户价值&lt;/text&gt;&#10;                    &lt;text x='310' y='336' textAnchor='middle' fill='#9CA3AF' fontSize='13'&gt;面向组织 · 内部效能&lt;/text&gt;&#10;&#10;                    {/* 象限1：产品AI化 · 研发网 */}&#10;                    &lt;rect x='30' y='30' width='54' height='54' rx='11' fill='#C42819' /&gt;&#10;                    &lt;text x='57' y='65' textAnchor='middle' fill='#FFFFFF' fontSize='24' fontWeight='bold'&gt;产&lt;/text&gt;&#10;                    &lt;rect x='210' y='26' width='76' height='26' rx='13' fill='#A81810' /&gt;&#10;                    &lt;text x='248' y='44' textAnchor='middle' fill='#FFFFFF' fontSize='13' fontWeight='bold'&gt;研发网&lt;/text&gt;&#10;                    &lt;text x='26' y='112' fill='#171616' fontSize='22' fontWeight='bold'&gt;产品 AI 化&lt;/text&gt;&#10;                    &lt;text x='26' y='140' fill='#4B5563' fontSize='14'&gt;专用模型训练调优 · 成果随产品交付&lt;/text&gt;&#10;                    &lt;text x='26' y='162' fill='#4B5563' fontSize='14'&gt;提升产品附加值 · 形成差异化能力&lt;/text&gt;&#10;&#10;                    {/* 象限2：AI技术研究 · 研发网 */}&#10;                    &lt;rect x='340' y='30' width='54' height='54' rx='11' fill='#E63F26' /&gt;&#10;                    &lt;text x='367' y='65' textAnchor='middle' fill='#FFFFFF' fontSize='24' fontWeight='bold'&gt;研&lt;/text&gt;&#10;                    &lt;rect x='520' y='26' width='76' height='26' rx='13' fill='#A81810' /&gt;&#10;                    &lt;text x='558' y='44' textAnchor='middle' fill='#FFFFFF' fontSize='13' fontWeight='bold'&gt;研发网&lt;/text&gt;&#10;                    &lt;text x='336' y='112' fill='#171616' fontSize='22' fontWeight='bold'&gt;AI 技术研究&lt;/text&gt;&#10;                    &lt;text x='336' y='140' fill='#4B5563' fontSize='14'&gt;与训练调优同网 · 研究环境闭环&lt;/text&gt;&#10;                    &lt;text x='336' y='162' fill='#4B5563' fontSize='14'&gt;掌握原理 · 沉淀队伍 · 加深护城河&lt;/text&gt;&#10;&#10;                    {/* 象限3：智能化工作 · 办公网为主 */}&#10;                    &lt;rect x='30' y='246' width='54' height='54' rx='11' fill='#A81810' /&gt;&#10;                    &lt;text x='57' y='281' textAnchor='middle' fill='#FFFFFF' fontSize='24' fontWeight='bold'&gt;效&lt;/text&gt;&#10;                    &lt;rect x='186' y='242' width='100' height='26' rx='13' fill='#E63F26' /&gt;&#10;                    &lt;text x='236' y='260' textAnchor='middle' fill='#FFFFFF' fontSize='13' fontWeight='bold'&gt;办公网为主&lt;/text&gt;&#10;                    &lt;text x='26' y='328' fill='#171616' fontSize='22' fontWeight='bold'&gt;智能化工作&lt;/text&gt;&#10;                    &lt;text x='26' y='356' fill='#4B5563' fontSize='14'&gt;研制全链路文档·代码·报告·数据分析&lt;/text&gt;&#10;                    &lt;text x='26' y='378' fill='#4B5563' fontSize='14'&gt;研发网配套代码调试能力&lt;/text&gt;&#10;&#10;                    {/* 象限4：智能问答 · 两网都配 */}&#10;                    &lt;rect x='340' y='246' width='54' height='54' rx='11' fill='#EE5530' /&gt;&#10;                    &lt;text x='367' y='281' textAnchor='middle' fill='#FFFFFF' fontSize='24' fontWeight='bold'&gt;问&lt;/text&gt;&#10;                    &lt;rect x='512' y='242' width='84' height='26' rx='13' fill='#C42819' /&gt;&#10;                    &lt;text x='554' y='260' textAnchor='middle' fill='#FFFFFF' fontSize='13' fontWeight='bold'&gt;两网都配&lt;/text&gt;&#10;                    &lt;text x='336' y='328' fill='#171616' fontSize='22' fontWeight='bold'&gt;智能问答&lt;/text&gt;&#10;                    &lt;text x='336' y='356' fill='#4B5563' fontSize='14'&gt;办公网为知识制度主入口&lt;/text&gt;&#10;                    &lt;text x='336' y='378' fill='#4B5563' fontSize='14'&gt;研发网按需配套 · 权限受控审计&lt;/text&gt;&#10;                &lt;/svg&gt;&#10;            &lt;/Box&gt;&#10;&#10;            {/* 右：判断与价值 */}&#10;            &lt;Box style={{ flex: 1, flexDirection: 'column', justifyContent: 'center', gap: 18 }}&gt;&#10;                &lt;Box style={{ padding: '16px 20px', borderRadius: 14, background: '#C42819' }}&gt;&#10;                    &lt;Text style={{ fontSize: 21, fontWeight: 'bold', color: '#FFFFFF', lineHeight: 1.5 }}&gt;不是四套系统，是同一套能力设计、两套独立部署&lt;/Text&gt;&#10;                &lt;/Box&gt;&#10;                {[&#10;                    { k: '研发网成体系', d: '训练调优 + 技术研究 + 代码调试，支撑产品 AI 化', c: '#A81810' },&#10;                    { k: '办公网成体系', d: '研制文档、数据资产、代码开发、问答、报告与分析', c: '#E63F26' },&#10;                    { k: '两网各配问答', d: '知识制度入口办公网为主，研发网按需配套', c: '#C42819' },&#10;                ].map((item, idx) =&gt; (&#10;                    &lt;Box key={idx} style={{ flexDirection: 'row', gap: 14, alignItems: 'flex-start', padding: '14px 18px', borderRadius: 12, background: '#FFF9F5', border: '1px solid #F3E3DB' }}&gt;&#10;                        &lt;Box style={{ width: 12, height: 12, borderRadius: 6, background: item.c, marginTop: 5, flexShrink: 0 }} /&gt;&#10;                        &lt;Box style={{ flex: 1 }}&gt;&#10;                            &lt;Text style={{ fontSize: 19, fontWeight: 'bold', color: '#171616' }}&gt;{item.k}&lt;/Text&gt;&#10;                            &lt;Text style={{ fontSize: 15, color: '#4B5563', lineHeight: 1.55, marginTop: 4 }}&gt;{item.d}&lt;/Text&gt;&#10;                        &lt;/Box&gt;&#10;                    &lt;/Box&gt;&#10;                ))}&#10;                &lt;Box style={{ flexDirection: 'row', gap: 12, alignItems: 'center', background: '#FDF3F0', borderRadius: 12, padding: '14px 18px' }}&gt;&#10;                    &lt;FAIcon name='bullseye' style={{ fill: '#C42819', width: 24, height: 24 }} /&gt;&#10;                    &lt;Text style={{ flex: 1, fontSize: 16, color: '#A81810', lineHeight: 1.5 }}&gt;同一套方法论、同一套能力目录，两张网各建一份——建设与运维口径统一，成果互不跨网。&lt;/Text&gt;&#10;                &lt;/Box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0E08"/>
              </a:gs>
              <a:gs pos="32000">
                <a:srgbClr val="A81810"/>
              </a:gs>
              <a:gs pos="68000">
                <a:srgbClr val="D02A1B"/>
              </a:gs>
              <a:gs pos="100000">
                <a:srgbClr val="E8482C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8096250" y="-1428750"/>
            <a:ext cx="4953000" cy="4953000"/>
          </a:xfrm>
          <a:custGeom>
            <a:pathLst>
              <a:path w="520" h="520">
                <a:moveTo>
                  <a:pt x="430" y="457"/>
                </a:moveTo>
                <a:lnTo>
                  <a:pt x="425" y="461"/>
                </a:lnTo>
                <a:lnTo>
                  <a:pt x="420" y="465"/>
                </a:ln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4" y="150"/>
                </a:lnTo>
                <a:lnTo>
                  <a:pt x="430" y="150"/>
                </a:lnTo>
                <a:close/>
              </a:path>
            </a:pathLst>
          </a:custGeom>
          <a:gradFill>
            <a:gsLst>
              <a:gs pos="0">
                <a:srgbClr val="FFD700">
                  <a:alpha val="25000"/>
                </a:srgbClr>
              </a:gs>
              <a:gs pos="70000">
                <a:srgbClr val="FFD7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-1143000" y="40005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4" y="282"/>
                </a:lnTo>
                <a:lnTo>
                  <a:pt x="453" y="287"/>
                </a:lnTo>
                <a:lnTo>
                  <a:pt x="451" y="293"/>
                </a:lnTo>
                <a:lnTo>
                  <a:pt x="450" y="298"/>
                </a:lnTo>
                <a:lnTo>
                  <a:pt x="449" y="300"/>
                </a:lnTo>
                <a:lnTo>
                  <a:pt x="120" y="300"/>
                </a:lnTo>
                <a:lnTo>
                  <a:pt x="120" y="28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FFE79B">
                  <a:alpha val="16000"/>
                </a:srgbClr>
              </a:gs>
              <a:gs pos="70000">
                <a:srgbClr val="FFE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FE79B"/>
              </a:gs>
              <a:gs pos="30000">
                <a:srgbClr val="FFD700"/>
              </a:gs>
              <a:gs pos="60000">
                <a:srgbClr val="E19825"/>
              </a:gs>
              <a:gs pos="100000">
                <a:srgbClr val="FFE79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666750" y="552450"/>
            <a:ext cx="76200" cy="381000"/>
          </a:xfrm>
          <a:prstGeom prst="roundRect">
            <a:avLst>
              <a:gd name="adj" fmla="val 37500"/>
            </a:avLst>
          </a:prstGeom>
          <a:solidFill>
            <a:srgbClr val="FFD700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95350" y="419100"/>
            <a:ext cx="967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FFFFF"/>
                </a:solidFill>
                <a:latin typeface="SimSun"/>
                <a:ea typeface="SimSun"/>
              </a:rPr>
              <a:t>我们要建的四项能力：落在两张网上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95350" y="876300"/>
            <a:ext cx="967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同一套能力设计</a:t>
            </a:r>
            <a:r>
              <a:rPr lang="en-US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按承载网络分置部署</a:t>
            </a:r>
            <a:r>
              <a:rPr lang="en-US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各成体系、互不跨网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10572750" y="590550"/>
            <a:ext cx="95250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D700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0744200" y="647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E79B"/>
                </a:solidFill>
                <a:latin typeface="Microsoft YaHei"/>
                <a:ea typeface="Microsoft YaHei"/>
              </a:rPr>
              <a:t>场景全景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66750" y="1295400"/>
            <a:ext cx="10858500" cy="5143500"/>
          </a:xfrm>
          <a:prstGeom prst="roundRect">
            <a:avLst>
              <a:gd name="adj" fmla="val 3333"/>
            </a:avLst>
          </a:prstGeom>
          <a:solidFill>
            <a:srgbClr val="FFFFFF">
              <a:alpha val="96000"/>
            </a:srgbClr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857250" y="1485900"/>
            <a:ext cx="6076950" cy="4762500"/>
          </a:xfrm>
          <a:prstGeom prst="roundRect">
            <a:avLst>
              <a:gd name="adj" fmla="val 2400"/>
            </a:avLst>
          </a:prstGeom>
          <a:solidFill>
            <a:srgbClr val="FDF6F2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pic>
        <p:nvPicPr>
          <p:cNvPr id="5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90600" y="1619250"/>
            <a:ext cx="5810250" cy="4495800"/>
          </a:xfrm>
          <a:prstGeom prst="rect">
            <a:avLst/>
          </a:prstGeom>
          <a:ln/>
        </p:spPr>
      </p:pic>
      <p:sp>
        <p:nvSpPr>
          <p:cNvPr id="553" name=""/>
          <p:cNvSpPr/>
          <p:nvPr/>
        </p:nvSpPr>
        <p:spPr>
          <a:xfrm rot="0" flipH="0" flipV="0">
            <a:off x="7162800" y="1419225"/>
            <a:ext cx="4171950" cy="1028700"/>
          </a:xfrm>
          <a:prstGeom prst="roundRect">
            <a:avLst>
              <a:gd name="adj" fmla="val 12963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353300" y="1571625"/>
            <a:ext cx="37909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不是四套系统，是同一套能力设计、两套独立部署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162800" y="2619375"/>
            <a:ext cx="4171950" cy="790575"/>
          </a:xfrm>
          <a:prstGeom prst="roundRect">
            <a:avLst>
              <a:gd name="adj" fmla="val 14458"/>
            </a:avLst>
          </a:prstGeom>
          <a:solidFill>
            <a:srgbClr val="FFF9F5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sp>
        <p:nvSpPr>
          <p:cNvPr id="556" name=""/>
          <p:cNvSpPr/>
          <p:nvPr/>
        </p:nvSpPr>
        <p:spPr>
          <a:xfrm rot="0" flipH="0" flipV="0">
            <a:off x="7334250" y="2800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581900" y="275272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71616"/>
                </a:solidFill>
                <a:latin typeface="Microsoft YaHei"/>
                <a:ea typeface="Microsoft YaHei"/>
              </a:rPr>
              <a:t>研发网成体系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581900" y="3009900"/>
            <a:ext cx="3581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训练调优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技术研究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代码调试，支撑产品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化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7162800" y="3581400"/>
            <a:ext cx="4171950" cy="790575"/>
          </a:xfrm>
          <a:prstGeom prst="roundRect">
            <a:avLst>
              <a:gd name="adj" fmla="val 14458"/>
            </a:avLst>
          </a:prstGeom>
          <a:solidFill>
            <a:srgbClr val="FFF9F5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7334250" y="37623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581900" y="3714750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71616"/>
                </a:solidFill>
                <a:latin typeface="Microsoft YaHei"/>
                <a:ea typeface="Microsoft YaHei"/>
              </a:rPr>
              <a:t>办公网成体系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581900" y="3971925"/>
            <a:ext cx="3581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研制文档、数据资产、代码开发、问答、报告与分析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7162800" y="4543425"/>
            <a:ext cx="4171950" cy="790575"/>
          </a:xfrm>
          <a:prstGeom prst="roundRect">
            <a:avLst>
              <a:gd name="adj" fmla="val 14458"/>
            </a:avLst>
          </a:prstGeom>
          <a:solidFill>
            <a:srgbClr val="FFF9F5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7334250" y="4724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581900" y="4676775"/>
            <a:ext cx="3581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71616"/>
                </a:solidFill>
                <a:latin typeface="Microsoft YaHei"/>
                <a:ea typeface="Microsoft YaHei"/>
              </a:rPr>
              <a:t>两网各配问答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581900" y="4933950"/>
            <a:ext cx="3581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知识制度入口办公网为主，研发网按需配套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7162800" y="5505450"/>
            <a:ext cx="4171950" cy="819150"/>
          </a:xfrm>
          <a:prstGeom prst="roundRect">
            <a:avLst>
              <a:gd name="adj" fmla="val 13953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34250" y="5800725"/>
            <a:ext cx="228600" cy="228600"/>
          </a:xfrm>
          <a:prstGeom prst="rect">
            <a:avLst/>
          </a:prstGeom>
          <a:ln/>
        </p:spPr>
      </p:pic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677150" y="5638800"/>
            <a:ext cx="3486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A81810"/>
                </a:solidFill>
                <a:latin typeface="Microsoft YaHei"/>
                <a:ea typeface="Microsoft YaHei"/>
              </a:rPr>
              <a:t>同一套方法论、同一套能力目录，两张网各建一份——建设与运维口径统一，成果互不跨网。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70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6, fontWeight: 'bold', fontFamily: 'SimSun', color: '#171616', marginLeft: 18 }}&gt;场景一 · 产品 AI 化：为产品叠加智能能力&lt;/Text&gt;&#10;            &lt;Box style={{ flex: 1 }} /&gt;&#10;            &lt;Box style={{ padding: '6px 18px', borderRadius: 16, background: '#FDF3F0', border: '1px solid #F0D9CE', flexDirection: 'row', alignItems: 'center', gap: 8 }}&gt;&#10;                &lt;Box style={{ width: 10, height: 10, borderRadius: 5, background: '#A81810' }} /&gt;&#10;                &lt;Text style={{ fontSize: 16, color: '#A81810', fontWeight: 'bold' }}&gt;承载网 · 研发网&lt;/Text&gt;&#10;            &lt;/Box&gt;&#10;        &lt;/Box&gt;&#10;&#10;        {/* 主体 左图右文 */}&#10;        &lt;Box style={{ position: 'absolute', top: 130, left: 0, right: 0, bottom: 52, flexDirection: 'row', gap: 44 }}&gt;&#10;            {/* 左：演进示意（L1 SVG） */}&#10;            &lt;Box style={{ width: '56%', height: '100%', borderRadius: 16, border: '1px solid #F3E3DB', background: '#FDF6F2', padding: 22 }}&gt;&#10;                &lt;svg width='100%' height='100%' viewBox='0 0 640 440' style={{ display: 'block' }}&gt;&#10;                    {/* 阶段1 */}&#10;                    &lt;rect x='20' y='60' width='170' height='170' rx='14' fill='#FFFFFF' stroke='#E5E7EB' strokeWidth='1.5' /&gt;&#10;                    &lt;text x='105' y='110' textAnchor='middle' fill='#4B5563' fontSize='16'&gt;现有产品&lt;/text&gt;&#10;                    &lt;text x='105' y='140' textAnchor='middle' fill='#171616' fontSize='22' fontWeight='bold'&gt;功能稳定&lt;/text&gt;&#10;                    &lt;text x='105' y='168' textAnchor='middle' fill='#171616' fontSize='22' fontWeight='bold'&gt;数据深厚&lt;/text&gt;&#10;                    &lt;text x='105' y='200' textAnchor='middle' fill='#9CA3AF' fontSize='14'&gt;客户信任的基础盘&lt;/text&gt;&#10;&#10;                    {/* 箭头1 */}&#10;                    &lt;path d='M 205 145 L 250 145' stroke='#C42819' strokeWidth='4' fill='none' markerEnd='url(#ar1)' /&gt;&#10;                    &lt;defs&gt;&lt;marker id='ar1' markerWidth='12' markerHeight='12' refX='8' refY='6' orient='auto'&gt;&lt;path d='M0,0 L12,6 L0,12 Z' fill='#C42819' /&gt;&lt;/marker&gt;&lt;/defs&gt;&#10;&#10;                    {/* 中间 AI 层（研发网完成训练调优） */}&#10;                    &lt;rect x='265' y='60' width='170' height='170' rx='14' fill='#C42819' /&gt;&#10;                    &lt;text x='350' y='102' textAnchor='middle' fill='#FFE79B' fontSize='14' fontWeight='bold'&gt;研发网 · 训练调优&lt;/text&gt;&#10;                    &lt;text x='350' y='134' textAnchor='middle' fill='#FFFFFF' fontSize='22' fontWeight='bold'&gt;AI 智能能力&lt;/text&gt;&#10;                    &lt;text x='350' y='168' textAnchor='middle' fill='#FFFFFF' fontSize='14'&gt;智能问答 · 自动生成&lt;/text&gt;&#10;                    &lt;text x='350' y='192' textAnchor='middle' fill='#FFFFFF' fontSize='14'&gt;数据分析 · 预测辅助&lt;/text&gt;&#10;                    &lt;text x='350' y='216' textAnchor='middle' fill='#FFE79B' fontSize='13'&gt;成果随产品交付&lt;/text&gt;&#10;&#10;                    {/* 箭头2 */}&#10;                    &lt;path d='M 450 145 L 495 145' stroke='#C42819' strokeWidth='4' fill='none' markerEnd='url(#ar2)' /&gt;&#10;                    &lt;defs&gt;&lt;marker id='ar2' markerWidth='12' markerHeight='12' refX='8' refY='6' orient='auto'&gt;&lt;path d='M0,0 L12,6 L0,12 Z' fill='#C42819' /&gt;&lt;/marker&gt;&lt;/defs&gt;&#10;&#10;                    {/* 阶段2 */}&#10;                    &lt;rect x='510' y='60' width='170' height='170' rx='14' fill='#FFFFFF' stroke='#E19825' strokeWidth='2' /&gt;&#10;                    &lt;text x='595' y='110' textAnchor='middle' fill='#4B5563' fontSize='16'&gt;增值产品&lt;/text&gt;&#10;                    &lt;text x='595' y='140' textAnchor='middle' fill='#A81810' fontSize='22' fontWeight='bold'&gt;智能升级&lt;/text&gt;&#10;                    &lt;text x='595' y='168' textAnchor='middle' fill='#171616' fontSize='22' fontWeight='bold'&gt;附加值提升&lt;/text&gt;&#10;                    &lt;text x='595' y='200' textAnchor='middle' fill='#9CA3AF' fontSize='14'&gt;客户价值与黏性双升&lt;/text&gt;&#10;&#10;                    {/* 底部说明带 */}&#10;                    &lt;rect x='20' y='300' width='660' height='120' rx='12' fill='#FFFFFF' stroke='#F0D9CE' strokeWidth='1' /&gt;&#10;                    &lt;text x='46' y='334' fill='#C42819' fontSize='17' fontWeight='bold'&gt;结合行业 Know-how 的按需训练与调优&lt;/text&gt;&#10;                    &lt;text x='46' y='364' fill='#4B5563' fontSize='16'&gt;产品 AI 化不是简单&quot;接一个接口&quot;，而是在研发网完成模型选型、微调与评测——这正是自建平台的价值所在。&lt;/text&gt;&#10;                    &lt;text x='46' y='394' fill='#4B5563' fontSize='16'&gt;研发网提供训练调优所需的算力与工具链，让产品团队把 AI 能力打磨成真正的产品竞争力。&lt;/text&gt;&#10;                &lt;/svg&gt;&#10;            &lt;/Box&gt;&#10;&#10;            {/* 右：价值三卡 */}&#10;            &lt;Box style={{ flex: 1, height: '100%', flexDirection: 'column', gap: 26, justifyContent: 'center' }}&gt;&#10;                {[&#10;                    { icon: 'dollar-sign', t: '提升产品价值', d: 'AI 功能作为增值能力进入产品，为存量客户创造新价值、为增量客户提供新卖点。', c: '#C42819' },&#10;                    { icon: 'handshake', t: '增强客户黏性', d: '智能化能力让产品更深度地嵌入客户业务，使用越深、替换成本越高。', c: '#E63F26' },&#10;                    { icon: 'gem', t: '形成差异化壁垒', d: '结合行业数据的微调模型难以复制——这是投资回报最直接、护城河最深的场景。', c: '#A81810' },&#10;                ].map((item, idx) =&gt; (&#10;                    &lt;Box key={idx} style={{ flexDirection: 'row', gap: 18, padding: '20px 22px', borderRadius: 14, border: '1px solid #E5E7EB', background: '#FFFFFF', alignItems: 'center' }}&gt;&#10;                        &lt;Box style={{ width: 56, height: 56, borderRadius: 14, background: item.c, alignItems: 'center', justifyContent: 'center' }}&gt;&#10;                            &lt;FAIcon name={item.icon} style={{ fill: '#FFFFFF', width: 26, height: 26 }} /&gt;&#10;                        &lt;/Box&gt;&#10;                        &lt;Box style={{ flex: 1 }}&gt;&#10;                            &lt;Text style={{ fontSize: 22, fontWeight: 'bold', color: '#171616' }}&gt;{item.t}&lt;/Text&gt;&#10;                            &lt;Text style={{ fontSize: 16, color: '#4B5563', lineHeight: 1.6, marginTop: 6 }}&gt;{item.d}&lt;/Text&gt;&#10;                        &lt;/Box&gt;&#10;                    &lt;/Box&gt;&#10;                ))}&#10;                &lt;Box style={{ flexDirection: 'row', gap: 14, alignItems: 'center', background: '#FDF3F0', borderRadius: 10, padding: '14px 20px' }}&gt;&#10;                    &lt;FAIcon name='lightbulb' style={{ fill: '#C42819', width: 24, height: 24 }} /&gt;&#10;                    &lt;Text style={{ fontSize: 17, color: '#A81810', lineHeight: 1.5 }}&gt;一句话：把 AI 变成产品的&quot;可售能力&quot;，训练与调优在研发网完成，成果随产品交付。&lt;/Text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5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66750" y="4572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685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场景一</a:t>
            </a:r>
            <a:r>
              <a:rPr lang="en-US" sz="2700" b="1">
                <a:solidFill>
                  <a:srgbClr val="171616"/>
                </a:solidFill>
                <a:latin typeface="SimSun"/>
                <a:ea typeface="SimSun"/>
              </a:rPr>
              <a:t> · </a:t>
            </a: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产品</a:t>
            </a:r>
            <a:r>
              <a:rPr lang="en-US" sz="2700" b="1">
                <a:solidFill>
                  <a:srgbClr val="171616"/>
                </a:solidFill>
                <a:latin typeface="SimSun"/>
                <a:ea typeface="SimSun"/>
              </a:rPr>
              <a:t> AI </a:t>
            </a: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化：为产品叠加智能能力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9934575" y="514350"/>
            <a:ext cx="1590675" cy="304800"/>
          </a:xfrm>
          <a:prstGeom prst="roundRect">
            <a:avLst>
              <a:gd name="adj" fmla="val 50000"/>
            </a:avLst>
          </a:prstGeom>
          <a:solidFill>
            <a:srgbClr val="FDF3F0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575" name=""/>
          <p:cNvSpPr/>
          <p:nvPr/>
        </p:nvSpPr>
        <p:spPr>
          <a:xfrm rot="0" flipH="0" flipV="0">
            <a:off x="10106025" y="61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277475" y="571500"/>
            <a:ext cx="107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承载网</a:t>
            </a:r>
            <a:r>
              <a:rPr lang="en-US" sz="1200" b="1">
                <a:solidFill>
                  <a:srgbClr val="A81810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研发网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66750" y="1238250"/>
            <a:ext cx="6076950" cy="5124450"/>
          </a:xfrm>
          <a:prstGeom prst="roundRect">
            <a:avLst>
              <a:gd name="adj" fmla="val 2974"/>
            </a:avLst>
          </a:prstGeom>
          <a:solidFill>
            <a:srgbClr val="FDF6F2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447800"/>
            <a:ext cx="5657850" cy="4705350"/>
          </a:xfrm>
          <a:prstGeom prst="rect">
            <a:avLst/>
          </a:prstGeom>
          <a:ln/>
        </p:spPr>
      </p:pic>
      <p:sp>
        <p:nvSpPr>
          <p:cNvPr id="579" name=""/>
          <p:cNvSpPr/>
          <p:nvPr/>
        </p:nvSpPr>
        <p:spPr>
          <a:xfrm rot="0" flipH="0" flipV="0">
            <a:off x="7162800" y="1076325"/>
            <a:ext cx="43624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7372350" y="14573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5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1600200"/>
            <a:ext cx="247650" cy="247650"/>
          </a:xfrm>
          <a:prstGeom prst="rect">
            <a:avLst/>
          </a:prstGeom>
          <a:ln/>
        </p:spPr>
      </p:pic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077200" y="126682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提升产品价值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077200" y="1581150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功能作为增值能力进入产品，为存量客户创造新价值、为增量客户提供新卖点。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7162800" y="2609850"/>
            <a:ext cx="43624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7372350" y="299085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5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3133725"/>
            <a:ext cx="247650" cy="247650"/>
          </a:xfrm>
          <a:prstGeom prst="rect">
            <a:avLst/>
          </a:prstGeom>
          <a:ln/>
        </p:spPr>
      </p:pic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077200" y="2800350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增强客户黏性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077200" y="3114675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智能化能力让产品更深度地嵌入客户业务，使用越深、替换成本越高。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7162800" y="4143375"/>
            <a:ext cx="43624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7372350" y="4524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5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4667250"/>
            <a:ext cx="247650" cy="247650"/>
          </a:xfrm>
          <a:prstGeom prst="rect">
            <a:avLst/>
          </a:prstGeom>
          <a:ln/>
        </p:spPr>
      </p:pic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077200" y="4333875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形成差异化壁垒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077200" y="4648200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结合行业数据的微调模型难以复制——这是投资回报最直接、护城河最深的场景。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162800" y="5676900"/>
            <a:ext cx="4362450" cy="857250"/>
          </a:xfrm>
          <a:prstGeom prst="roundRect">
            <a:avLst>
              <a:gd name="adj" fmla="val 11111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5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53300" y="5991225"/>
            <a:ext cx="228600" cy="228600"/>
          </a:xfrm>
          <a:prstGeom prst="rect">
            <a:avLst/>
          </a:prstGeom>
          <a:ln/>
        </p:spPr>
      </p:pic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696200" y="5810250"/>
            <a:ext cx="3638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一句话：把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变成产品的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可售能力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，训练与调优在研发网完成，成果随产品交付。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599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01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6, fontWeight: 'bold', fontFamily: 'SimSun', color: '#171616', marginLeft: 18 }}&gt;场景二 · AI 技术研究：掌握原理，支撑产品走得更远&lt;/Text&gt;&#10;            &lt;Box style={{ flex: 1 }} /&gt;&#10;            &lt;Box style={{ padding: '6px 18px', borderRadius: 16, background: '#FDF3F0', border: '1px solid #F0D9CE', flexDirection: 'row', alignItems: 'center', gap: 8 }}&gt;&#10;                &lt;Box style={{ width: 10, height: 10, borderRadius: 5, background: '#A81810' }} /&gt;&#10;                &lt;Text style={{ fontSize: 16, color: '#A81810', fontWeight: 'bold' }}&gt;承载网 · 研发网&lt;/Text&gt;&#10;            &lt;/Box&gt;&#10;        &lt;/Box&gt;&#10;&#10;        {/* 主体 非对称双栏 */}&#10;        &lt;Box style={{ position: 'absolute', top: 130, left: 0, right: 0, bottom: 52, flexDirection: 'row', gap: 44 }}&gt;&#10;            {/* 左：技术研究分层图（L1 SVG） */}&#10;            &lt;Box style={{ width: '60%', height: '100%', borderRadius: 16, border: '1px solid #F3E3DB', background: '#FDF6F2', padding: 22 }}&gt;&#10;                &lt;svg width='100%' height='100%' viewBox='0 0 660 440' style={{ display: 'block' }}&gt;&#10;                    {/* 三层结构 */}&#10;                    &lt;rect x='30' y='30' width='600' height='95' rx='12' fill='#A81810' /&gt;&#10;                    &lt;text x='60' y='70' fill='#FFE79B' fontSize='17' fontWeight='bold'&gt;基础原理层&lt;/text&gt;&#10;                    &lt;text x='60' y='102' fill='#FFFFFF' fontSize='20' fontWeight='bold'&gt;理解模型机制 · 掌握技术趋势 · 建立评测能力&lt;/text&gt;&#10;&#10;                    &lt;rect x='30' y='155' width='600' height='95' rx='12' fill='#C42819' /&gt;&#10;                    &lt;text x='60' y='195' fill='#FFE79B' fontSize='17' fontWeight='bold'&gt;调优应用层&lt;/text&gt;&#10;                    &lt;text x='60' y='227' fill='#FFFFFF' fontSize='20' fontWeight='bold'&gt;选型 · 微调 · 检索增强 · 提示工程 · 安全护栏&lt;/text&gt;&#10;&#10;                    &lt;rect x='30' y='280' width='600' height='95' rx='12' fill='#EE5530' /&gt;&#10;                    &lt;text x='60' y='320' fill='#FFE79B' fontSize='17' fontWeight='bold'&gt;产品落地层&lt;/text&gt;&#10;                    &lt;text x='60' y='352' fill='#FFFFFF' fontSize='20' fontWeight='bold'&gt;把研究能力转化为产品 AI 化的实施能力与话语权&lt;/text&gt;&#10;&#10;                    {/* 底部框 */}&#10;                    &lt;rect x='30' y='405' width='600' height='35' rx='10' fill='#FFFFFF' stroke='#E19825' strokeWidth='1.5' /&gt;&#10;                    &lt;text x='330' y='428' textAnchor='middle' fill='#A81810' fontSize='17' fontWeight='bold'&gt;研究目标 = 支撑产品 AI 化，而不是&quot;为了研究而研究&quot;&lt;/text&gt;&#10;                &lt;/svg&gt;&#10;            &lt;/Box&gt;&#10;&#10;            {/* 右：三点价值 */}&#10;            &lt;Box style={{ flex: 1, height: '100%', flexDirection: 'column', gap: 30, justifyContent: 'center' }}&gt;&#10;                {[&#10;                    { icon: 'mountain', t: '加深产品护城河', d: '掌握模型调优与评测方法，才能把行业 Know-how 变成别人拿不走的差异化能力。', c: '#A81810' },&#10;                    { icon: 'handshake', t: '降低外部依赖', d: '具备自主选型与实施能力，避免被单一供应商绑定，掌握议价与替换的主动权。', c: '#C42819' },&#10;                    { icon: 'users', t: '培养自有 AI 队伍', d: '研究过程即人才培养过程，形成&quot;原理—调优—落地&quot;完整能力的自有团队。', c: '#E63F26' },&#10;                ].map((item, idx) =&gt; (&#10;                    &lt;Box key={idx} style={{ flexDirection: 'row', gap: 18, padding: '22px 22px', borderRadius: 14, border: '1px solid #E5E7EB', background: '#FFFFFF', alignItems: 'center' }}&gt;&#10;                        &lt;Box style={{ width: 58, height: 58, borderRadius: 14, background: item.c, alignItems: 'center', justifyContent: 'center' }}&gt;&#10;                            &lt;FAIcon name={item.icon} style={{ fill: '#FFFFFF', width: 28, height: 28 }} /&gt;&#10;                        &lt;/Box&gt;&#10;                        &lt;Box style={{ flex: 1 }}&gt;&#10;                            &lt;Text style={{ fontSize: 23, fontWeight: 'bold', color: '#171616' }}&gt;{item.t}&lt;/Text&gt;&#10;                            &lt;Text style={{ fontSize: 16, color: '#4B5563', lineHeight: 1.65, marginTop: 6 }}&gt;{item.d}&lt;/Text&gt;&#10;                        &lt;/Box&gt;&#10;                    &lt;/Box&gt;&#10;                ))}&#10;                &lt;Box style={{ flexDirection: 'row', gap: 14, alignItems: 'center', background: '#FDF3F0', borderRadius: 10, padding: '14px 20px' }}&gt;&#10;                    &lt;FAIcon name='lightbulb' style={{ fill: '#C42819', width: 24, height: 24 }} /&gt;&#10;                    &lt;Text style={{ fontSize: 17, color: '#A81810', lineHeight: 1.5 }}&gt;一句话：研究环境与训练调优同处研发网，形成&quot;研究—调优—落地&quot;闭环。&lt;/Text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6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666750" y="4572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84010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场景二</a:t>
            </a:r>
            <a:r>
              <a:rPr lang="en-US" sz="2700" b="1">
                <a:solidFill>
                  <a:srgbClr val="171616"/>
                </a:solidFill>
                <a:latin typeface="SimSun"/>
                <a:ea typeface="SimSun"/>
              </a:rPr>
              <a:t> · AI </a:t>
            </a: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技术研究：掌握原理，支撑产品走得更远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9934575" y="514350"/>
            <a:ext cx="1590675" cy="304800"/>
          </a:xfrm>
          <a:prstGeom prst="roundRect">
            <a:avLst>
              <a:gd name="adj" fmla="val 50000"/>
            </a:avLst>
          </a:prstGeom>
          <a:solidFill>
            <a:srgbClr val="FDF3F0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10106025" y="61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0277475" y="571500"/>
            <a:ext cx="107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承载网</a:t>
            </a:r>
            <a:r>
              <a:rPr lang="en-US" sz="1200" b="1">
                <a:solidFill>
                  <a:srgbClr val="A81810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研发网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66750" y="1238250"/>
            <a:ext cx="6515100" cy="5124450"/>
          </a:xfrm>
          <a:prstGeom prst="roundRect">
            <a:avLst>
              <a:gd name="adj" fmla="val 2974"/>
            </a:avLst>
          </a:prstGeom>
          <a:solidFill>
            <a:srgbClr val="FDF6F2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pic>
        <p:nvPicPr>
          <p:cNvPr id="6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447800"/>
            <a:ext cx="6096000" cy="4705350"/>
          </a:xfrm>
          <a:prstGeom prst="rect">
            <a:avLst/>
          </a:prstGeom>
          <a:ln/>
        </p:spPr>
      </p:pic>
      <p:sp>
        <p:nvSpPr>
          <p:cNvPr id="610" name=""/>
          <p:cNvSpPr/>
          <p:nvPr/>
        </p:nvSpPr>
        <p:spPr>
          <a:xfrm rot="0" flipH="0" flipV="0">
            <a:off x="7600950" y="762000"/>
            <a:ext cx="3924300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7810500" y="13144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6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53375" y="1457325"/>
            <a:ext cx="266700" cy="266700"/>
          </a:xfrm>
          <a:prstGeom prst="rect">
            <a:avLst/>
          </a:prstGeom>
          <a:ln/>
        </p:spPr>
      </p:pic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534400" y="971550"/>
            <a:ext cx="2781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加深产品护城河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534400" y="1295400"/>
            <a:ext cx="27813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掌握模型调优与评测方法，才能把行业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 Know-how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变成别人拿不走的差异化能力。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7600950" y="2705100"/>
            <a:ext cx="392430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7810500" y="31051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6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53375" y="3248025"/>
            <a:ext cx="266700" cy="266700"/>
          </a:xfrm>
          <a:prstGeom prst="rect">
            <a:avLst/>
          </a:prstGeom>
          <a:ln/>
        </p:spPr>
      </p:pic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534400" y="2914650"/>
            <a:ext cx="2781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降低外部依赖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534400" y="3238500"/>
            <a:ext cx="2781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具备自主选型与实施能力，避免被单一供应商绑定，掌握议价与替换的主动权。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7600950" y="4343400"/>
            <a:ext cx="392430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7810500" y="4743450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6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53375" y="4886325"/>
            <a:ext cx="266700" cy="266700"/>
          </a:xfrm>
          <a:prstGeom prst="rect">
            <a:avLst/>
          </a:prstGeom>
          <a:ln/>
        </p:spPr>
      </p:pic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534400" y="4552950"/>
            <a:ext cx="2781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培养自有</a:t>
            </a:r>
            <a:r>
              <a:rPr lang="en-US" sz="1725" b="1">
                <a:solidFill>
                  <a:srgbClr val="171616"/>
                </a:solidFill>
                <a:latin typeface="Microsoft YaHei"/>
                <a:ea typeface="Microsoft YaHei"/>
              </a:rPr>
              <a:t> AI </a:t>
            </a: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队伍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534400" y="4876800"/>
            <a:ext cx="27813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研究过程即人才培养过程，形成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原理—调优—落地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完整能力的自有团队。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7600950" y="5981700"/>
            <a:ext cx="3924300" cy="857250"/>
          </a:xfrm>
          <a:prstGeom prst="roundRect">
            <a:avLst>
              <a:gd name="adj" fmla="val 11111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6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91450" y="6296025"/>
            <a:ext cx="228600" cy="228600"/>
          </a:xfrm>
          <a:prstGeom prst="rect">
            <a:avLst/>
          </a:prstGeom>
          <a:ln/>
        </p:spPr>
      </p:pic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134350" y="6115050"/>
            <a:ext cx="3200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一句话：研究环境与训练调优同处研发网，形成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研究—调优—落地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闭环。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630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32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6, fontWeight: 'bold', fontFamily: 'SimSun', color: '#171616', marginLeft: 18 }}&gt;场景三 · 智能化工作：覆盖产品研制全链路&lt;/Text&gt;&#10;            &lt;Box style={{ flex: 1 }} /&gt;&#10;            &lt;Box style={{ padding: '6px 18px', borderRadius: 16, background: '#FDF3F0', border: '1px solid #F0D9CE', flexDirection: 'row', alignItems: 'center', gap: 8 }}&gt;&#10;                &lt;Box style={{ width: 10, height: 10, borderRadius: 5, background: '#E63F26' }} /&gt;&#10;                &lt;Text style={{ fontSize: 16, color: '#E63F26', fontWeight: 'bold' }}&gt;承载网 · 办公网为主&lt;/Text&gt;&#10;            &lt;/Box&gt;&#10;        &lt;/Box&gt;&#10;&#10;        {/* 引导语 */}&#10;        &lt;Box style={{ position: 'absolute', top: 118, left: 0, right: 0 }}&gt;&#10;            &lt;Text style={{ fontSize: 18, color: '#4B5563', lineHeight: 1.6 }}&gt;研发办公人员的大量时间花在文档、编码、测试与数据分析上——这些正是 AI 最擅长辅助的环节。&lt;/Text&gt;&#10;        &lt;/Box&gt;&#10;&#10;        {/* 主体：研发链路（L1 SVG 流程）+ 下侧说明 */}&#10;        &lt;Box style={{ position: 'absolute', top: 172, left: 0, right: 0, height: 300, flexDirection: 'column' }}&gt;&#10;            &lt;svg width='100%' height='100%' viewBox='0 0 1140 260' style={{ display: 'block' }}&gt;&#10;                {/* 五环节 */}&#10;                {[&#10;                    { x: 20, t: '方案设计', s: '技术报告辅助撰写、方案结构建议', net: '办公网' },&#10;                    { x: 248, t: '代码开发', s: '代码生成、补全、评审与重构', net: '办公网' },&#10;                    { x: 476, t: '测试验证', s: '测试用例生成、缺陷分析辅助', net: '办公网' },&#10;                    { x: 704, t: '文档编制', s: '管理类文档、评审纪要自动起草', net: '办公网' },&#10;                    { x: 932, t: '数据分析', s: '业务与运营数据整理、洞察提炼', net: '办公网' },&#10;                ].map((item, idx) =&gt; (&#10;                    &lt;g key={idx}&gt;&#10;                        &lt;rect x={item.x} y='30' width='200' height='150' rx='14' fill={idx === 1 ? '#E63F26' : '#FFFFFF'} stroke={idx === 1 ? '#E63F26' : '#E5E7EB'} strokeWidth='1.5' /&gt;&#10;                        &lt;circle cx={item.x + 100} cy='76' r='22' fill={idx === 1 ? '#FFE79B' : '#C42819'} /&gt;&#10;                        &lt;text x={item.x + 100} y='83' textAnchor='middle' fill={idx === 1 ? '#A81810' : '#FFFFFF'} fontSize='20' fontWeight='bold'&gt;{idx + 1}&lt;/text&gt;&#10;                        &lt;text x={item.x + 100} y='122' textAnchor='middle' fill='#171616' fontSize='22' fontWeight='bold'&gt;{item.t}&lt;/text&gt;&#10;                        &lt;text x={item.x + 100} y='154' textAnchor='middle' fill='#6B7280' fontSize='14'&gt;{item.s}&lt;/text&gt;&#10;                        {/* 箭头 */}&#10;                        {idx &lt; 4 &amp;&amp; (&#10;                            &lt;path d={`M ${item.x + 208} y=105 H ${item.x + 236}`} stroke='#E63F26' strokeWidth='3' fill='none' markerEnd='url(#arrp8)' /&gt;&#10;                        )}&#10;                    &lt;/g&gt;&#10;                ))}&#10;                &lt;defs&gt;&#10;                    &lt;marker id='arrp8' markerWidth='10' markerHeight='10' refX='7' refY='5' orient='auto'&gt;&lt;path d='M0,0 L10,5 L0,10 Z' fill='#E63F26' /&gt;&lt;/marker&gt;&#10;                &lt;/defs&gt;&#10;                {/* 底部覆盖范围带 */}&#10;                &lt;rect x='20' y='210' width='1112' height='40' rx='10' fill='#FDF3F0' /&gt;&#10;                &lt;text x='576' y='236' textAnchor='middle' fill='#A81810' fontSize='18' fontWeight='bold'&gt;研制全生命周期文档 · 代码开发 · 管理报告 · 业务数据分析（研发网另配代码调试）&lt;/text&gt;&#10;            &lt;/svg&gt;&#10;        &lt;/Box&gt;&#10;&#10;        {/* 下方三卡：价值 */}&#10;        &lt;Box style={{ position: 'absolute', top: 500, left: 0, right: 0, height: 168, flexDirection: 'row', gap: 28 }}&gt;&#10;            {[&#10;                { icon: 'clock', t: '缩短交付周期', d: '重复性产出交给 AI，工程师专注创造性工作，整体交付周期缩短。', c: '#C42819' },&#10;                { icon: 'file-check', t: '提升文档质量', d: '报告与文档规范、完整、可追溯，减少&quot;写文档挤占工作时间&quot;。', c: '#E63F26' },&#10;                { icon: 'brain', t: '沉淀组织经验', d: '分析报告与经验库可持续复用，个人经验转化为组织能力。', c: '#A81810' },&#10;            ].map((item, idx) =&gt; (&#10;                &lt;Box key={idx} style={{ flex: 1, flexDirection: 'row', gap: 16, padding: '18px 20px', borderRadius: 12, border: '1px solid #E5E7EB', background: '#FFFFFF', alignItems: 'center' }}&gt;&#10;                    &lt;Box style={{ width: 48, height: 48, borderRadius: 12, background: item.c, alignItems: 'center', justifyContent: 'center' }}&gt;&#10;                        &lt;FAIcon name={item.icon} style={{ fill: '#FFFFFF', width: 24, height: 24 }} /&gt;&#10;                    &lt;/Box&gt;&#10;                    &lt;Box style={{ flex: 1 }}&gt;&#10;                        &lt;Text style={{ fontSize: 20, fontWeight: 'bold', color: '#171616' }}&gt;{item.t}&lt;/Text&gt;&#10;                        &lt;Text style={{ fontSize: 15, color: '#4B5563', lineHeight: 1.55, marginTop: 4 }}&gt;{item.d}&lt;/Text&gt;&#10;                    &lt;/Box&gt;&#10;                &lt;/Box&gt;&#10;            ))}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7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66750" y="4572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6858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场景三</a:t>
            </a:r>
            <a:r>
              <a:rPr lang="en-US" sz="2700" b="1">
                <a:solidFill>
                  <a:srgbClr val="171616"/>
                </a:solidFill>
                <a:latin typeface="SimSun"/>
                <a:ea typeface="SimSun"/>
              </a:rPr>
              <a:t> · </a:t>
            </a: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智能化工作：覆盖产品研制全链路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9629775" y="514350"/>
            <a:ext cx="1895475" cy="304800"/>
          </a:xfrm>
          <a:prstGeom prst="roundRect">
            <a:avLst>
              <a:gd name="adj" fmla="val 50000"/>
            </a:avLst>
          </a:prstGeom>
          <a:solidFill>
            <a:srgbClr val="FDF3F0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9801225" y="61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972675" y="57150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63F26"/>
                </a:solidFill>
                <a:latin typeface="Microsoft YaHei"/>
                <a:ea typeface="Microsoft YaHei"/>
              </a:rPr>
              <a:t>承载网</a:t>
            </a:r>
            <a:r>
              <a:rPr lang="en-US" sz="1200" b="1">
                <a:solidFill>
                  <a:srgbClr val="E63F26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E63F26"/>
                </a:solidFill>
                <a:latin typeface="Microsoft YaHei"/>
                <a:ea typeface="Microsoft YaHei"/>
              </a:rPr>
              <a:t>办公网为主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666750" y="1123950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研发办公人员的大量时间花在文档、编码、测试与数据分析上——这些正是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最擅长辅助的环节。</a:t>
            </a:r>
            <a:endParaRPr/>
          </a:p>
        </p:txBody>
      </p:sp>
      <p:pic>
        <p:nvPicPr>
          <p:cNvPr id="6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638300"/>
            <a:ext cx="10858500" cy="2857500"/>
          </a:xfrm>
          <a:prstGeom prst="rect">
            <a:avLst/>
          </a:prstGeom>
          <a:ln/>
        </p:spPr>
      </p:pic>
      <p:sp>
        <p:nvSpPr>
          <p:cNvPr id="641" name=""/>
          <p:cNvSpPr/>
          <p:nvPr/>
        </p:nvSpPr>
        <p:spPr>
          <a:xfrm rot="0" flipH="0" flipV="0">
            <a:off x="666750" y="4762500"/>
            <a:ext cx="3438525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857250" y="5334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6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71550" y="5448300"/>
            <a:ext cx="228600" cy="228600"/>
          </a:xfrm>
          <a:prstGeom prst="rect">
            <a:avLst/>
          </a:prstGeom>
          <a:ln/>
        </p:spPr>
      </p:pic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466850" y="5162550"/>
            <a:ext cx="244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缩短交付周期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466850" y="5429250"/>
            <a:ext cx="24479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重复性产出交给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AI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，工程师专注创造性工作，整体交付周期缩短。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4371975" y="4762500"/>
            <a:ext cx="344805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4562475" y="5334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6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76775" y="5448300"/>
            <a:ext cx="228600" cy="228600"/>
          </a:xfrm>
          <a:prstGeom prst="rect">
            <a:avLst/>
          </a:prstGeom>
          <a:ln/>
        </p:spPr>
      </p:pic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5172075" y="5162550"/>
            <a:ext cx="2457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提升文档质量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5172075" y="5429250"/>
            <a:ext cx="2457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报告与文档规范、完整、可追溯，减少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写文档挤占工作时间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8086725" y="4762500"/>
            <a:ext cx="3438525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8277225" y="5334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6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91525" y="5448300"/>
            <a:ext cx="228600" cy="228600"/>
          </a:xfrm>
          <a:prstGeom prst="rect">
            <a:avLst/>
          </a:prstGeom>
          <a:ln/>
        </p:spPr>
      </p:pic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886825" y="5162550"/>
            <a:ext cx="2447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沉淀组织经验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886825" y="5429250"/>
            <a:ext cx="24479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分析报告与经验库可持续复用，个人经验转化为组织能力。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57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658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60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6, fontWeight: 'bold', fontFamily: 'SimSun', color: '#171616', marginLeft: 18 }}&gt;场景四 · 智能问答：知识、制度、经验随问随答&lt;/Text&gt;&#10;            &lt;Box style={{ flex: 1 }} /&gt;&#10;            &lt;Box style={{ padding: '6px 18px', borderRadius: 16, background: '#FDF3F0', border: '1px solid #F0D9CE', flexDirection: 'row', alignItems: 'center', gap: 8 }}&gt;&#10;                &lt;Box style={{ width: 10, height: 10, borderRadius: 5, background: '#C42819' }} /&gt;&#10;                &lt;Text style={{ fontSize: 16, color: '#C42819', fontWeight: 'bold' }}&gt;承载网 · 办公网为主&lt;/Text&gt;&#10;            &lt;/Box&gt;&#10;        &lt;/Box&gt;&#10;&#10;        {/* 主体 左问答示意右价值 */}&#10;        &lt;Box style={{ position: 'absolute', top: 130, left: 0, right: 0, bottom: 52, flexDirection: 'row', gap: 44 }}&gt;&#10;            {/* 左：问答场景示意 SVG */}&#10;            &lt;Box style={{ width: '56%', height: '100%', borderRadius: 16, border: '1px solid #F3E3DB', background: '#FDF6F2', padding: 24 }}&gt;&#10;                &lt;svg width='100%' height='100%' viewBox='0 0 640 420' style={{ display: 'block' }}&gt;&#10;                    {/* 员工提问气泡 */}&#10;                    &lt;rect x='30' y='30' width='380' height='92' rx='16' fill='#FFFFFF' stroke='#E5E7EB' strokeWidth='1.5' /&gt;&#10;                    &lt;circle cx='72' cy='76' r='26' fill='#C42819' /&gt;&#10;                    &lt;text x='72' y='84' textAnchor='middle' fill='#FFFFFF' fontSize='22' fontWeight='bold'&gt;员&lt;/text&gt;&#10;                    &lt;text x='112' y='66' fill='#171616' fontSize='18' fontWeight='bold'&gt;员工提问&lt;/text&gt;&#10;                    &lt;text x='112' y='96' fill='#4B5563' fontSize='16'&gt;&quot;报销流程是什么？新员工转正有哪些制度？&quot;&lt;/text&gt;&#10;&#10;                    {/* 向下箭头 */}&#10;                    &lt;path d='M 220 128 L 220 165' stroke='#E63F26' strokeWidth='3' fill='none' markerEnd='url(#arr9a)' /&gt;&#10;                    &lt;defs&gt;&lt;marker id='arr9a' markerWidth='10' markerHeight='10' refX='7' refY='5' orient='auto'&gt;&lt;path d='M0,0 L10,5 L0,10 Z' fill='#E63F26' /&gt;&lt;/marker&gt;&lt;/defs&gt;&#10;&#10;                    {/* 知识库引擎（办公网） */}&#10;                    &lt;rect x='60' y='172' width='520' height='120' rx='16' fill='#C42819' /&gt;&#10;                    &lt;text x='100' y='212' fill='#FFE79B' fontSize='16' fontWeight='bold'&gt;办公网 · 内部可信知识引擎&lt;/text&gt;&#10;                    &lt;text x='100' y='244' fill='#FFFFFF' fontSize='18'&gt;制度库 · 知识库 · 经验库 · 权限受控&lt;/text&gt;&#10;                    &lt;text x='100' y='272' fill='#FFE79B' fontSize='15'&gt;只回答有依据的内容 · 全程留痕审计&lt;/text&gt;&#10;&#10;                    {/* 向右箭头到回答 */}&#10;                    &lt;path d='M 580 232 H 620' stroke='#E63F26' strokeWidth='3' fill='none' markerEnd='url(#arr9b)' /&gt;&#10;                    &lt;defs&gt;&lt;marker id='arr9b' markerWidth='10' markerHeight='10' refX='7' refY='5' orient='auto'&gt;&lt;path d='M0,0 L10,5 L0,10 Z' fill='#E63F26' /&gt;&lt;/marker&gt;&lt;/defs&gt;&#10;                    &lt;text x='612' y='210' fill='#9CA3AF' fontSize='14'&gt;即时&lt;/text&gt;&#10;&#10;                    {/* 答案气泡 */}&#10;                    &lt;rect x='230' y='320' width='380' height='86' rx='16' fill='#FFFFFF' stroke='#E19825' strokeWidth='2' /&gt;&#10;                    &lt;text x='270' y='352' fill='#171616' fontSize='17' fontWeight='bold'&gt;AI 回答（带依据）&lt;/text&gt;&#10;                    &lt;text x='270' y='380' fill='#4B5563' fontSize='15'&gt;引用制度原文 · 标注来源章节&lt;/text&gt;&#10;                    &lt;circle cx='244' cy='363' r='20' fill='#E19825' /&gt;&#10;                    &lt;text x='244' y='370' textAnchor='middle' fill='#FFFFFF' fontSize='16' fontWeight='bold'&gt;AI&lt;/text&gt;&#10;                &lt;/svg&gt;&#10;            &lt;/Box&gt;&#10;&#10;            {/* 右：价值三卡 */}&#10;            &lt;Box style={{ flex: 1, height: '100%', flexDirection: 'column', gap: 28, justifyContent: 'center' }}&gt;&#10;                {[&#10;                    { icon: 'user-graduate', t: '新员工快速上手', d: '制度、流程、经验随问随答，缩短&quot;找谁问、去哪查&quot;的适应期。', c: '#A81810' },&#10;                    { icon: 'check-double', t: '制度落地不打折', d: '统一口径、有据可依，避免&quot;每个人理解不一样&quot;的执行偏差。', c: '#C42819' },&#10;                    { icon: 'book-open', t: '经验不随人走', d: '把散落的知识沉淀为组织资产，人走了经验留下。', c: '#E63F26' },&#10;                ].map((item, idx) =&gt; (&#10;                    &lt;Box key={idx} style={{ flexDirection: 'row', gap: 18, padding: '22px 22px', borderRadius: 14, border: '1px solid #E5E7EB', background: '#FFFFFF', alignItems: 'center' }}&gt;&#10;                        &lt;Box style={{ width: 58, height: 58, borderRadius: 14, background: item.c, alignItems: 'center', justifyContent: 'center' }}&gt;&#10;                            &lt;FAIcon name={item.icon} style={{ fill: '#FFFFFF', width: 28, height: 28 }} /&gt;&#10;                        &lt;/Box&gt;&#10;                        &lt;Box style={{ flex: 1 }}&gt;&#10;                            &lt;Text style={{ fontSize: 23, fontWeight: 'bold', color: '#171616' }}&gt;{item.t}&lt;/Text&gt;&#10;                            &lt;Text style={{ fontSize: 16, color: '#4B5563', lineHeight: 1.65, marginTop: 6 }}&gt;{item.d}&lt;/Text&gt;&#10;                        &lt;/Box&gt;&#10;                    &lt;/Box&gt;&#10;                ))}&#10;                &lt;Box style={{ flexDirection: 'row', gap: 14, alignItems: 'center', background: '#FDF3F0', borderRadius: 10, padding: '14px 20px' }}&gt;&#10;                    &lt;FAIcon name='lightbulb' style={{ fill: '#C42819', width: 24, height: 24 }} /&gt;&#10;                    &lt;Text style={{ fontSize: 17, color: '#A81810', lineHeight: 1.5 }}&gt;一句话：办公网为知识制度主入口，研发网按需配套——人人都有的&quot;懂制度的老同事&quot;。&lt;/Text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8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666750" y="457200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7543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场景四</a:t>
            </a:r>
            <a:r>
              <a:rPr lang="en-US" sz="2700" b="1">
                <a:solidFill>
                  <a:srgbClr val="171616"/>
                </a:solidFill>
                <a:latin typeface="SimSun"/>
                <a:ea typeface="SimSun"/>
              </a:rPr>
              <a:t> · </a:t>
            </a: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智能问答：知识、制度、经验随问随答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9629775" y="514350"/>
            <a:ext cx="1895475" cy="304800"/>
          </a:xfrm>
          <a:prstGeom prst="roundRect">
            <a:avLst>
              <a:gd name="adj" fmla="val 50000"/>
            </a:avLst>
          </a:prstGeom>
          <a:solidFill>
            <a:srgbClr val="FDF3F0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665" name=""/>
          <p:cNvSpPr/>
          <p:nvPr/>
        </p:nvSpPr>
        <p:spPr>
          <a:xfrm rot="0" flipH="0" flipV="0">
            <a:off x="9801225" y="619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972675" y="57150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2819"/>
                </a:solidFill>
                <a:latin typeface="Microsoft YaHei"/>
                <a:ea typeface="Microsoft YaHei"/>
              </a:rPr>
              <a:t>承载网</a:t>
            </a:r>
            <a:r>
              <a:rPr lang="en-US" sz="1200" b="1">
                <a:solidFill>
                  <a:srgbClr val="C42819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C42819"/>
                </a:solidFill>
                <a:latin typeface="Microsoft YaHei"/>
                <a:ea typeface="Microsoft YaHei"/>
              </a:rPr>
              <a:t>办公网为主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66750" y="1238250"/>
            <a:ext cx="6076950" cy="5124450"/>
          </a:xfrm>
          <a:prstGeom prst="roundRect">
            <a:avLst>
              <a:gd name="adj" fmla="val 2974"/>
            </a:avLst>
          </a:prstGeom>
          <a:solidFill>
            <a:srgbClr val="FDF6F2"/>
          </a:solidFill>
          <a:ln w="12700">
            <a:solidFill>
              <a:srgbClr val="F3E3DB"/>
            </a:solidFill>
            <a:prstDash val="solid"/>
          </a:ln>
        </p:spPr>
        <p:txBody>
          <a:bodyPr/>
          <a:p/>
        </p:txBody>
      </p:sp>
      <p:pic>
        <p:nvPicPr>
          <p:cNvPr id="6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466850"/>
            <a:ext cx="5619750" cy="4667250"/>
          </a:xfrm>
          <a:prstGeom prst="rect">
            <a:avLst/>
          </a:prstGeom>
          <a:ln/>
        </p:spPr>
      </p:pic>
      <p:sp>
        <p:nvSpPr>
          <p:cNvPr id="669" name=""/>
          <p:cNvSpPr/>
          <p:nvPr/>
        </p:nvSpPr>
        <p:spPr>
          <a:xfrm rot="0" flipH="0" flipV="0">
            <a:off x="7162800" y="942975"/>
            <a:ext cx="436245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7372350" y="134302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6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1485900"/>
            <a:ext cx="266700" cy="266700"/>
          </a:xfrm>
          <a:prstGeom prst="rect">
            <a:avLst/>
          </a:prstGeom>
          <a:ln/>
        </p:spPr>
      </p:pic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096250" y="1152525"/>
            <a:ext cx="3219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新员工快速上手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096250" y="1476375"/>
            <a:ext cx="3219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制度、流程、经验随问随答，缩短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找谁问、去哪查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的适应期。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7162800" y="2562225"/>
            <a:ext cx="436245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7372350" y="296227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6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3105150"/>
            <a:ext cx="266700" cy="266700"/>
          </a:xfrm>
          <a:prstGeom prst="rect">
            <a:avLst/>
          </a:prstGeom>
          <a:ln/>
        </p:spPr>
      </p:pic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096250" y="2771775"/>
            <a:ext cx="3219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制度落地不打折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096250" y="3095625"/>
            <a:ext cx="3219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统一口径、有据可依，避免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每个人理解不一样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的执行偏差。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162800" y="4181475"/>
            <a:ext cx="4362450" cy="135255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7372350" y="4581525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6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515225" y="4724400"/>
            <a:ext cx="266700" cy="266700"/>
          </a:xfrm>
          <a:prstGeom prst="rect">
            <a:avLst/>
          </a:prstGeom>
          <a:ln/>
        </p:spPr>
      </p:pic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096250" y="4391025"/>
            <a:ext cx="3219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经验不随人走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096250" y="4714875"/>
            <a:ext cx="3219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把散落的知识沉淀为组织资产，人走了经验留下。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7162800" y="5800725"/>
            <a:ext cx="4362450" cy="857250"/>
          </a:xfrm>
          <a:prstGeom prst="roundRect">
            <a:avLst>
              <a:gd name="adj" fmla="val 11111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6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53300" y="6115050"/>
            <a:ext cx="228600" cy="228600"/>
          </a:xfrm>
          <a:prstGeom prst="rect">
            <a:avLst/>
          </a:prstGeom>
          <a:ln/>
        </p:spPr>
      </p:pic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696200" y="5934075"/>
            <a:ext cx="3638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一句话：办公网为知识制度主入口，研发网按需配套——人人都有的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懂制度的老同事</a:t>
            </a:r>
            <a:r>
              <a:rPr lang="en-US" sz="1275">
                <a:solidFill>
                  <a:srgbClr val="A8181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A8181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91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四个场景，一张价值账&lt;/Text&gt;&#10;            &lt;Box style={{ flex: 1 }} /&gt;&#10;            &lt;Text style={{ fontSize: 20, color: '#C42819', fontWeight: 'bold' }}&gt;价值汇总&lt;/Text&gt;&#10;        &lt;/Box&gt;&#10;&#10;        {/* 四组巨型数字 */}&#10;        &lt;Box style={{ position: 'absolute', top: 160, left: 0, right: 0, flexDirection: 'row', gap: 30 }}&gt;&#10;            {[&#10;                { big: '增值', sub: '产品 AI 化', v: 'AI 能力成为产品可售模块，产品价值与客户黏性双升，形成差异化卖点。', c: '#C42819' },&#10;                { big: '提效', sub: '智能化工作', v: '研制全链路 AI 辅助，把研发办公人员从重复劳动中释放到创造性工作。', c: '#E63F26' },&#10;                { big: '普惠', sub: '智能问答', v: '全员可用的知识入口，制度经验随问随答，组织知识从&quot;人脑&quot;走向&quot;资产&quot;。', c: '#A81810' },&#10;                { big: '安全', sub: '双网都数据不出网', v: '两套部署、完全隔离：研发网与办公网的数据各自不出本网，守住安全底线。', c: '#EE5530' },&#10;            ].map((item, idx) =&gt; (&#10;                &lt;Box key={idx} style={{ flex: 1, borderRadius: 16, border: '1px solid #E5E7EB', background: '#FFFFFF', padding: '28px 24px', alignItems: 'center', flexDirection: 'column' }}&gt;&#10;                    &lt;Text style={{ fontSize: 62, fontWeight: 'bold', color: item.c, fontFamily: 'SimSun' }}&gt;{item.big}&lt;/Text&gt;&#10;                    &lt;Box style={{ width: 44, height: 3, background: item.c, marginTop: 10, marginBottom: 14 }} /&gt;&#10;                    &lt;Text style={{ fontSize: 23, fontWeight: 'bold', color: '#171616', textAlign: 'center' }}&gt;{item.sub}&lt;/Text&gt;&#10;                    &lt;Text style={{ fontSize: 15, color: '#4B5563', lineHeight: 1.65, marginTop: 12, textAlign: 'center' }}&gt;{item.v}&lt;/Text&gt;&#10;                &lt;/Box&gt;&#10;            ))}&#10;        &lt;/Box&gt;&#10;&#10;        {/* 底部洞察条 */}&#10;        &lt;Box style={{ position: 'absolute', bottom: 80, left: 0, right: 0, flexDirection: 'row', alignItems: 'center', gap: 18, background: '#C42819', borderRadius: 14, padding: '22px 30px' }}&gt;&#10;            &lt;FAIcon name='bullseye' style={{ fill: '#FFE79B', width: 36, height: 36 }} /&gt;&#10;            &lt;Box style={{ flex: 1 }}&gt;&#10;                &lt;Text style={{ fontSize: 21, fontWeight: 'bold', color: '#FFFFFF', lineHeight: 1.5 }}&gt;价值不是承诺数字，而是能力定位&lt;/Text&gt;&#10;                &lt;Text style={{ fontSize: 17, color: '#FFE79B', lineHeight: 1.6, marginTop: 4 }}&gt;一套能力设计、两个价值面：对外把 AI 变成产品的竞争力，对内把 AI 变成组织的生产力；两网各自成体系、数据不出网，是这一切的前提与底线。&lt;/Text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9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36195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四个场景，一张价值账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价值汇总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66750" y="1524000"/>
            <a:ext cx="2505075" cy="2743200"/>
          </a:xfrm>
          <a:prstGeom prst="roundRect">
            <a:avLst>
              <a:gd name="adj" fmla="val 60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333500" y="1790700"/>
            <a:ext cx="1181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C42819"/>
                </a:solidFill>
                <a:latin typeface="SimSun"/>
                <a:ea typeface="SimSun"/>
              </a:rPr>
              <a:t>增值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1714500" y="2600325"/>
            <a:ext cx="419100" cy="2857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409700" y="2762250"/>
            <a:ext cx="1028700" cy="266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产品</a:t>
            </a:r>
            <a:r>
              <a:rPr lang="en-US" sz="1725" b="1">
                <a:solidFill>
                  <a:srgbClr val="171616"/>
                </a:solidFill>
                <a:latin typeface="Microsoft YaHei"/>
                <a:ea typeface="Microsoft YaHei"/>
              </a:rPr>
              <a:t> AI </a:t>
            </a: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化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95350" y="3143250"/>
            <a:ext cx="2047875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5000"/>
              </a:lnSpc>
            </a:pP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能力成为产品可售模块，产品价值与客户黏性双升，形成差异化卖点。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3457575" y="1524000"/>
            <a:ext cx="2495550" cy="2743200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4114800" y="1790700"/>
            <a:ext cx="1181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63F26"/>
                </a:solidFill>
                <a:latin typeface="SimSun"/>
                <a:ea typeface="SimSun"/>
              </a:rPr>
              <a:t>提效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4495800" y="2600325"/>
            <a:ext cx="419100" cy="28575"/>
          </a:xfrm>
          <a:prstGeom prst="rect">
            <a:avLst/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4162425" y="2762250"/>
            <a:ext cx="1095375" cy="266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智能化工作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686175" y="3143250"/>
            <a:ext cx="2038350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研制全链路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辅助，把研发办公人员从重复劳动中释放到创造性工作。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238875" y="1524000"/>
            <a:ext cx="2505075" cy="2743200"/>
          </a:xfrm>
          <a:prstGeom prst="roundRect">
            <a:avLst>
              <a:gd name="adj" fmla="val 608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905625" y="1790700"/>
            <a:ext cx="1181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A81810"/>
                </a:solidFill>
                <a:latin typeface="SimSun"/>
                <a:ea typeface="SimSun"/>
              </a:rPr>
              <a:t>普惠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7286625" y="2600325"/>
            <a:ext cx="419100" cy="28575"/>
          </a:xfrm>
          <a:prstGeom prst="rect">
            <a:avLst/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058025" y="2762250"/>
            <a:ext cx="876300" cy="266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智能问答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467475" y="3143250"/>
            <a:ext cx="2047875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全员可用的知识入口，制度经验随问随答，组织知识从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人脑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走向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资产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9029700" y="1524000"/>
            <a:ext cx="2495550" cy="2743200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9686925" y="1790700"/>
            <a:ext cx="1181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E5530"/>
                </a:solidFill>
                <a:latin typeface="SimSun"/>
                <a:ea typeface="SimSun"/>
              </a:rPr>
              <a:t>安全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10067925" y="2600325"/>
            <a:ext cx="419100" cy="2857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9401175" y="2762250"/>
            <a:ext cx="1752600" cy="266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725" b="1">
                <a:solidFill>
                  <a:srgbClr val="171616"/>
                </a:solidFill>
                <a:latin typeface="Microsoft YaHei"/>
                <a:ea typeface="Microsoft YaHei"/>
              </a:rPr>
              <a:t>双网都数据不出网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9258300" y="3143250"/>
            <a:ext cx="2038350" cy="857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5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两套部署、完全隔离：研发网与办公网的数据各自不出本网，守住安全底线。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66750" y="4648200"/>
            <a:ext cx="10858500" cy="1447800"/>
          </a:xfrm>
          <a:prstGeom prst="roundRect">
            <a:avLst>
              <a:gd name="adj" fmla="val 9211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7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5200650"/>
            <a:ext cx="342900" cy="342900"/>
          </a:xfrm>
          <a:prstGeom prst="rect">
            <a:avLst/>
          </a:prstGeom>
          <a:ln/>
        </p:spPr>
      </p:pic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466850" y="4857750"/>
            <a:ext cx="97726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价值不是承诺数字，而是能力定位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466850" y="5257800"/>
            <a:ext cx="97726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一套能力设计、两个价值面：对外把</a:t>
            </a:r>
            <a:r>
              <a:rPr lang="en-US" sz="1275">
                <a:solidFill>
                  <a:srgbClr val="FFE79B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变成产品的竞争力，对内把</a:t>
            </a:r>
            <a:r>
              <a:rPr lang="en-US" sz="1275">
                <a:solidFill>
                  <a:srgbClr val="FFE79B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变成组织的生产力；两网各自成体系、数据不出网，是这一切的前提与底线。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10458450" y="6581775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" name="" descr="&lt;Slide style={{ width: '1280px', height: '720px', background: 'linear-gradient(150deg, #7A0E08 0%, #A81810 32%, #D02A1B 68%, #E8482C 100%)', position: 'relative', overflow: 'hidden' }}&gt;&#10;    {/* 金色光晕 */}&#10;    &lt;Box style={{ position: 'absolute', top: -150, right: -90, width: 520, height: 520, borderRadius: 260, background: 'radial-gradient(circle, rgba(255,215,0,0.22) 0%, rgba(255,215,0,0) 70%)' }} /&gt;&#10;    &lt;Box style={{ position: 'absolute', bottom: -160, left: -120, width: 460, height: 460, borderRadius: 230, background: 'radial-gradient(circle, rgba(255,231,155,0.15) 0%, rgba(255,231,155,0) 70%)' }} /&gt;&#10;    {/* 顶部细金线 */}&#10;    &lt;Box style={{ position: 'absolute', top: 0, left: 0, width: '100%', height: 6, background: 'linear-gradient(90deg, #FFE79B 0%, #FFD700 30%, #E19825 60%, #FFE79B 100%)' }} /&gt;&#10;&#10;    {/* 主内容 */}&#10;    &lt;Box style={{ position: 'relative', zIndex: 2, width: '100%', height: '100%', padding: '40px 60px', flexDirection: 'column' }}&gt;&#10;        {/* 标题区 */}&#10;        &lt;Box style={{ flexDirection: 'row', alignItems: 'center' }}&gt;&#10;            &lt;Box style={{ width: 8, height: 40, background: '#FFD700', borderRadius: 3 }} /&gt;&#10;            &lt;Box style={{ flexDirection: 'column', marginLeft: 16, flex: 1 }}&gt;&#10;                &lt;Text style={{ fontSize: 38, fontWeight: 'bold', fontFamily: 'SimSun', color: '#FFFFFF' }}&gt;怎么建：两张网，两套完整闭环的 AI 底座&lt;/Text&gt;&#10;                &lt;Text style={{ fontSize: 16, color: 'rgba(255,231,155,0.9)', marginTop: 4, letterSpacing: 1 }}&gt;同一套设计规范 · 两套独立部署 · 网间物理隔离 · 能力各自闭环&lt;/Text&gt;&#10;            &lt;/Box&gt;&#10;        &lt;/Box&gt;&#10;&#10;        {/* 主体：两套架构并置 */}&#10;        &lt;Box style={{ flexDirection: 'row', marginTop: 20, alignItems: 'stretch', minHeight: 0 }}&gt;&#10;            {/* 左：研发网套件 */}&#10;            &lt;Box style={{ flex: 1, borderRadius: 16, background: 'rgba(255,255,255,0.97)', padding: 16, flexDirection: 'column' }}&gt;&#10;                &lt;Box style={{ flexDirection: 'row', alignItems: 'center', gap: 10, marginBottom: 12 }}&gt;&#10;                    &lt;FAIcon name='flask' style={{ fill: '#A81810', width: 24, height: 24 }} /&gt;&#10;                    &lt;Text style={{ fontSize: 24, fontWeight: 'bold', color: '#A81810' }}&gt;研发网 · 一套&lt;/Text&gt;&#10;                    &lt;Box style={{ flex: 1 }} /&gt;&#10;                    &lt;Text style={{ fontSize: 14, color: '#6B7280' }}&gt;实验室专用&lt;/Text&gt;&#10;                &lt;/Box&gt;&#10;                {/* 四层：算力→模型→能力→应用 */}&#10;                {[&#10;                    { layer: '应用层', items: ['产品 AI 化能力', 'AI 技术研究环境'], icon: 'cube', c: '#C42819' },&#10;                    { layer: '能力层', items: ['训练调优 · 评测 · 提示工程'], icon: 'layer-group', c: '#E63F26' },&#10;                    { layer: '模型层', items: ['基础模型 + 行业微调模型'], icon: 'brain', c: '#A81810' },&#10;                    { layer: '算力层', items: ['本地化训练/推理算力集群'], icon: 'microchip', c: '#171616' },&#10;                ].map((item, idx) =&gt; (&#10;                    &lt;Box key={idx} style={{ flexDirection: 'row', alignItems: 'center', marginBottom: 8 }}&gt;&#10;                        &lt;Box style={{ width: 86, flexShrink: 0 }}&gt;&#10;                            &lt;Text style={{ fontSize: 14, fontWeight: 'bold', color: item.c }}&gt;{item.layer}&lt;/Text&gt;&#10;                        &lt;/Box&gt;&#10;                        &lt;Box style={{ flex: 1, borderRadius: 8, background: '#FDF3F0', padding: '7px 12px', flexDirection: 'row', alignItems: 'center', gap: 8 }}&gt;&#10;                            &lt;FAIcon name={item.icon} style={{ fill: item.c, width: 16, height: 16 }} /&gt;&#10;                            &lt;Text style={{ fontSize: 15, color: '#171616', fontWeight: 'bold' }}&gt;{item.items[0]}&lt;/Text&gt;&#10;                        &lt;/Box&gt;&#10;                    &lt;/Box&gt;&#10;                ))}&#10;                &lt;Text style={{ fontSize: 13, color: '#9CA3AF', textAlign: 'center', marginTop: 4 }}&gt;模型训练调优与产品 AI 化成果在研发网闭环&lt;/Text&gt;&#10;            &lt;/Box&gt;&#10;&#10;            {/* 中：物理隔离隔断 */}&#10;            &lt;Box style={{ width: 110, flexDirection: 'column', alignItems: 'center', justifyContent: 'center', gap: 6, flexShrink: 0 }}&gt;&#10;                &lt;Box style={{ width: 66, height: 66, borderRadius: 33, background: '#FFD700', alignItems: 'center', justifyContent: 'center' }}&gt;&#10;                    &lt;FAIcon name='lock' style={{ fill: '#A81810', width: 30, height: 30 }} /&gt;&#10;                &lt;/Box&gt;&#10;                &lt;Text style={{ fontSize: 17, fontWeight: 'bold', color: '#FFFFFF', textAlign: 'center', lineHeight: 1.3 }}&gt;物理隔离&lt;/Text&gt;&#10;                &lt;Text style={{ fontSize: 13, color: 'rgba(255,231,155,0.9)', textAlign: 'center' }}&gt;无逻辑通道&lt;/Text&gt;&#10;                &lt;Text style={{ fontSize: 13, color: 'rgba(255,231,155,0.9)', textAlign: 'center' }}&gt;成果不跨网&lt;/Text&gt;&#10;            &lt;/Box&gt;&#10;&#10;            {/* 右：办公网套件 */}&#10;            &lt;Box style={{ flex: 1, borderRadius: 16, background: 'rgba(255,255,255,0.97)', padding: 16, flexDirection: 'column' }}&gt;&#10;                &lt;Box style={{ flexDirection: 'row', alignItems: 'center', gap: 10, marginBottom: 12 }}&gt;&#10;                    &lt;FAIcon name='building' style={{ fill: '#E63F26', width: 24, height: 24 }} /&gt;&#10;                    &lt;Text style={{ fontSize: 24, fontWeight: 'bold', color: '#E63F26' }}&gt;办公网 · 一套&lt;/Text&gt;&#10;                    &lt;Box style={{ flex: 1 }} /&gt;&#10;                    &lt;Text style={{ fontSize: 14, color: '#6B7280' }}&gt;员工开发办公&lt;/Text&gt;&#10;                &lt;/Box&gt;&#10;                {[&#10;                    { layer: '应用层', items: ['智能化工作 · 智能问答'], icon: 'comments', c: '#E63F26' },&#10;                    { layer: '能力层', items: ['文档 · 代码 · 报告 · 数据分析'], icon: 'layer-group', c: '#C42819' },&#10;                    { layer: '模型层', items: ['基础模型 + 知识库检索增强'], icon: 'book-open', c: '#A81810' },&#10;                    { layer: '算力层', items: ['本地化推理算力集群'], icon: 'microchip', c: '#171616' },&#10;                ].map((item, idx) =&gt; (&#10;                    &lt;Box key={idx} style={{ flexDirection: 'row', alignItems: 'center', marginBottom: 8 }}&gt;&#10;                        &lt;Box style={{ width: 86, flexShrink: 0 }}&gt;&#10;                            &lt;Text style={{ fontSize: 14, fontWeight: 'bold', color: item.c }}&gt;{item.layer}&lt;/Text&gt;&#10;                        &lt;/Box&gt;&#10;                        &lt;Box style={{ flex: 1, borderRadius: 8, background: '#FFF7F4', padding: '7px 12px', flexDirection: 'row', alignItems: 'center', gap: 8 }}&gt;&#10;                            &lt;FAIcon name={item.icon} style={{ fill: item.c, width: 16, height: 16 }} /&gt;&#10;                            &lt;Text style={{ fontSize: 15, color: '#171616', fontWeight: 'bold' }}&gt;{item.items[0]}&lt;/Text&gt;&#10;                        &lt;/Box&gt;&#10;                    &lt;/Box&gt;&#10;                ))}&#10;                &lt;Text style={{ fontSize: 13, color: '#9CA3AF', textAlign: 'center', marginTop: 4 }}&gt;文档·代码·问答·管理报告与数据分析在办公网闭环&lt;/Text&gt;&#10;            &lt;/Box&gt;&#10;        &lt;/Box&gt;&#10;&#10;        {/* 底部三原则 */}&#10;        &lt;Box style={{ flexDirection: 'row', gap: 24, marginTop: 18, alignItems: 'stretch' }}&gt;&#10;            {[&#10;                { icon: 'shield', t: '自主可控', d: '本地化部署 · 模型可替换不绑定', c: '#FFD700' },&#10;                { icon: 'lock', t: '安全合规', d: '网间物理隔离 · 数据各自不出网', c: '#FFD700' },&#10;                { icon: 'sync', t: '弹性演进', d: '两套按需校准 · 分期建设 · 先 POC 后全量', c: '#FFD700' },&#10;            ].map((item, idx) =&gt; (&#10;                &lt;Box key={idx} style={{ flex: 1, flexDirection: 'row', gap: 14, alignItems: 'center', borderRadius: 12, background: 'rgba(255,255,255,0.12)', border: '1px solid rgba(255,215,0,0.35)', padding: '14px 18px' }}&gt;&#10;                    &lt;FAIcon name={item.icon} style={{ fill: item.c, width: 28, height: 28 }} /&gt;&#10;                    &lt;Box style={{ flex: 1 }}&gt;&#10;                        &lt;Text style={{ fontSize: 19, fontWeight: 'bold', color: '#FFFFFF' }}&gt;{item.t}&lt;/Text&gt;&#10;                        &lt;Text style={{ fontSize: 14, color: 'rgba(255,231,155,0.95)', marginTop: 2 }}&gt;{item.d}&lt;/Text&gt;&#10;                    &lt;/Box&gt;&#10;                &lt;/Box&gt;&#10;            ))}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0E08"/>
              </a:gs>
              <a:gs pos="32000">
                <a:srgbClr val="A81810"/>
              </a:gs>
              <a:gs pos="68000">
                <a:srgbClr val="D02A1B"/>
              </a:gs>
              <a:gs pos="100000">
                <a:srgbClr val="E8482C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8096250" y="-1428750"/>
            <a:ext cx="4953000" cy="4953000"/>
          </a:xfrm>
          <a:custGeom>
            <a:pathLst>
              <a:path w="520" h="520">
                <a:moveTo>
                  <a:pt x="430" y="457"/>
                </a:moveTo>
                <a:lnTo>
                  <a:pt x="425" y="461"/>
                </a:lnTo>
                <a:lnTo>
                  <a:pt x="420" y="465"/>
                </a:ln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4" y="150"/>
                </a:lnTo>
                <a:lnTo>
                  <a:pt x="430" y="150"/>
                </a:lnTo>
                <a:close/>
              </a:path>
            </a:pathLst>
          </a:custGeom>
          <a:gradFill>
            <a:gsLst>
              <a:gs pos="0">
                <a:srgbClr val="FFD700">
                  <a:alpha val="22000"/>
                </a:srgbClr>
              </a:gs>
              <a:gs pos="70000">
                <a:srgbClr val="FFD7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-1143000" y="40005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4" y="282"/>
                </a:lnTo>
                <a:lnTo>
                  <a:pt x="453" y="287"/>
                </a:lnTo>
                <a:lnTo>
                  <a:pt x="451" y="293"/>
                </a:lnTo>
                <a:lnTo>
                  <a:pt x="450" y="298"/>
                </a:lnTo>
                <a:lnTo>
                  <a:pt x="449" y="300"/>
                </a:lnTo>
                <a:lnTo>
                  <a:pt x="120" y="300"/>
                </a:lnTo>
                <a:lnTo>
                  <a:pt x="120" y="28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FFE79B">
                  <a:alpha val="15000"/>
                </a:srgbClr>
              </a:gs>
              <a:gs pos="70000">
                <a:srgbClr val="FFE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FE79B"/>
              </a:gs>
              <a:gs pos="30000">
                <a:srgbClr val="FFD700"/>
              </a:gs>
              <a:gs pos="60000">
                <a:srgbClr val="E19825"/>
              </a:gs>
              <a:gs pos="100000">
                <a:srgbClr val="FFE79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571500" y="523875"/>
            <a:ext cx="76200" cy="381000"/>
          </a:xfrm>
          <a:prstGeom prst="roundRect">
            <a:avLst>
              <a:gd name="adj" fmla="val 37500"/>
            </a:avLst>
          </a:prstGeom>
          <a:solidFill>
            <a:srgbClr val="FFD700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00100" y="381000"/>
            <a:ext cx="108204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SimSun"/>
                <a:ea typeface="SimSun"/>
              </a:rPr>
              <a:t>怎么建：两张网，两套完整闭环的</a:t>
            </a:r>
            <a:r>
              <a:rPr lang="en-US" sz="2850" b="1">
                <a:solidFill>
                  <a:srgbClr val="FFFFFF"/>
                </a:solidFill>
                <a:latin typeface="SimSun"/>
                <a:ea typeface="SimSun"/>
              </a:rPr>
              <a:t> AI </a:t>
            </a:r>
            <a:r>
              <a:rPr lang="zh-CN" sz="2850" b="1">
                <a:solidFill>
                  <a:srgbClr val="FFFFFF"/>
                </a:solidFill>
                <a:latin typeface="SimSun"/>
                <a:ea typeface="SimSun"/>
              </a:rPr>
              <a:t>底座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00100" y="857250"/>
            <a:ext cx="1082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同一套设计规范</a:t>
            </a:r>
            <a:r>
              <a:rPr lang="en-US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两套独立部署</a:t>
            </a:r>
            <a:r>
              <a:rPr lang="en-US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网间物理隔离</a:t>
            </a:r>
            <a:r>
              <a:rPr lang="en-US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 spc="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能力各自闭环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71500" y="1238250"/>
            <a:ext cx="5000625" cy="2409825"/>
          </a:xfrm>
          <a:prstGeom prst="roundRect">
            <a:avLst>
              <a:gd name="adj" fmla="val 6324"/>
            </a:avLst>
          </a:prstGeom>
          <a:solidFill>
            <a:srgbClr val="FFFFFF">
              <a:alpha val="97000"/>
            </a:srgbClr>
          </a:solidFill>
          <a:ln/>
        </p:spPr>
        <p:txBody>
          <a:bodyPr/>
          <a:p/>
        </p:txBody>
      </p:sp>
      <p:pic>
        <p:nvPicPr>
          <p:cNvPr id="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419225"/>
            <a:ext cx="228600" cy="228600"/>
          </a:xfrm>
          <a:prstGeom prst="rect">
            <a:avLst/>
          </a:prstGeom>
          <a:ln/>
        </p:spPr>
      </p:pic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47750" y="1390650"/>
            <a:ext cx="1381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A81810"/>
                </a:solidFill>
                <a:latin typeface="Microsoft YaHei"/>
                <a:ea typeface="Microsoft YaHei"/>
              </a:rPr>
              <a:t>研发网</a:t>
            </a:r>
            <a:r>
              <a:rPr lang="en-US" sz="1800" b="1">
                <a:solidFill>
                  <a:srgbClr val="A81810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A81810"/>
                </a:solidFill>
                <a:latin typeface="Microsoft YaHei"/>
                <a:ea typeface="Microsoft YaHei"/>
              </a:rPr>
              <a:t>一套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752975" y="14478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实验室专用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23900" y="1857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2819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1543050" y="1781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1857375"/>
            <a:ext cx="152400" cy="15240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885950" y="1847850"/>
            <a:ext cx="962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产品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AI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化能力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23900" y="2238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63F26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1543050" y="2162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2238375"/>
            <a:ext cx="152400" cy="152400"/>
          </a:xfrm>
          <a:prstGeom prst="rect">
            <a:avLst/>
          </a:prstGeom>
          <a:ln/>
        </p:spPr>
      </p:pic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885950" y="2228850"/>
            <a:ext cx="1733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训练调优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评测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提示工程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23900" y="2619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1810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543050" y="2543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2619375"/>
            <a:ext cx="152400" cy="152400"/>
          </a:xfrm>
          <a:prstGeom prst="rect">
            <a:avLst/>
          </a:prstGeom>
          <a:ln/>
        </p:spPr>
      </p:pic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885950" y="2609850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基础模型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行业微调模型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3900" y="3000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71616"/>
                </a:solidFill>
                <a:latin typeface="Microsoft YaHei"/>
                <a:ea typeface="Microsoft YaHei"/>
              </a:rPr>
              <a:t>算力层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1543050" y="2924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3000375"/>
            <a:ext cx="152400" cy="15240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885950" y="2990850"/>
            <a:ext cx="164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本地化训练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推理算力集群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23900" y="3343275"/>
            <a:ext cx="46958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模型训练调优与产品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化成果在研发网闭环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781675" y="1762125"/>
            <a:ext cx="628650" cy="62865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1933575"/>
            <a:ext cx="285750" cy="285750"/>
          </a:xfrm>
          <a:prstGeom prst="rect">
            <a:avLst/>
          </a:prstGeom>
          <a:ln/>
        </p:spPr>
      </p:pic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72150" y="2447925"/>
            <a:ext cx="6477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物理隔离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91200" y="2762250"/>
            <a:ext cx="6191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无逻辑通道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91200" y="2971800"/>
            <a:ext cx="6191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E79B">
                    <a:alpha val="90000"/>
                  </a:srgbClr>
                </a:solidFill>
                <a:latin typeface="Microsoft YaHei"/>
                <a:ea typeface="Microsoft YaHei"/>
              </a:rPr>
              <a:t>成果不跨网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619875" y="1238250"/>
            <a:ext cx="5000625" cy="2409825"/>
          </a:xfrm>
          <a:prstGeom prst="roundRect">
            <a:avLst>
              <a:gd name="adj" fmla="val 6324"/>
            </a:avLst>
          </a:prstGeom>
          <a:solidFill>
            <a:srgbClr val="FFFFFF">
              <a:alpha val="97000"/>
            </a:srgbClr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72275" y="1419225"/>
            <a:ext cx="228600" cy="228600"/>
          </a:xfrm>
          <a:prstGeom prst="rect">
            <a:avLst/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096125" y="1390650"/>
            <a:ext cx="1381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63F26"/>
                </a:solidFill>
                <a:latin typeface="Microsoft YaHei"/>
                <a:ea typeface="Microsoft YaHei"/>
              </a:rPr>
              <a:t>办公网</a:t>
            </a:r>
            <a:r>
              <a:rPr lang="en-US" sz="1800" b="1">
                <a:solidFill>
                  <a:srgbClr val="E63F26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E63F26"/>
                </a:solidFill>
                <a:latin typeface="Microsoft YaHei"/>
                <a:ea typeface="Microsoft YaHei"/>
              </a:rPr>
              <a:t>一套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668000" y="14478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员工开发办公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772275" y="1857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63F26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7591425" y="1781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05725" y="1857375"/>
            <a:ext cx="152400" cy="152400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934325" y="184785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智能化工作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智能问答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772275" y="2238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2819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591425" y="2162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05725" y="2238375"/>
            <a:ext cx="152400" cy="15240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934325" y="2228850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文档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代码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报告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数据分析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772275" y="2619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A81810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591425" y="2543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05725" y="2619375"/>
            <a:ext cx="152400" cy="15240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934325" y="26098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基础模型</a:t>
            </a:r>
            <a:r>
              <a:rPr lang="en-US" sz="1125" b="1">
                <a:solidFill>
                  <a:srgbClr val="171616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知识库检索增强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772275" y="3000375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71616"/>
                </a:solidFill>
                <a:latin typeface="Microsoft YaHei"/>
                <a:ea typeface="Microsoft YaHei"/>
              </a:rPr>
              <a:t>算力层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591425" y="2924175"/>
            <a:ext cx="3876675" cy="304800"/>
          </a:xfrm>
          <a:prstGeom prst="roundRect">
            <a:avLst>
              <a:gd name="adj" fmla="val 25000"/>
            </a:avLst>
          </a:prstGeom>
          <a:solidFill>
            <a:srgbClr val="FFF7F4"/>
          </a:solidFill>
          <a:ln/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05725" y="3000375"/>
            <a:ext cx="152400" cy="15240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934325" y="29908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71616"/>
                </a:solidFill>
                <a:latin typeface="Microsoft YaHei"/>
                <a:ea typeface="Microsoft YaHei"/>
              </a:rPr>
              <a:t>本地化推理算力集群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772275" y="3343275"/>
            <a:ext cx="46958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文档·代码·问答·管理报告与数据分析在办公网闭环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3819525"/>
            <a:ext cx="3533775" cy="66675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4019550"/>
            <a:ext cx="266700" cy="2667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43000" y="39528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自主可控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43000" y="41910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本地化部署</a:t>
            </a:r>
            <a:r>
              <a:rPr lang="en-US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模型可替换不绑定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333875" y="3819525"/>
            <a:ext cx="3524250" cy="66675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05325" y="4019550"/>
            <a:ext cx="266700" cy="266700"/>
          </a:xfrm>
          <a:prstGeom prst="rect">
            <a:avLst/>
          </a:prstGeom>
          <a:ln/>
        </p:spPr>
      </p:pic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905375" y="3952875"/>
            <a:ext cx="2781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安全合规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905375" y="419100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网间物理隔离</a:t>
            </a:r>
            <a:r>
              <a:rPr lang="en-US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数据各自不出网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8086725" y="3819525"/>
            <a:ext cx="3533775" cy="666750"/>
          </a:xfrm>
          <a:prstGeom prst="roundRect">
            <a:avLst>
              <a:gd name="adj" fmla="val 171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258175" y="4019550"/>
            <a:ext cx="266700" cy="266700"/>
          </a:xfrm>
          <a:prstGeom prst="rect">
            <a:avLst/>
          </a:pr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658225" y="39528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弹性演进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658225" y="4191000"/>
            <a:ext cx="2790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两套按需校准</a:t>
            </a:r>
            <a:r>
              <a:rPr lang="en-US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分期建设</a:t>
            </a:r>
            <a:r>
              <a:rPr lang="en-US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先</a:t>
            </a:r>
            <a:r>
              <a:rPr lang="en-US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 POC </a:t>
            </a:r>
            <a:r>
              <a:rPr lang="zh-CN" sz="1050">
                <a:solidFill>
                  <a:srgbClr val="FFE79B">
                    <a:alpha val="95000"/>
                  </a:srgbClr>
                </a:solidFill>
                <a:latin typeface="Microsoft YaHei"/>
                <a:ea typeface="Microsoft YaHei"/>
              </a:rPr>
              <a:t>后全量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为什么本地自建：约束决定路线&lt;/Text&gt;&#10;            &lt;Box style={{ flex: 1 }} /&gt;&#10;            &lt;Text style={{ fontSize: 20, color: '#C42819', fontWeight: 'bold' }}&gt;方案理由&lt;/Text&gt;&#10;        &lt;/Box&gt;&#10;&#10;        {/* 主体 左 三条理由，右 判断 */}&#10;        &lt;Box style={{ position: 'absolute', top: 130, left: 0, right: 0, bottom: 52, flexDirection: 'row', gap: 40 }}&gt;&#10;            {/* 左：三条理由 */}&#10;            &lt;Box style={{ width: '58%', height: '100%', flexDirection: 'column', gap: 28, justifyContent: 'center' }}&gt;&#10;                {[&#10;                    { icon: 'lock', t: '理由一 · 数据不出网是硬要求', d: '研发代码、产品数据、制度知识分属两张物理隔离的网——在各自隔离的约束下，外部公共云服务天然不可用，本地化部署是唯一满足&quot;数据不出网&quot;的路线。', c: '#C42819' },&#10;                    { icon: 'coins', t: '理由二 · 长期成本更可控', d: '两套自建按产能一次性投资，规模可由各网实际使用人数校准；相比按量持续付费，用得越多、自建越划算。', c: '#E63F26' },&#10;                    { icon: 'flag-checkered', t: '理由三 · 自主可控、可演进', d: '国产化算力与开源模型栈，不依赖单一外部供应商；模型可换、底座不换，掌握长期演进主动权。', c: '#A81810' },&#10;                ].map((item, idx) =&gt; (&#10;                    &lt;Box key={idx} style={{ flexDirection: 'row', gap: 20, alignItems: 'flex-start', padding: '20px 24px', borderRadius: 14, border: '1px solid #E5E7EB', background: '#FFFFFF' }}&gt;&#10;                        &lt;Box style={{ width: 58, height: 58, borderRadius: 15, background: item.c, alignItems: 'center', justifyContent: 'center', flexShrink: 0 }}&gt;&#10;                            &lt;FAIcon name={item.icon} style={{ fill: '#FFFFFF', width: 28, height: 28 }} /&gt;&#10;                        &lt;/Box&gt;&#10;                        &lt;Box style={{ flex: 1 }}&gt;&#10;                            &lt;Text style={{ fontSize: 22, fontWeight: 'bold', color: '#171616' }}&gt;{item.t}&lt;/Text&gt;&#10;                            &lt;Text style={{ fontSize: 16, color: '#4B5563', lineHeight: 1.7, marginTop: 7 }}&gt;{item.d}&lt;/Text&gt;&#10;                        &lt;/Box&gt;&#10;                    &lt;/Box&gt;&#10;                ))}&#10;            &lt;/Box&gt;&#10;&#10;            {/* 右：判断卡 */}&#10;            &lt;Box style={{ flex: 1, height: '100%', justifyContent: 'center' }}&gt;&#10;                &lt;Box style={{ borderRadius: 18, background: '#C42819', padding: '30px 28px', flexDirection: 'column' }}&gt;&#10;                    &lt;Text style={{ fontSize: 24, fontWeight: 'bold', color: '#FFFFFF', lineHeight: 1.5 }}&gt;结论：两套本地化部署，不是可选项，是约束的必然&lt;/Text&gt;&#10;                    &lt;Box style={{ width: 56, height: 3, background: '#FFD700', margin: '18px 0' }} /&gt;&#10;                    &lt;Text style={{ fontSize: 17, color: '#FFE79B', lineHeight: 1.8 }}&gt;物理隔离的双网结构决定了 AI 底座必须落地在本地、并且各自成一套。任何&quot;租用外部服务、两网共用&quot;的设想，都与隔离约束直接冲突。&lt;/Text&gt;&#10;                    &lt;Box style={{ marginTop: 20, padding: '14px 18px', borderRadius: 10, background: 'rgba(255,255,255,0.14)' }}&gt;&#10;                        &lt;Text style={{ fontSize: 16, color: '#FFFFFF', lineHeight: 1.6 }}&gt;对外不依赖、对内可调优、网间可隔离——这就是为什么必须自建。&lt;/Text&gt;&#10;                    &lt;/Box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1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50673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为什么本地自建：约束决定路线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方案理由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6750" y="1381125"/>
            <a:ext cx="6296025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95350" y="15716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714500"/>
            <a:ext cx="266700" cy="266700"/>
          </a:xfrm>
          <a:prstGeom prst="rect">
            <a:avLst/>
          </a:prstGeom>
          <a:ln/>
        </p:spPr>
      </p:pic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638300" y="1571625"/>
            <a:ext cx="5095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理由一</a:t>
            </a:r>
            <a:r>
              <a:rPr lang="en-US" sz="165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数据不出网是硬要求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638300" y="1895475"/>
            <a:ext cx="50958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研发代码、产品数据、制度知识分属两张物理隔离的网——在各自隔离的约束下，外部公共云服务天然不可用，本地化部署是唯一满足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数据不出网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的路线。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66750" y="3286125"/>
            <a:ext cx="6296025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895350" y="34766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3619500"/>
            <a:ext cx="266700" cy="26670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638300" y="3476625"/>
            <a:ext cx="5095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理由二</a:t>
            </a:r>
            <a:r>
              <a:rPr lang="en-US" sz="165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长期成本更可控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638300" y="3800475"/>
            <a:ext cx="50958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两套自建按产能一次性投资，规模可由各网实际使用人数校准；相比按量持续付费，用得越多、自建越划算。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66750" y="4886325"/>
            <a:ext cx="6296025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895350" y="5076825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5219700"/>
            <a:ext cx="266700" cy="266700"/>
          </a:xfrm>
          <a:prstGeom prst="rect">
            <a:avLst/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638300" y="5076825"/>
            <a:ext cx="5095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理由三</a:t>
            </a:r>
            <a:r>
              <a:rPr lang="en-US" sz="165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171616"/>
                </a:solidFill>
                <a:latin typeface="Microsoft YaHei"/>
                <a:ea typeface="Microsoft YaHei"/>
              </a:rPr>
              <a:t>自主可控、可演进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638300" y="5400675"/>
            <a:ext cx="50958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国产化算力与开源模型栈，不依赖单一外部供应商；模型可换、底座不换，掌握长期演进主动权。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343775" y="1866900"/>
            <a:ext cx="4181475" cy="3876675"/>
          </a:xfrm>
          <a:prstGeom prst="roundRect">
            <a:avLst>
              <a:gd name="adj" fmla="val 4423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610475" y="2152650"/>
            <a:ext cx="36480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结论：两套本地化部署，不是可选项，是约束的必然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610475" y="3152775"/>
            <a:ext cx="533400" cy="28575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610475" y="3352800"/>
            <a:ext cx="364807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物理隔离的双网结构决定了</a:t>
            </a:r>
            <a:r>
              <a:rPr lang="en-US" sz="1275">
                <a:solidFill>
                  <a:srgbClr val="FFE79B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底座必须落地在本地、并且各自成一套。任何</a:t>
            </a:r>
            <a:r>
              <a:rPr lang="en-US" sz="1275">
                <a:solidFill>
                  <a:srgbClr val="FFE79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租用外部服务、两网共用</a:t>
            </a:r>
            <a:r>
              <a:rPr lang="en-US" sz="1275">
                <a:solidFill>
                  <a:srgbClr val="FFE79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E79B"/>
                </a:solidFill>
                <a:latin typeface="Microsoft YaHei"/>
                <a:ea typeface="Microsoft YaHei"/>
              </a:rPr>
              <a:t>的设想，都与隔离约束直接冲突。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610475" y="4600575"/>
            <a:ext cx="3648075" cy="857250"/>
          </a:xfrm>
          <a:prstGeom prst="roundRect">
            <a:avLst>
              <a:gd name="adj" fmla="val 11111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781925" y="4733925"/>
            <a:ext cx="33051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对外不依赖、对内可调优、网间可隔离——这就是为什么必须自建。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372725" y="6581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5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安全设计：两张网，就是两道边界&lt;/Text&gt;&#10;            &lt;Box style={{ flex: 1 }} /&gt;&#10;            &lt;Text style={{ fontSize: 20, color: '#C42819', fontWeight: 'bold' }}&gt;安全设计&lt;/Text&gt;&#10;        &lt;/Box&gt;&#10;&#10;        {/* 三条红线大卡 */}&#10;        &lt;Box style={{ position: 'absolute', top: 150, left: 0, right: 0, height: 360, flexDirection: 'row', gap: 30 }}&gt;&#10;            {[&#10;                { icon: 'lock', t: '红线一 · 网间物理隔离', d1: '两网之间不存在任何逻辑通道', d2: '研发网与办公网的 AI 底座各自独立，数据与成果互不跨网流转', tag: '与既有网络边界一致', c: '#C42819' },&#10;                { icon: 'user-shield', t: '红线二 · 网内权限分级', d1: '同一张网内仍按角色分级', d2: '按岗位与数据密级控制模型可访问的范围，最小授权、各取所需', tag: '最小授权原则', c: '#E63F26' },&#10;                { icon: 'file-signature', t: '红线三 · 全程审计', d1: '谁问了什么、模型答了什么', d2: '全链路留痕、可追溯、可复盘，异常行为可告警', tag: '责任可追溯', c: '#A81810' },&#10;            ].map((item, idx) =&gt; (&#10;                &lt;Box key={idx} style={{ flex: 1, borderRadius: 18, border: '2px solid ' + item.c, background: '#FFFFFF', flexDirection: 'column', padding: '26px 26px' }}&gt;&#10;                    &lt;Box style={{ flexDirection: 'row', alignItems: 'center', gap: 16 }}&gt;&#10;                        &lt;Box style={{ width: 62, height: 62, borderRadius: 16, background: item.c, alignItems: 'center', justifyContent: 'center' }}&gt;&#10;                            &lt;FAIcon name={item.icon} style={{ fill: '#FFFFFF', width: 30, height: 30 }} /&gt;&#10;                        &lt;/Box&gt;&#10;                        &lt;Text style={{ fontSize: 24, fontWeight: 'bold', color: '#171616' }}&gt;{item.t}&lt;/Text&gt;&#10;                    &lt;/Box&gt;&#10;                    &lt;Box style={{ height: 2, background: '#F0D9CE', margin: '18px 0' }} /&gt;&#10;                    &lt;Text style={{ fontSize: 17, color: '#171616', lineHeight: 1.6 }}&gt;&lt;span style={{ fontWeight: 'bold', color: item.c }}&gt;· &lt;/span&gt;{item.d1}&lt;/Text&gt;&#10;                    &lt;Text style={{ fontSize: 17, color: '#4B5563', lineHeight: 1.6, marginTop: 8 }}&gt;&lt;span style={{ fontWeight: 'bold', color: item.c }}&gt;· &lt;/span&gt;{item.d2}&lt;/Text&gt;&#10;                    &lt;Box style={{ flex: 1 }} /&gt;&#10;                    &lt;Box style={{ alignSelf: 'flex-start', padding: '6px 18px', borderRadius: 16, background: '#FDF3F0', marginTop: 12 }}&gt;&#10;                        &lt;Text style={{ fontSize: 15, fontWeight: 'bold', color: item.c }}&gt;{item.tag}&lt;/Text&gt;&#10;                    &lt;/Box&gt;&#10;                &lt;/Box&gt;&#10;            ))}&#10;        &lt;/Box&gt;&#10;&#10;        {/* 底部洞察 */}&#10;        &lt;Box style={{ position: 'absolute', bottom: 72, left: 0, right: 0, flexDirection: 'row', gap: 14, alignItems: 'center', background: '#C42819', borderRadius: 14, padding: '18px 28px' }}&gt;&#10;            &lt;FAIcon name='shield-halved' style={{ fill: '#FFE79B', width: 32, height: 32 }} /&gt;&#10;            &lt;Text style={{ fontSize: 19, color: '#FFFFFF', lineHeight: 1.6 }}&gt;判断：安全不是成本，而是前提——两套部署是双网隔离约束的必然结果，不是重复浪费。&lt;/Text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2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54292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安全设计：两张网，就是两道边界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安全设计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66750" y="14287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2819"/>
            </a:solidFill>
            <a:prstDash val="solid"/>
          </a:ln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914400" y="16764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66800" y="1828800"/>
            <a:ext cx="285750" cy="28575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638300" y="183832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红线一</a:t>
            </a:r>
            <a:r>
              <a:rPr lang="en-US" sz="180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网间物理隔离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14400" y="2438400"/>
            <a:ext cx="2933700" cy="19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14400" y="2628900"/>
            <a:ext cx="2933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C42819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71616"/>
                </a:solidFill>
                <a:latin typeface="Microsoft YaHei"/>
                <a:ea typeface="Microsoft YaHei"/>
              </a:rPr>
              <a:t>两网之间不存在任何逻辑通道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14400" y="3019425"/>
            <a:ext cx="2933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C42819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研发网与办公网的</a:t>
            </a:r>
            <a:r>
              <a:rPr lang="en-US" sz="1275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底座各自独立，数据与成果互不跨网流转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914400" y="4324350"/>
            <a:ext cx="1628775" cy="285750"/>
          </a:xfrm>
          <a:prstGeom prst="roundRect">
            <a:avLst>
              <a:gd name="adj" fmla="val 53333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85850" y="43815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2819"/>
                </a:solidFill>
                <a:latin typeface="Microsoft YaHei"/>
                <a:ea typeface="Microsoft YaHei"/>
              </a:rPr>
              <a:t>与既有网络边界一致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4381500" y="14287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63F26"/>
            </a:solidFill>
            <a:prstDash val="solid"/>
          </a:ln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4629150" y="16764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81550" y="1828800"/>
            <a:ext cx="285750" cy="28575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353050" y="1838325"/>
            <a:ext cx="220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红线二</a:t>
            </a:r>
            <a:r>
              <a:rPr lang="en-US" sz="180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网内权限分级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629150" y="2438400"/>
            <a:ext cx="2933700" cy="19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629150" y="2628900"/>
            <a:ext cx="2933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E63F26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71616"/>
                </a:solidFill>
                <a:latin typeface="Microsoft YaHei"/>
                <a:ea typeface="Microsoft YaHei"/>
              </a:rPr>
              <a:t>同一张网内仍按角色分级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629150" y="3019425"/>
            <a:ext cx="2933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E63F26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按岗位与数据密级控制模型可访问的范围，最小授权、各取所需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629150" y="4324350"/>
            <a:ext cx="1200150" cy="285750"/>
          </a:xfrm>
          <a:prstGeom prst="roundRect">
            <a:avLst>
              <a:gd name="adj" fmla="val 53333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800600" y="4381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63F26"/>
                </a:solidFill>
                <a:latin typeface="Microsoft YaHei"/>
                <a:ea typeface="Microsoft YaHei"/>
              </a:rPr>
              <a:t>最小授权原则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096250" y="1428750"/>
            <a:ext cx="34290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A81810"/>
            </a:solidFill>
            <a:prstDash val="solid"/>
          </a:ln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8343900" y="1676400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96300" y="1828800"/>
            <a:ext cx="285750" cy="28575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086850" y="1838325"/>
            <a:ext cx="1838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红线三</a:t>
            </a:r>
            <a:r>
              <a:rPr lang="en-US" sz="180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171616"/>
                </a:solidFill>
                <a:latin typeface="Microsoft YaHei"/>
                <a:ea typeface="Microsoft YaHei"/>
              </a:rPr>
              <a:t>全程审计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343900" y="2438400"/>
            <a:ext cx="2933700" cy="19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343900" y="2628900"/>
            <a:ext cx="2933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A8181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171616"/>
                </a:solidFill>
                <a:latin typeface="Microsoft YaHei"/>
                <a:ea typeface="Microsoft YaHei"/>
              </a:rPr>
              <a:t>谁问了什么、模型答了什么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43900" y="3019425"/>
            <a:ext cx="2933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A81810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全链路留痕、可追溯、可复盘，异常行为可告警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8343900" y="4324350"/>
            <a:ext cx="1057275" cy="285750"/>
          </a:xfrm>
          <a:prstGeom prst="roundRect">
            <a:avLst>
              <a:gd name="adj" fmla="val 53333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515350" y="43815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1810"/>
                </a:solidFill>
                <a:latin typeface="Microsoft YaHei"/>
                <a:ea typeface="Microsoft YaHei"/>
              </a:rPr>
              <a:t>责任可追溯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66750" y="5476875"/>
            <a:ext cx="10858500" cy="695325"/>
          </a:xfrm>
          <a:prstGeom prst="roundRect">
            <a:avLst>
              <a:gd name="adj" fmla="val 19178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" y="5676900"/>
            <a:ext cx="304800" cy="304800"/>
          </a:xfrm>
          <a:prstGeom prst="rect">
            <a:avLst/>
          </a:prstGeom>
          <a:ln/>
        </p:spPr>
      </p:pic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371600" y="5648325"/>
            <a:ext cx="72771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判断：安全不是成本，而是前提——两套部署是双网隔离约束的必然结果，不是重复浪费。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372725" y="6581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64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投资概算：一笔账，两套部署&lt;/Text&gt;&#10;            &lt;Box style={{ flex: 1 }} /&gt;&#10;            &lt;Text style={{ fontSize: 20, color: '#C42819', fontWeight: 'bold' }}&gt;投资概算&lt;/Text&gt;&#10;        &lt;/Box&gt;&#10;&#10;        {/* 口径说明 */}&#10;        &lt;Box style={{ position: 'absolute', top: 118, left: 0, right: 0 }}&gt;&#10;            &lt;Text style={{ fontSize: 17, color: '#4B5563', lineHeight: 1.6 }}&gt;以下为单套 ×2 的口径：两套同规模、完全隔离；金额均为概算区间，以详设询价为准。&lt;/Text&gt;&#10;        &lt;/Box&gt;&#10;&#10;        {/* 两大 KPI */}&#10;        &lt;Box style={{ position: 'absolute', top: 168, left: 0, right: 0, flexDirection: 'row', gap: 30 }}&gt;&#10;            &lt;Box style={{ flex: 1.1, borderRadius: 18, background: '#C42819', padding: '28px 34px', flexDirection: 'column', alignItems: 'center' }}&gt;&#10;                &lt;Text style={{ fontSize: 19, color: '#FFE79B', fontWeight: 'bold' }}&gt;一次性投资 CapEx · 两套合计&lt;/Text&gt;&#10;                &lt;Text style={{ fontSize: 66, fontWeight: 'bold', color: '#FFFFFF', fontFamily: 'SimSun', marginTop: 8 }}&gt;1700–2200&lt;/Text&gt;&#10;                &lt;Text style={{ fontSize: 24, color: '#FFE79B', fontWeight: 'bold' }}&gt;万元&lt;/Text&gt;&#10;                &lt;Box style={{ height: 2, background: 'rgba(255,231,155,0.35)', width: '80%', margin: '14px 0' }} /&gt;&#10;                &lt;Text style={{ fontSize: 15, color: '#FFFFFF', opacity: 0.9, textAlign: 'center', lineHeight: 1.6 }}&gt;单套 850–1100 万元：含硬件算力、软件平台、机房配套&lt;/Text&gt;&#10;            &lt;/Box&gt;&#10;            &lt;Box style={{ flex: 0.9, borderRadius: 18, background: '#A81810', padding: '28px 34px', flexDirection: 'column', alignItems: 'center' }}&gt;&#10;                &lt;Text style={{ fontSize: 19, color: '#FFE79B', fontWeight: 'bold' }}&gt;年运营成本 OpEx · 两套合计&lt;/Text&gt;&#10;                &lt;Text style={{ fontSize: 56, fontWeight: 'bold', color: '#FFFFFF', fontFamily: 'SimSun', marginTop: 10 }}&gt;220–320&lt;/Text&gt;&#10;                &lt;Text style={{ fontSize: 24, color: '#FFE79B', fontWeight: 'bold' }}&gt;万元/年&lt;/Text&gt;&#10;                &lt;Box style={{ height: 2, background: 'rgba(255,231,155,0.35)', width: '80%', margin: '14px 0' }} /&gt;&#10;                &lt;Text style={{ fontSize: 15, color: '#FFFFFF', opacity: 0.9, textAlign: 'center', lineHeight: 1.6 }}&gt;单套 110–160 万元/年：含电力、维保、软件支持与运维人力&lt;/Text&gt;&#10;            &lt;/Box&gt;&#10;        &lt;/Box&gt;&#10;&#10;        {/* 成本对比洞察 */}&#10;        &lt;Box style={{ position: 'absolute', top: 392, left: 0, right: 0, borderRadius: 16, border: '1px solid #F0D9CE', background: '#FDF6F2', padding: '22px 30px', flexDirection: 'row', alignItems: 'center', gap: 26 }}&gt;&#10;            &lt;Box style={{ width: 92, height: 92, borderRadius: 18, background: '#FFFFFF', border: '2px solid #C42819', alignItems: 'center', justifyContent: 'center' }}&gt;&#10;                &lt;Text style={{ fontSize: 34, fontWeight: 'bold', color: '#C42819' }}&gt;3年&lt;/Text&gt;&#10;            &lt;/Box&gt;&#10;            &lt;Box style={{ flex: 1 }}&gt;&#10;                &lt;Text style={{ fontSize: 21, fontWeight: 'bold', color: '#171616', lineHeight: 1.5 }}&gt;三年总拥有成本（TCO）约 2400–3100 万元（两套）&lt;/Text&gt;&#10;                &lt;Text style={{ fontSize: 16, color: '#4B5563', lineHeight: 1.7, marginTop: 4 }}&gt;两套规模可在详设阶段按各网实际使用人数分别校准，投资与运营成本随实际规模调整。&lt;/Text&gt;&#10;            &lt;/Box&gt;&#10;            &lt;Box style={{ padding: '8px 20px', borderRadius: 20, background: '#C42819' }}&gt;&#10;                &lt;Text style={{ fontSize: 16, fontWeight: 'bold', color: '#FFFFFF' }}&gt;以询价为准&lt;/Text&gt;&#10;            &lt;/Box&gt;&#10;        &lt;/Box&gt;&#10;&#10;        {/* 分期 */}&#10;        &lt;Box style={{ position: 'absolute', bottom: 66, left: 0, right: 0, flexDirection: 'row', gap: 24, alignItems: 'stretch' }}&gt;&#10;            {[&#10;                { no: '一', t: 'POC · 两网各一小套', v: '先验证真实用量', d: '两网各自小规模试点，验证需求与可行性后再定全量规模', c: '#C42819', w: 1 },&#10;                { no: '二', t: '二期 · 两套全量', v: '合计 1700–2200 万元', d: '按 POC 实测数据分别校准两套规模，避免拍脑袋', c: '#E63F26', w: 1 },&#10;                { no: '三', t: '运营 · 持续优化', v: '年运营 220–320 万元', d: '随使用深入做调优与扩容，成本可控', c: '#A81810', w: 1 },&#10;            ].map((item, idx) =&gt; (&#10;                &lt;Box key={idx} style={{ flex: item.w, flexDirection: 'row', gap: 18, alignItems: 'center', borderRadius: 14, border: '1px solid #E5E7EB', background: '#FFFFFF', padding: '16px 20px' }}&gt;&#10;                    &lt;Box style={{ width: 50, height: 50, borderRadius: 25, background: item.c, alignItems: 'center', justifyContent: 'center', flexShrink: 0 }}&gt;&#10;                        &lt;Text style={{ fontSize: 25, fontWeight: 'bold', color: '#FFFFFF' }}&gt;{item.no}&lt;/Text&gt;&#10;                    &lt;/Box&gt;&#10;                    &lt;Box style={{ flex: 1 }}&gt;&#10;                        &lt;Text style={{ fontSize: 18, fontWeight: 'bold', color: '#171616' }}&gt;{item.t}&lt;/Text&gt;&#10;                        &lt;Text style={{ fontSize: 16, fontWeight: 'bold', color: item.c, marginTop: 2 }}&gt;{item.v}&lt;/Text&gt;&#10;                        &lt;Text style={{ fontSize: 13, color: '#6B7280', lineHeight: 1.5, marginTop: 3 }}&gt;{item.d}&lt;/Text&gt;&#10;                    &lt;/Box&gt;&#10;                &lt;/Box&gt;&#10;            ))}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3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47053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投资概算：一笔账，两套部署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投资概算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66750" y="1123950"/>
            <a:ext cx="10858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以下为单套</a:t>
            </a:r>
            <a:r>
              <a:rPr lang="en-US" sz="1275">
                <a:solidFill>
                  <a:srgbClr val="4B5563"/>
                </a:solidFill>
                <a:latin typeface="Microsoft YaHei"/>
                <a:ea typeface="Microsoft YaHei"/>
              </a:rPr>
              <a:t> ×2 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的口径：两套同规模、完全隔离；金额均为概算区间，以详设询价为准。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66750" y="1600200"/>
            <a:ext cx="5819775" cy="2428875"/>
          </a:xfrm>
          <a:prstGeom prst="roundRect">
            <a:avLst>
              <a:gd name="adj" fmla="val 7059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362200" y="1866900"/>
            <a:ext cx="2428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E79B"/>
                </a:solidFill>
                <a:latin typeface="Microsoft YaHei"/>
                <a:ea typeface="Microsoft YaHei"/>
              </a:rPr>
              <a:t>一次性投资</a:t>
            </a:r>
            <a:r>
              <a:rPr lang="en-US" sz="1425" b="1">
                <a:solidFill>
                  <a:srgbClr val="FFE79B"/>
                </a:solidFill>
                <a:latin typeface="Microsoft YaHei"/>
                <a:ea typeface="Microsoft YaHei"/>
              </a:rPr>
              <a:t> CapEx · </a:t>
            </a:r>
            <a:r>
              <a:rPr lang="zh-CN" sz="1425" b="1">
                <a:solidFill>
                  <a:srgbClr val="FFE79B"/>
                </a:solidFill>
                <a:latin typeface="Microsoft YaHei"/>
                <a:ea typeface="Microsoft YaHei"/>
              </a:rPr>
              <a:t>两套合计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2009775" y="2162175"/>
            <a:ext cx="314325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FFFFFF"/>
                </a:solidFill>
                <a:latin typeface="SimSun"/>
                <a:ea typeface="SimSun"/>
              </a:rPr>
              <a:t>1700–2200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352800" y="29241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E79B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504950" y="3333750"/>
            <a:ext cx="4143375" cy="19050"/>
          </a:xfrm>
          <a:prstGeom prst="rect">
            <a:avLst/>
          </a:prstGeom>
          <a:solidFill>
            <a:srgbClr val="FFE79B">
              <a:alpha val="35000"/>
            </a:srgbClr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6772275" y="1600200"/>
            <a:ext cx="4752975" cy="2428875"/>
          </a:xfrm>
          <a:prstGeom prst="roundRect">
            <a:avLst>
              <a:gd name="adj" fmla="val 7059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972425" y="1866900"/>
            <a:ext cx="2352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E79B"/>
                </a:solidFill>
                <a:latin typeface="Microsoft YaHei"/>
                <a:ea typeface="Microsoft YaHei"/>
              </a:rPr>
              <a:t>年运营成本</a:t>
            </a:r>
            <a:r>
              <a:rPr lang="en-US" sz="1425" b="1">
                <a:solidFill>
                  <a:srgbClr val="FFE79B"/>
                </a:solidFill>
                <a:latin typeface="Microsoft YaHei"/>
                <a:ea typeface="Microsoft YaHei"/>
              </a:rPr>
              <a:t> OpEx · </a:t>
            </a:r>
            <a:r>
              <a:rPr lang="zh-CN" sz="1425" b="1">
                <a:solidFill>
                  <a:srgbClr val="FFE79B"/>
                </a:solidFill>
                <a:latin typeface="Microsoft YaHei"/>
                <a:ea typeface="Microsoft YaHei"/>
              </a:rPr>
              <a:t>两套合计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086725" y="2181225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SimSun"/>
                <a:ea typeface="SimSun"/>
              </a:rPr>
              <a:t>220–320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753475" y="2828925"/>
            <a:ext cx="800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E79B"/>
                </a:solidFill>
                <a:latin typeface="Microsoft YaHei"/>
                <a:ea typeface="Microsoft YaHei"/>
              </a:rPr>
              <a:t>万元</a:t>
            </a:r>
            <a:r>
              <a:rPr lang="en-US" sz="1800" b="1">
                <a:solidFill>
                  <a:srgbClr val="FFE79B"/>
                </a:solidFill>
                <a:latin typeface="Microsoft YaHei"/>
                <a:ea typeface="Microsoft YaHei"/>
              </a:rPr>
              <a:t>/</a:t>
            </a:r>
            <a:r>
              <a:rPr lang="zh-CN" sz="1800" b="1">
                <a:solidFill>
                  <a:srgbClr val="FFE79B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505700" y="3238500"/>
            <a:ext cx="3286125" cy="19050"/>
          </a:xfrm>
          <a:prstGeom prst="rect">
            <a:avLst/>
          </a:prstGeom>
          <a:solidFill>
            <a:srgbClr val="FFE79B">
              <a:alpha val="35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771650" y="3486150"/>
            <a:ext cx="36099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单套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850–1100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万元：含硬件算力、软件平台、机房配套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10425" y="3390900"/>
            <a:ext cx="38766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单套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110–160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万元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年：含电力、维保、软件支持与运维人力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66750" y="3733800"/>
            <a:ext cx="10858500" cy="1295400"/>
          </a:xfrm>
          <a:prstGeom prst="roundRect">
            <a:avLst>
              <a:gd name="adj" fmla="val 11765"/>
            </a:avLst>
          </a:prstGeom>
          <a:solidFill>
            <a:srgbClr val="FDF6F2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952500" y="3943350"/>
            <a:ext cx="876300" cy="87630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25400">
            <a:solidFill>
              <a:srgbClr val="C42819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33475" y="4191000"/>
            <a:ext cx="523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42819"/>
                </a:solidFill>
                <a:latin typeface="Microsoft YaHei"/>
                <a:ea typeface="Microsoft YaHei"/>
              </a:rPr>
              <a:t>3</a:t>
            </a:r>
            <a:r>
              <a:rPr lang="zh-CN" sz="2550" b="1">
                <a:solidFill>
                  <a:srgbClr val="C42819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076450" y="4029075"/>
            <a:ext cx="77724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71616"/>
                </a:solidFill>
                <a:latin typeface="Microsoft YaHei"/>
                <a:ea typeface="Microsoft YaHei"/>
              </a:rPr>
              <a:t>三年总拥有成本（</a:t>
            </a:r>
            <a:r>
              <a:rPr lang="en-US" sz="1575" b="1">
                <a:solidFill>
                  <a:srgbClr val="171616"/>
                </a:solidFill>
                <a:latin typeface="Microsoft YaHei"/>
                <a:ea typeface="Microsoft YaHei"/>
              </a:rPr>
              <a:t>TCO</a:t>
            </a:r>
            <a:r>
              <a:rPr lang="zh-CN" sz="1575" b="1">
                <a:solidFill>
                  <a:srgbClr val="171616"/>
                </a:solidFill>
                <a:latin typeface="Microsoft YaHei"/>
                <a:ea typeface="Microsoft YaHei"/>
              </a:rPr>
              <a:t>）约</a:t>
            </a:r>
            <a:r>
              <a:rPr lang="en-US" sz="1575" b="1">
                <a:solidFill>
                  <a:srgbClr val="171616"/>
                </a:solidFill>
                <a:latin typeface="Microsoft YaHei"/>
                <a:ea typeface="Microsoft YaHei"/>
              </a:rPr>
              <a:t> 2400–3100 </a:t>
            </a:r>
            <a:r>
              <a:rPr lang="zh-CN" sz="1575" b="1">
                <a:solidFill>
                  <a:srgbClr val="171616"/>
                </a:solidFill>
                <a:latin typeface="Microsoft YaHei"/>
                <a:ea typeface="Microsoft YaHei"/>
              </a:rPr>
              <a:t>万元（两套）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076450" y="4429125"/>
            <a:ext cx="7772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两套规模可在详设阶段按各网实际使用人数分别校准，投资与运营成本随实际规模调整。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10096500" y="4210050"/>
            <a:ext cx="1143000" cy="342900"/>
          </a:xfrm>
          <a:prstGeom prst="roundRect">
            <a:avLst>
              <a:gd name="adj" fmla="val 55556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287000" y="42862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以询价为准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66750" y="5029200"/>
            <a:ext cx="3467100" cy="12001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857250" y="5391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81075" y="548640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504950" y="5181600"/>
            <a:ext cx="243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71616"/>
                </a:solidFill>
                <a:latin typeface="Microsoft YaHei"/>
                <a:ea typeface="Microsoft YaHei"/>
              </a:rPr>
              <a:t>POC · </a:t>
            </a: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两网各一小套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504950" y="54102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2819"/>
                </a:solidFill>
                <a:latin typeface="Microsoft YaHei"/>
                <a:ea typeface="Microsoft YaHei"/>
              </a:rPr>
              <a:t>先验证真实用量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504950" y="5629275"/>
            <a:ext cx="2438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两网各自小规模试点，验证需求与可行性后再定全量规模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362450" y="5029200"/>
            <a:ext cx="3467100" cy="12001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4552950" y="5391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676775" y="548640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200650" y="5181600"/>
            <a:ext cx="243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二期</a:t>
            </a:r>
            <a:r>
              <a:rPr lang="en-US" sz="135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两套全量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200650" y="54102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63F26"/>
                </a:solidFill>
                <a:latin typeface="Microsoft YaHei"/>
                <a:ea typeface="Microsoft YaHei"/>
              </a:rPr>
              <a:t>合计</a:t>
            </a:r>
            <a:r>
              <a:rPr lang="en-US" sz="1200" b="1">
                <a:solidFill>
                  <a:srgbClr val="E63F26"/>
                </a:solidFill>
                <a:latin typeface="Microsoft YaHei"/>
                <a:ea typeface="Microsoft YaHei"/>
              </a:rPr>
              <a:t> 1700–2200 </a:t>
            </a:r>
            <a:r>
              <a:rPr lang="zh-CN" sz="1200" b="1">
                <a:solidFill>
                  <a:srgbClr val="E63F26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200650" y="5629275"/>
            <a:ext cx="2438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6B7280"/>
                </a:solidFill>
                <a:latin typeface="Microsoft YaHei"/>
                <a:ea typeface="Microsoft YaHei"/>
              </a:rPr>
              <a:t> POC </a:t>
            </a: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实测数据分别校准两套规模，避免拍脑袋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058150" y="5029200"/>
            <a:ext cx="3467100" cy="12001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8248650" y="539115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72475" y="548640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896350" y="5295900"/>
            <a:ext cx="243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运营</a:t>
            </a:r>
            <a:r>
              <a:rPr lang="en-US" sz="1350" b="1">
                <a:solidFill>
                  <a:srgbClr val="171616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持续优化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896350" y="55245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年运营</a:t>
            </a:r>
            <a:r>
              <a:rPr lang="en-US" sz="1200" b="1">
                <a:solidFill>
                  <a:srgbClr val="A81810"/>
                </a:solidFill>
                <a:latin typeface="Microsoft YaHei"/>
                <a:ea typeface="Microsoft YaHei"/>
              </a:rPr>
              <a:t> 220–320 </a:t>
            </a: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896350" y="5743575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随使用深入做调优与扩容，成本可控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372725" y="6581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1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分期实施：小步快跑，先验证再铺开&lt;/Text&gt;&#10;            &lt;Box style={{ flex: 1 }} /&gt;&#10;            &lt;Text style={{ fontSize: 20, color: '#C42819', fontWeight: 'bold' }}&gt;实施规划&lt;/Text&gt;&#10;        &lt;/Box&gt;&#10;&#10;        {/* 引导语 */}&#10;        &lt;Box style={{ position: 'absolute', top: 118, left: 0, right: 0 }}&gt;&#10;            &lt;Text style={{ fontSize: 18, color: '#4B5563', lineHeight: 1.6 }}&gt;分期不是拖延，是把&quot;拍脑袋的规模&quot;改成&quot;用实测数据校准的规模&quot;——每阶段都有明确验收标准。&lt;/Text&gt;&#10;        &lt;/Box&gt;&#10;&#10;        {/* 三阶段主线 */}&#10;        &lt;Box style={{ position: 'absolute', top: 178, left: 0, right: 0, height: 400, flexDirection: 'column' }}&gt;&#10;            {/* 阶段卡片横向 */}&#10;            &lt;Box style={{ flexDirection: 'row', gap: 30, alignItems: 'stretch' }}&gt;&#10;                {[&#10;                    { no: '一期', t: 'POC 试点 · 两网各一小套', time: '约 3 个月', invest: '小规模投入', c: '#C42819',&#10;                      items: ['两网各部署最小可用套件', '验证真实用量、质量与可行性', '研发/办公两类负载实测', '模型精度与上下文需求验证'], note: '用小投入回答&quot;规模到底多大&quot;', done: false },&#10;                    { no: '二期', t: '两套全量建设铺开', time: '3–4 个月', invest: '合计 1700–2200 万元', c: '#E63F26',&#10;                      items: ['按两网 POC 实测分别校准规模', '两大网各自能力全量接入', '权限、审计、知识库体系落地', '试点范围推广至各网全员'], note: '用实测数字决定采购，避免偏差', done: false },&#10;                    { no: '三期', t: '运营持续优化', time: '长期', invest: '年运营 220–320 万元', c: '#A81810',&#10;                      items: ['使用数据驱动的调优与扩容', '模型版本升级验证', '训练调优能力逐步增强', '降本增效持续运营'], note: '让两套平台各自越用越懂业务', done: false },&#10;                ].map((item, idx) =&gt; (&#10;                    &lt;Box key={idx} style={{ flex: 1, borderRadius: 16, border: '1px solid #E5E7EB', background: '#FFFFFF', overflow: 'hidden', flexDirection: 'column' }}&gt;&#10;                        {/* 卡头 */}&#10;                        &lt;Box style={{ background: item.c, padding: '17px 22px', flexDirection: 'row', alignItems: 'center', gap: 14 }}&gt;&#10;                            &lt;Box style={{ width: 42, height: 42, borderRadius: 21, background: 'rgba(255,255,255,0.22)', alignItems: 'center', justifyContent: 'center' }}&gt;&#10;                                &lt;Text style={{ fontSize: 19, fontWeight: 'bold', color: '#FFFFFF' }}&gt;{idx + 1}&lt;/Text&gt;&#10;                            &lt;/Box&gt;&#10;                            &lt;Box style={{ flex: 1 }}&gt;&#10;                                &lt;Text style={{ fontSize: 21, fontWeight: 'bold', color: '#FFFFFF' }}&gt;{item.no} · {item.t}&lt;/Text&gt;&#10;                            &lt;/Box&gt;&#10;                        &lt;/Box&gt;&#10;                        &lt;Box style={{ padding: '18px 22px', flexDirection: 'column', flex: 1 }}&gt;&#10;                            &lt;Box style={{ flexDirection: 'row', alignItems: 'center', marginBottom: 12 }}&gt;&#10;                                &lt;FAIcon name='clock' style={{ fill: item.c, width: 19, height: 19 }} /&gt;&#10;                                &lt;Text style={{ fontSize: 15, color: '#6B7280', marginLeft: 8 }}&gt;{item.time}&lt;/Text&gt;&#10;                                &lt;Box style={{ width: 1, height: 15, background: '#E5E7EB', margin: '0 14px' }} /&gt;&#10;                                &lt;Text style={{ fontSize: 15, fontWeight: 'bold', color: item.c }}&gt;{item.invest}&lt;/Text&gt;&#10;                            &lt;/Box&gt;&#10;                            &lt;Box style={{ width: '100%', height: 1, background: '#F0D9CE', marginBottom: 12 }} /&gt;&#10;                            {item.items.map((it, i2) =&gt; (&#10;                                &lt;Box key={i2} style={{ flexDirection: 'row', gap: 9, marginBottom: 8, alignItems: 'flex-start' }}&gt;&#10;                                    &lt;FAIcon name='check-circle' style={{ fill: item.c, width: 17, height: 17, marginTop: 2 }} /&gt;&#10;                                    &lt;Text style={{ fontSize: 15, color: '#4B5563', lineHeight: 1.5, flex: 1 }}&gt;{it}&lt;/Text&gt;&#10;                                &lt;/Box&gt;&#10;                            ))}&#10;                            &lt;Box style={{ flex: 1 }} /&gt;&#10;                            &lt;Box style={{ background: '#FDF3F0', borderRadius: 8, padding: '9px 14px', marginTop: 6 }}&gt;&#10;                                &lt;Text style={{ fontSize: 13.5, color: item.c, lineHeight: 1.5 }}&gt;{item.note}&lt;/Text&gt;&#10;                            &lt;/Box&gt;&#10;                        &lt;/Box&gt;&#10;                    &lt;/Box&gt;&#10;                ))}&#10;            &lt;/Box&gt;&#10;        &lt;/Box&gt;&#10;&#10;        {/* 底部 POC 数据来源 */}&#10;        &lt;Box style={{ position: 'absolute', bottom: 62, left: 0, right: 0, flexDirection: 'row', gap: 14, alignItems: 'center', background: '#FDF6F2', borderRadius: 12, border: '1px solid #F0D9CE', padding: '15px 22px' }}&gt;&#10;            &lt;FAIcon name='flask' style={{ fill: '#C42819', width: 26, height: 26 }} /&gt;&#10;            &lt;Text style={{ fontSize: 16.5, color: '#A81810', lineHeight: 1.6 }}&gt;POC 数据从哪来：两网抽样使用日志 + 业务系统两周数据，即可分别标定研发网与办公网的真实使用强度，不额外增加负担。&lt;/Text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4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57912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分期实施：小步快跑，先验证再铺开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实施规划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66750" y="1123950"/>
            <a:ext cx="10858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分期不是拖延，是把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拍脑袋的规模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改成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用实测数据校准的规模</a:t>
            </a:r>
            <a:r>
              <a:rPr lang="en-US" sz="1350">
                <a:solidFill>
                  <a:srgbClr val="4B5563"/>
                </a:solidFill>
                <a:latin typeface="Microsoft YaHei"/>
                <a:ea typeface="Microsoft YaHei"/>
              </a:rPr>
              <a:t>"——</a:t>
            </a:r>
            <a:r>
              <a:rPr lang="zh-CN" sz="1350">
                <a:solidFill>
                  <a:srgbClr val="4B5563"/>
                </a:solidFill>
                <a:latin typeface="Microsoft YaHei"/>
                <a:ea typeface="Microsoft YaHei"/>
              </a:rPr>
              <a:t>每阶段都有明确验收标准。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66750" y="1695450"/>
            <a:ext cx="3429000" cy="3371850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66750" y="1695450"/>
            <a:ext cx="3429000" cy="809625"/>
          </a:xfrm>
          <a:custGeom>
            <a:pathLst>
              <a:path w="360" h="85">
                <a:moveTo>
                  <a:pt x="344" y="0"/>
                </a:moveTo>
                <a:cubicBezTo>
                  <a:pt x="353" y="0"/>
                  <a:pt x="360" y="7"/>
                  <a:pt x="360" y="16"/>
                </a:cubicBezTo>
                <a:lnTo>
                  <a:pt x="360" y="85"/>
                </a:lnTo>
                <a:lnTo>
                  <a:pt x="0" y="85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C42819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876300" y="19050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019175" y="200025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409700" y="1857375"/>
            <a:ext cx="2476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一期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POC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试点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两网各一小套</a:t>
            </a:r>
            <a:endParaRPr/>
          </a:p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2676525"/>
            <a:ext cx="180975" cy="180975"/>
          </a:xfrm>
          <a:prstGeom prst="rect">
            <a:avLst/>
          </a:prstGeom>
          <a:ln/>
        </p:spPr>
      </p:pic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33475" y="2686050"/>
            <a:ext cx="60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约</a:t>
            </a: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1866900" y="2695575"/>
            <a:ext cx="9525" cy="1428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009775" y="26860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2819"/>
                </a:solidFill>
                <a:latin typeface="Microsoft YaHei"/>
                <a:ea typeface="Microsoft YaHei"/>
              </a:rPr>
              <a:t>小规模投入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76300" y="2971800"/>
            <a:ext cx="3009900" cy="9525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3114675"/>
            <a:ext cx="161925" cy="161925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23950" y="309562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两网各部署最小可用套件</a:t>
            </a:r>
            <a:endParaRPr/>
          </a:p>
        </p:txBody>
      </p:sp>
      <p:pic>
        <p:nvPicPr>
          <p:cNvPr id="2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3448050"/>
            <a:ext cx="161925" cy="161925"/>
          </a:xfrm>
          <a:prstGeom prst="rect">
            <a:avLst/>
          </a:prstGeom>
          <a:ln/>
        </p:spPr>
      </p:pic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23950" y="342900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验证真实用量、质量与可行性</a:t>
            </a:r>
            <a:endParaRPr/>
          </a:p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3781425"/>
            <a:ext cx="161925" cy="161925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23950" y="37623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研发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办公两类负载实测</a:t>
            </a:r>
            <a:endParaRPr/>
          </a:p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4114800"/>
            <a:ext cx="161925" cy="161925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23950" y="40957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模型精度与上下文需求验证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876300" y="4486275"/>
            <a:ext cx="3009900" cy="409575"/>
          </a:xfrm>
          <a:prstGeom prst="roundRect">
            <a:avLst>
              <a:gd name="adj" fmla="val 18605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09650" y="4572000"/>
            <a:ext cx="27432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C42819"/>
                </a:solidFill>
                <a:latin typeface="Microsoft YaHei"/>
                <a:ea typeface="Microsoft YaHei"/>
              </a:rPr>
              <a:t>用小投入回答</a:t>
            </a:r>
            <a:r>
              <a:rPr lang="en-US" sz="1013">
                <a:solidFill>
                  <a:srgbClr val="C42819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C42819"/>
                </a:solidFill>
                <a:latin typeface="Microsoft YaHei"/>
                <a:ea typeface="Microsoft YaHei"/>
              </a:rPr>
              <a:t>规模到底多大</a:t>
            </a:r>
            <a:r>
              <a:rPr lang="en-US" sz="1013">
                <a:solidFill>
                  <a:srgbClr val="C4281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381500" y="1695450"/>
            <a:ext cx="3429000" cy="3371850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4381500" y="1695450"/>
            <a:ext cx="3429000" cy="723900"/>
          </a:xfrm>
          <a:custGeom>
            <a:pathLst>
              <a:path w="360" h="76">
                <a:moveTo>
                  <a:pt x="344" y="0"/>
                </a:moveTo>
                <a:cubicBezTo>
                  <a:pt x="353" y="0"/>
                  <a:pt x="360" y="7"/>
                  <a:pt x="360" y="16"/>
                </a:cubicBezTo>
                <a:lnTo>
                  <a:pt x="360" y="76"/>
                </a:lnTo>
                <a:lnTo>
                  <a:pt x="0" y="7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E63F26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4591050" y="18573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733925" y="19526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124450" y="1933575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二期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两套全量建设铺开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91050" y="2590800"/>
            <a:ext cx="180975" cy="180975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848225" y="2600325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280"/>
                </a:solidFill>
                <a:latin typeface="Microsoft YaHei"/>
                <a:ea typeface="Microsoft YaHei"/>
              </a:rPr>
              <a:t>3–4 </a:t>
            </a: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562600" y="2609850"/>
            <a:ext cx="9525" cy="1428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05475" y="260032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63F26"/>
                </a:solidFill>
                <a:latin typeface="Microsoft YaHei"/>
                <a:ea typeface="Microsoft YaHei"/>
              </a:rPr>
              <a:t>合计</a:t>
            </a:r>
            <a:r>
              <a:rPr lang="en-US" sz="1125" b="1">
                <a:solidFill>
                  <a:srgbClr val="E63F26"/>
                </a:solidFill>
                <a:latin typeface="Microsoft YaHei"/>
                <a:ea typeface="Microsoft YaHei"/>
              </a:rPr>
              <a:t> 1700–2200 </a:t>
            </a:r>
            <a:r>
              <a:rPr lang="zh-CN" sz="1125" b="1">
                <a:solidFill>
                  <a:srgbClr val="E63F26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591050" y="2886075"/>
            <a:ext cx="3009900" cy="9525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91050" y="3028950"/>
            <a:ext cx="161925" cy="161925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838700" y="300990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按两网</a:t>
            </a:r>
            <a:r>
              <a:rPr lang="en-US" sz="1125">
                <a:solidFill>
                  <a:srgbClr val="4B5563"/>
                </a:solidFill>
                <a:latin typeface="Microsoft YaHei"/>
                <a:ea typeface="Microsoft YaHei"/>
              </a:rPr>
              <a:t> POC </a:t>
            </a: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实测分别校准规模</a:t>
            </a:r>
            <a:endParaRPr/>
          </a:p>
        </p:txBody>
      </p:sp>
      <p:pic>
        <p:nvPicPr>
          <p:cNvPr id="2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91050" y="3362325"/>
            <a:ext cx="161925" cy="161925"/>
          </a:xfrm>
          <a:prstGeom prst="rect">
            <a:avLst/>
          </a:prstGeom>
          <a:ln/>
        </p:spPr>
      </p:pic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838700" y="33432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两大网各自能力全量接入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91050" y="3695700"/>
            <a:ext cx="161925" cy="161925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838700" y="36766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权限、审计、知识库体系落地</a:t>
            </a:r>
            <a:endParaRPr/>
          </a:p>
        </p:txBody>
      </p:sp>
      <p:pic>
        <p:nvPicPr>
          <p:cNvPr id="2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91050" y="4029075"/>
            <a:ext cx="161925" cy="161925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838700" y="401002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试点范围推广至各网全员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4591050" y="4486275"/>
            <a:ext cx="3009900" cy="409575"/>
          </a:xfrm>
          <a:prstGeom prst="roundRect">
            <a:avLst>
              <a:gd name="adj" fmla="val 18605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724400" y="4572000"/>
            <a:ext cx="27432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63F26"/>
                </a:solidFill>
                <a:latin typeface="Microsoft YaHei"/>
                <a:ea typeface="Microsoft YaHei"/>
              </a:rPr>
              <a:t>用实测数字决定采购，避免偏差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096250" y="1695450"/>
            <a:ext cx="3429000" cy="3371850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8096250" y="1695450"/>
            <a:ext cx="3429000" cy="723900"/>
          </a:xfrm>
          <a:custGeom>
            <a:pathLst>
              <a:path w="360" h="76">
                <a:moveTo>
                  <a:pt x="344" y="0"/>
                </a:moveTo>
                <a:cubicBezTo>
                  <a:pt x="353" y="0"/>
                  <a:pt x="360" y="7"/>
                  <a:pt x="360" y="16"/>
                </a:cubicBezTo>
                <a:lnTo>
                  <a:pt x="360" y="76"/>
                </a:lnTo>
                <a:lnTo>
                  <a:pt x="0" y="7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44" y="0"/>
                </a:lnTo>
                <a:close/>
              </a:path>
            </a:pathLst>
          </a:custGeom>
          <a:solidFill>
            <a:srgbClr val="A81810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305800" y="18573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448675" y="19526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839200" y="1933575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三期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运营持续优化</a:t>
            </a:r>
            <a:endParaRPr/>
          </a:p>
        </p:txBody>
      </p:sp>
      <p:pic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05800" y="2590800"/>
            <a:ext cx="180975" cy="180975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562975" y="26003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B7280"/>
                </a:solidFill>
                <a:latin typeface="Microsoft YaHei"/>
                <a:ea typeface="Microsoft YaHei"/>
              </a:rPr>
              <a:t>长期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982075" y="2609850"/>
            <a:ext cx="9525" cy="1428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124950" y="26003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81810"/>
                </a:solidFill>
                <a:latin typeface="Microsoft YaHei"/>
                <a:ea typeface="Microsoft YaHei"/>
              </a:rPr>
              <a:t>年运营</a:t>
            </a:r>
            <a:r>
              <a:rPr lang="en-US" sz="1125" b="1">
                <a:solidFill>
                  <a:srgbClr val="A81810"/>
                </a:solidFill>
                <a:latin typeface="Microsoft YaHei"/>
                <a:ea typeface="Microsoft YaHei"/>
              </a:rPr>
              <a:t> 220–320 </a:t>
            </a:r>
            <a:r>
              <a:rPr lang="zh-CN" sz="1125" b="1">
                <a:solidFill>
                  <a:srgbClr val="A81810"/>
                </a:solidFill>
                <a:latin typeface="Microsoft YaHei"/>
                <a:ea typeface="Microsoft YaHei"/>
              </a:rPr>
              <a:t>万元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305800" y="2886075"/>
            <a:ext cx="3009900" cy="9525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05800" y="3028950"/>
            <a:ext cx="161925" cy="161925"/>
          </a:xfrm>
          <a:prstGeom prst="rect">
            <a:avLst/>
          </a:prstGeom>
          <a:ln/>
        </p:spPr>
      </p:pic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553450" y="300990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使用数据驱动的调优与扩容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05800" y="3362325"/>
            <a:ext cx="161925" cy="161925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553450" y="334327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模型版本升级验证</a:t>
            </a:r>
            <a:endParaRPr/>
          </a:p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05800" y="3695700"/>
            <a:ext cx="161925" cy="161925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553450" y="3676650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训练调优能力逐步增强</a:t>
            </a:r>
            <a:endParaRPr/>
          </a:p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05800" y="4029075"/>
            <a:ext cx="161925" cy="161925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553450" y="4010025"/>
            <a:ext cx="276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降本增效持续运营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8305800" y="4486275"/>
            <a:ext cx="3009900" cy="409575"/>
          </a:xfrm>
          <a:prstGeom prst="roundRect">
            <a:avLst>
              <a:gd name="adj" fmla="val 18605"/>
            </a:avLst>
          </a:prstGeom>
          <a:solidFill>
            <a:srgbClr val="FDF3F0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439150" y="4572000"/>
            <a:ext cx="27432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A81810"/>
                </a:solidFill>
                <a:latin typeface="Microsoft YaHei"/>
                <a:ea typeface="Microsoft YaHei"/>
              </a:rPr>
              <a:t>让两套平台各自越用越懂业务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66750" y="5676900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FDF6F2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5848350"/>
            <a:ext cx="247650" cy="24765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257300" y="5819775"/>
            <a:ext cx="8763000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38">
                <a:solidFill>
                  <a:srgbClr val="A81810"/>
                </a:solidFill>
                <a:latin typeface="Microsoft YaHei"/>
                <a:ea typeface="Microsoft YaHei"/>
              </a:rPr>
              <a:t>POC </a:t>
            </a:r>
            <a:r>
              <a:rPr lang="zh-CN" sz="1238">
                <a:solidFill>
                  <a:srgbClr val="A81810"/>
                </a:solidFill>
                <a:latin typeface="Microsoft YaHei"/>
                <a:ea typeface="Microsoft YaHei"/>
              </a:rPr>
              <a:t>数据从哪来：两网抽样使用日志</a:t>
            </a:r>
            <a:r>
              <a:rPr lang="en-US" sz="1238">
                <a:solidFill>
                  <a:srgbClr val="A81810"/>
                </a:solidFill>
                <a:latin typeface="Microsoft YaHei"/>
                <a:ea typeface="Microsoft YaHei"/>
              </a:rPr>
              <a:t> + </a:t>
            </a:r>
            <a:r>
              <a:rPr lang="zh-CN" sz="1238">
                <a:solidFill>
                  <a:srgbClr val="A81810"/>
                </a:solidFill>
                <a:latin typeface="Microsoft YaHei"/>
                <a:ea typeface="Microsoft YaHei"/>
              </a:rPr>
              <a:t>业务系统两周数据，即可分别标定研发网与办公网的真实使用强度，不额外增加负担。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372725" y="6581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4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8, left: 0, right: 0, flexDirection: 'row', alignItems: 'center' }}&gt;&#10;            &lt;Box style={{ width: 10, height: 44, background: '#C42819', borderRadius: 3 }} /&gt;&#10;            &lt;Text style={{ fontSize: 38, fontWeight: 'bold', fontFamily: 'SimSun', color: '#171616', marginLeft: 18 }}&gt;组织与保障：两套部署，需要成建制的队伍&lt;/Text&gt;&#10;            &lt;Box style={{ flex: 1 }} /&gt;&#10;            &lt;Text style={{ fontSize: 20, color: '#C42819', fontWeight: 'bold' }}&gt;组织保障&lt;/Text&gt;&#10;        &lt;/Box&gt;&#10;&#10;        {/* 主体：上 治理架构，下 人才与制度 */}&#10;        &lt;Box style={{ position: 'absolute', top: 150, left: 0, right: 0, bottom: 52, flexDirection: 'column', gap: 22 }}&gt;&#10;            {/* 上：治理架构 */}&#10;            &lt;Box style={{ flexDirection: 'row', gap: 24, alignItems: 'stretch', flex: 1.1 }}&gt;&#10;                &lt;Box style={{ width: '30%', borderRadius: 16, background: '#C42819', padding: '22px 24px', flexDirection: 'column', justifyContent: 'center' }}&gt;&#10;                    &lt;Text style={{ fontSize: 20, color: '#FFE79B', fontWeight: 'bold' }}&gt;决策与统筹&lt;/Text&gt;&#10;                    &lt;Text style={{ fontSize: 26, fontWeight: 'bold', color: '#FFFFFF', marginTop: 8, lineHeight: 1.4 }}&gt;AI 专项工作组&lt;/Text&gt;&#10;                    &lt;Text style={{ fontSize: 15, color: '#FFE79B', lineHeight: 1.7, marginTop: 10 }}&gt;跨部门组成，统筹两套底座的需求、投资与建设节奏，向党委会定期汇报。&lt;/Text&gt;&#10;                &lt;/Box&gt;&#10;                &lt;Box style={{ flex: 1, borderRadius: 16, border: '1px solid #E5E7EB', background: '#FFFFFF', padding: '22px 26px', flexDirection: 'row', gap: 26, alignItems: 'center' }}&gt;&#10;                    &lt;Box style={{ flex: 1, flexDirection: 'column', gap: 14 }}&gt;&#10;                        &lt;Box style={{ flexDirection: 'row', gap: 12, alignItems: 'center' }}&gt;&#10;                            &lt;Box style={{ width: 44, height: 44, borderRadius: 12, background: '#FDF3F0', alignItems: 'center', justifyContent: 'center' }}&gt;&#10;                                &lt;FAIcon name='users-cog' style={{ fill: '#C42819', width: 24, height: 24 }} /&gt;&#10;                            &lt;/Box&gt;&#10;                            &lt;Box style={{ flex: 1 }}&gt;&#10;                                &lt;Text style={{ fontSize: 18, fontWeight: 'bold', color: '#171616' }}&gt;牵头部门&lt;/Text&gt;&#10;                                &lt;Text style={{ fontSize: 14, color: '#6B7280', marginTop: 2 }}&gt;明确一个牵头部门主责推进&lt;/Text&gt;&#10;                            &lt;/Box&gt;&#10;                        &lt;/Box&gt;&#10;                        &lt;Box style={{ flexDirection: 'row', gap: 12, alignItems: 'center' }}&gt;&#10;                            &lt;Box style={{ width: 44, height: 44, borderRadius: 12, background: '#FDF3F0', alignItems: 'center', justifyContent: 'center' }}&gt;&#10;                                &lt;FAIcon name='map-pin' style={{ fill: '#E63F26', width: 24, height: 24 }} /&gt;&#10;                            &lt;/Box&gt;&#10;                            &lt;Box style={{ flex: 1 }}&gt;&#10;                                &lt;Text style={{ fontSize: 18, fontWeight: 'bold', color: '#171616' }}&gt;试点单位&lt;/Text&gt;&#10;                                &lt;Text style={{ fontSize: 14, color: '#6B7280', marginTop: 2 }}&gt;研发网、办公网各选试点，先跑通再推广&lt;/Text&gt;&#10;                            &lt;/Box&gt;&#10;                        &lt;/Box&gt;&#10;                    &lt;/Box&gt;&#10;                    &lt;Box style={{ width: 2, background: '#F0D9CE', alignSelf: 'stretch' }} /&gt;&#10;                    &lt;Box style={{ flex: 1.1 }}&gt;&#10;                        &lt;Text style={{ fontSize: 16, fontWeight: 'bold', color: '#A81810', marginBottom: 10 }}&gt;为什么需要成建制：&lt;/Text&gt;&#10;                        &lt;Text style={{ fontSize: 15, color: '#4B5563', lineHeight: 1.8 }}&gt;两套底座意味着两套运维、两套治理——训练调优、模型更新、权限审计、使用运营都需要专人专职。没有成建制队伍，平台建起来也转不动。&lt;/Text&gt;&#10;                    &lt;/Box&gt;&#10;                &lt;/Box&gt;&#10;            &lt;/Box&gt;&#10;&#10;            {/* 下：人才与制度 */}&#10;            &lt;Box style={{ flexDirection: 'row', gap: 24, flex: 1 }}&gt;&#10;                &lt;Box style={{ flex: 1.25, borderRadius: 16, border: '1px solid #F0D9CE', background: '#FDF6F2', padding: '20px 26px', flexDirection: 'column' }}&gt;&#10;                    &lt;Box style={{ flexDirection: 'row', alignItems: 'center', gap: 10, marginBottom: 14 }}&gt;&#10;                        &lt;FAIcon name='user-graduate' style={{ fill: '#A81810', width: 24, height: 24 }} /&gt;&#10;                        &lt;Text style={{ fontSize: 20, fontWeight: 'bold', color: '#171616' }}&gt;人才三路并行&lt;/Text&gt;&#10;                    &lt;/Box&gt;&#10;                    &lt;Box style={{ flexDirection: 'row', gap: 18 }}&gt;&#10;                        {[&#10;                            { k: '引进', d: '关键岗位外部引进', c: '#C42819' },&#10;                            { k: '培养', d: '内部选拔实战培养', c: '#E63F26' },&#10;                            { k: '支持', d: '厂商专家驻场支持', c: '#A81810' },&#10;                        ].map((item, idx) =&gt; (&#10;                            &lt;Box key={idx} style={{ flex: 1, borderRadius: 10, background: '#FFFFFF', border: '1px solid #F0D9CE', padding: '12px 14px', alignItems: 'center', flexDirection: 'column' }}&gt;&#10;                                &lt;Text style={{ fontSize: 20, fontWeight: 'bold', color: item.c }}&gt;{item.k}&lt;/Text&gt;&#10;                                &lt;Text style={{ fontSize: 13.5, color: '#6B7280', textAlign: 'center', marginTop: 6, lineHeight: 1.5 }}&gt;{item.d}&lt;/Text&gt;&#10;                            &lt;/Box&gt;&#10;                        ))}&#10;                    &lt;/Box&gt;&#10;                &lt;/Box&gt;&#10;                &lt;Box style={{ flex: 1, borderRadius: 16, border: '1px solid #F0D9CE', background: '#FDF6F2', padding: '20px 26px', flexDirection: 'column' }}&gt;&#10;                    &lt;Box style={{ flexDirection: 'row', alignItems: 'center', gap: 10, marginBottom: 14 }}&gt;&#10;                        &lt;FAIcon name='file-signature' style={{ fill: '#A81810', width: 24, height: 24 }} /&gt;&#10;                        &lt;Text style={{ fontSize: 20, fontWeight: 'bold', color: '#171616' }}&gt;制度先行&lt;/Text&gt;&#10;                    &lt;/Box&gt;&#10;                    &lt;Box style={{ flexDirection: 'column', gap: 10 }}&gt;&#10;                        {[&#10;                            { t: '使用规范', d: '各网使用边界、申请与审批流程' },&#10;                            { t: '审计制度', d: '问答留痕、访问审计与异常处置' },&#10;                            { t: '运维规范', d: '两套底座的变更、升级与应急流程' },&#10;                        ].map((item, idx) =&gt; (&#10;                            &lt;Box key={idx} style={{ flexDirection: 'row', gap: 10, alignItems: 'center', padding: '9px 14px', borderRadius: 10, background: '#FFFFFF', border: '1px solid #F0D9CE' }}&gt;&#10;                                &lt;Box style={{ width: 8, height: 8, borderRadius: 4, background: '#C42819' }} /&gt;&#10;                                &lt;Text style={{ fontSize: 15.5, fontWeight: 'bold', color: '#171616', width: 80 }}&gt;{item.t}&lt;/Text&gt;&#10;                                &lt;Text style={{ fontSize: 14, color: '#6B7280', flex: 1 }}&gt;{item.d}&lt;/Text&gt;&#10;                            &lt;/Box&gt;&#10;                        ))}&#10;                    &lt;/Box&gt;&#10;                &lt;/Box&gt;&#10;            &lt;/Box&gt;&#10;        &lt;/Box&gt;&#10;&#10;        {/* 页脚装饰条 */}&#10;        &lt;Box style={{ position: 'absolute', bottom: 0, left: 0, right: 0, height: 40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5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666750" y="466725"/>
            <a:ext cx="95250" cy="41910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3450" y="457200"/>
            <a:ext cx="68770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71616"/>
                </a:solidFill>
                <a:latin typeface="SimSun"/>
                <a:ea typeface="SimSun"/>
              </a:rPr>
              <a:t>组织与保障：两套部署，需要成建制的队伍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763250" y="5619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组织保障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66750" y="1428750"/>
            <a:ext cx="3257550" cy="2305050"/>
          </a:xfrm>
          <a:prstGeom prst="roundRect">
            <a:avLst>
              <a:gd name="adj" fmla="val 6612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95350" y="1876425"/>
            <a:ext cx="2800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E79B"/>
                </a:solidFill>
                <a:latin typeface="Microsoft YaHei"/>
                <a:ea typeface="Microsoft YaHei"/>
              </a:rPr>
              <a:t>决策与统筹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95350" y="2181225"/>
            <a:ext cx="280035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专项工作组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95350" y="2695575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E79B"/>
                </a:solidFill>
                <a:latin typeface="Microsoft YaHei"/>
                <a:ea typeface="Microsoft YaHei"/>
              </a:rPr>
              <a:t>跨部门组成，统筹两套底座的需求、投资与建设节奏，向党委会定期汇报。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4152900" y="1428750"/>
            <a:ext cx="7372350" cy="230505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4400550" y="20955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95800" y="2190750"/>
            <a:ext cx="228600" cy="22860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933950" y="211455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牵头部门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933950" y="234315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明确一个牵头部门主责推进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400550" y="26479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DF3F0"/>
          </a:solidFill>
          <a:ln/>
        </p:spPr>
        <p:txBody>
          <a:bodyPr/>
          <a:p/>
        </p:txBody>
      </p:sp>
      <p:pic>
        <p:nvPicPr>
          <p:cNvPr id="2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95800" y="2743200"/>
            <a:ext cx="228600" cy="22860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933950" y="266700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71616"/>
                </a:solidFill>
                <a:latin typeface="Microsoft YaHei"/>
                <a:ea typeface="Microsoft YaHei"/>
              </a:rPr>
              <a:t>试点单位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933950" y="28956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研发网、办公网各选试点，先跑通再推广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677150" y="2581275"/>
            <a:ext cx="19050" cy="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943850" y="197167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81810"/>
                </a:solidFill>
                <a:latin typeface="Microsoft YaHei"/>
                <a:ea typeface="Microsoft YaHei"/>
              </a:rPr>
              <a:t>为什么需要成建制：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943850" y="2257425"/>
            <a:ext cx="33337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4B5563"/>
                </a:solidFill>
                <a:latin typeface="Microsoft YaHei"/>
                <a:ea typeface="Microsoft YaHei"/>
              </a:rPr>
              <a:t>两套底座意味着两套运维、两套治理——训练调优、模型更新、权限审计、使用运营都需要专人专职。没有成建制队伍，平台建起来也转不动。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66750" y="3943350"/>
            <a:ext cx="5905500" cy="2419350"/>
          </a:xfrm>
          <a:prstGeom prst="roundRect">
            <a:avLst>
              <a:gd name="adj" fmla="val 6299"/>
            </a:avLst>
          </a:prstGeom>
          <a:solidFill>
            <a:srgbClr val="FDF6F2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pic>
        <p:nvPicPr>
          <p:cNvPr id="3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4133850"/>
            <a:ext cx="228600" cy="22860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238250" y="41338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人才三路并行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14400" y="4495800"/>
            <a:ext cx="1685925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571625" y="46101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引进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247775" y="4895850"/>
            <a:ext cx="10287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13">
                <a:solidFill>
                  <a:srgbClr val="6B7280"/>
                </a:solidFill>
                <a:latin typeface="Microsoft YaHei"/>
                <a:ea typeface="Microsoft YaHei"/>
              </a:rPr>
              <a:t>关键岗位外部引进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2771775" y="4495800"/>
            <a:ext cx="1695450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429000" y="46101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63F26"/>
                </a:solidFill>
                <a:latin typeface="Microsoft YaHei"/>
                <a:ea typeface="Microsoft YaHei"/>
              </a:rPr>
              <a:t>培养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105150" y="4895850"/>
            <a:ext cx="10287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13">
                <a:solidFill>
                  <a:srgbClr val="6B7280"/>
                </a:solidFill>
                <a:latin typeface="Microsoft YaHei"/>
                <a:ea typeface="Microsoft YaHei"/>
              </a:rPr>
              <a:t>内部选拔实战培养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638675" y="4495800"/>
            <a:ext cx="1685925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95900" y="461010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A81810"/>
                </a:solidFill>
                <a:latin typeface="Microsoft YaHei"/>
                <a:ea typeface="Microsoft YaHei"/>
              </a:rPr>
              <a:t>支持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972050" y="4895850"/>
            <a:ext cx="10287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13">
                <a:solidFill>
                  <a:srgbClr val="6B7280"/>
                </a:solidFill>
                <a:latin typeface="Microsoft YaHei"/>
                <a:ea typeface="Microsoft YaHei"/>
              </a:rPr>
              <a:t>厂商专家驻场支持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800850" y="3943350"/>
            <a:ext cx="4724400" cy="2419350"/>
          </a:xfrm>
          <a:prstGeom prst="roundRect">
            <a:avLst>
              <a:gd name="adj" fmla="val 6299"/>
            </a:avLst>
          </a:prstGeom>
          <a:solidFill>
            <a:srgbClr val="FDF6F2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0" y="4133850"/>
            <a:ext cx="228600" cy="22860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372350" y="41338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71616"/>
                </a:solidFill>
                <a:latin typeface="Microsoft YaHei"/>
                <a:ea typeface="Microsoft YaHei"/>
              </a:rPr>
              <a:t>制度先行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7048500" y="4495800"/>
            <a:ext cx="4229100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7181850" y="4638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353300" y="4581525"/>
            <a:ext cx="762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使用规范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210550" y="459105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各网使用边界、申请与审批流程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7048500" y="4943475"/>
            <a:ext cx="4229100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7181850" y="5086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353300" y="5029200"/>
            <a:ext cx="762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审计制度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210550" y="50387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问答留痕、访问审计与异常处置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048500" y="5391150"/>
            <a:ext cx="4229100" cy="352425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2700">
            <a:solidFill>
              <a:srgbClr val="F0D9CE"/>
            </a:solidFill>
            <a:prstDash val="solid"/>
          </a:ln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7181850" y="55340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353300" y="5476875"/>
            <a:ext cx="7620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71616"/>
                </a:solidFill>
                <a:latin typeface="Microsoft YaHei"/>
                <a:ea typeface="Microsoft YaHei"/>
              </a:rPr>
              <a:t>运维规范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210550" y="54864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>两套底座的变更、升级与应急流程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66750" y="662940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419850" y="662940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9248775" y="662940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372725" y="65817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36" name="" descr="&lt;Slide style={{ width: '1280px', height: '720px', background: '#FFFFFF', position: 'relative', padding: '0 70px' }}&gt;&#10;    &lt;Box style={{ position: 'relative', width: '100%', height: '100%' }}&gt;&#10;        {/* 标题区 */}&#10;        &lt;Box style={{ position: 'absolute', top: 44, left: 0, right: 0, flexDirection: 'row', alignItems: 'center' }}&gt;&#10;            &lt;Box style={{ width: 10, height: 42, background: '#C42819', borderRadius: 3 }} /&gt;&#10;            &lt;Text style={{ fontSize: 36, fontWeight: 'bold', fontFamily: 'SimSun', color: '#171616', marginLeft: 18 }}&gt;风险怎么看：五类风险，逐一有对策&lt;/Text&gt;&#10;            &lt;Box style={{ flex: 1 }} /&gt;&#10;            &lt;Text style={{ fontSize: 20, color: '#C42819', fontWeight: 'bold' }}&gt;风险应对&lt;/Text&gt;&#10;        &lt;/Box&gt;&#10;&#10;        {/* 引导语 */}&#10;        &lt;Box style={{ position: 'absolute', top: 104, left: 0, right: 0 }}&gt;&#10;            &lt;Text style={{ fontSize: 17, color: '#4B5563', lineHeight: 1.5 }}&gt;把话说在前面：不回避风险，每类风险都有明确对策——最大的风险不是技术，而是&quot;不做&quot;导致的系统性落后。&lt;/Text&gt;&#10;        &lt;/Box&gt;&#10;&#10;        {/* 风险网格 */}&#10;        &lt;Box style={{ position: 'absolute', top: 148, left: 0, right: 0, flexDirection: 'column', gap: 11 }}&gt;&#10;            {[&#10;                { no: '01', t: '两套投资偏高，超出预算承受力', r: '对策', a: '分期决策：一期 POC 两网各小套验证后再批二期；两套规模按各网实际使用人数分别校准，控制总额。', c: '#C42819' },&#10;                { no: '02', t: '技术迭代快，今天买了明天过时', r: '对策', a: '架构解耦&quot;模型与底座&quot;：模型可随时替换升级，算力按标准接口扩展，不绑定单一供应商。', c: '#E63F26' },&#10;                { no: '03', t: '建成后实际用量不及预期', r: '对策', a: 'POC 先行、实测后铺开：先在两网小规模验证真实用量，二期规模由数据决定而非拍脑袋。', c: '#A81810' },&#10;                { no: '04', t: '模型输出质量/精度不达标', r: '对策', a: '选型阶段设质量门槛：跑行业标准基准测试，不达标不立项；上线后持续评测与调优。', c: '#C42819' },&#10;                { no: '05', t: '人才与双网运维跟不上', r: '对策', a: '&quot;引进 + 培养 + 厂商支持&quot;三路并行；运维与治理组织成建制配置，两套底座专人专职。', c: '#EE5530' },&#10;            ].map((item, idx) =&gt; (&#10;                &lt;Box key={idx} style={{ flexDirection: 'row', alignItems: 'stretch', borderRadius: 12, border: '1px solid #E5E7EB', background: '#FFFFFF', overflow: 'hidden', minHeight: 62 }}&gt;&#10;                    {/* 编号 */}&#10;                    &lt;Box style={{ width: 68, alignItems: 'center', justifyContent: 'center', background: '#FDF3F0' }}&gt;&#10;                        &lt;Text style={{ fontSize: 25, fontWeight: 'bold', color: item.c }}&gt;{item.no}&lt;/Text&gt;&#10;                    &lt;/Box&gt;&#10;                    {/* 风险 */}&#10;                    &lt;Box style={{ width: 340, padding: '10px 18px', justifyContent: 'center' }}&gt;&#10;                        &lt;Text style={{ fontSize: 17.5, fontWeight: 'bold', color: '#171616', lineHeight: 1.4 }}&gt;{item.t}&lt;/Text&gt;&#10;                    &lt;/Box&gt;&#10;                    {/* 分隔 */}&#10;                    &lt;Box style={{ width: 2, background: '#F0D9CE', margin: '10px 0' }} /&gt;&#10;                    {/* 对策 */}&#10;                    &lt;Box style={{ flex: 1, padding: '10px 18px', flexDirection: 'row', gap: 12, alignItems: 'center' }}&gt;&#10;                        &lt;Box style={{ padding: '3px 12px', borderRadius: 12, background: item.c, flexShrink: 0 }}&gt;&#10;                            &lt;Text style={{ fontSize: 13.5, fontWeight: 'bold', color: '#FFFFFF' }}&gt;{item.r}&lt;/Text&gt;&#10;                        &lt;/Box&gt;&#10;                        &lt;Text style={{ fontSize: 15.5, color: '#4B5563', lineHeight: 1.5 }}&gt;{item.a}&lt;/Text&gt;&#10;                    &lt;/Box&gt;&#10;                &lt;/Box&gt;&#10;            ))}&#10;        &lt;/Box&gt;&#10;&#10;        {/* 底部判断 */}&#10;        &lt;Box style={{ position: 'absolute', bottom: 46, left: 0, right: 0, flexDirection: 'row', gap: 14, alignItems: 'center', background: '#C42819', borderRadius: 12, padding: '15px 24px' }}&gt;&#10;            &lt;FAIcon name='exclamation-triangle' style={{ fill: '#FFE79B', width: 26, height: 26 }} /&gt;&#10;            &lt;Text style={{ fontSize: 17.5, color: '#FFFFFF', lineHeight: 1.5 }}&gt;一句话总结：所有风险都指向同一个答案——分期试点、实测扩量、按网校准、成建制运维。&lt;/Text&gt;&#10;        &lt;/Box&gt;&#10;&#10;        {/* 页脚装饰条 */}&#10;        &lt;Box style={{ position: 'absolute', bottom: 0, left: 0, right: 0, height: 36, flexDirection: 'row', alignItems: 'center' }}&gt;&#10;            &lt;Box style={{ width: '53%', height: 9, background: '#C42819' }} /&gt;&#10;            &lt;Box style={{ width: '26%', height: 9, background: '#EE5530' }} /&gt;&#10;            &lt;Box style={{ width: '21%', height: 9, background: '#F26B40' }} /&gt;&#10;            &lt;Text style={{ position: 'absolute', right: 70, fontSize: 15, color: '#9CA3AF' }}&gt;16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666750" y="428625"/>
            <a:ext cx="95250" cy="400050"/>
          </a:xfrm>
          <a:prstGeom prst="roundRect">
            <a:avLst>
              <a:gd name="adj" fmla="val 30000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33450" y="419100"/>
            <a:ext cx="5486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71616"/>
                </a:solidFill>
                <a:latin typeface="SimSun"/>
                <a:ea typeface="SimSun"/>
              </a:rPr>
              <a:t>风险怎么看：五类风险，逐一有对策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0763250" y="5143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2819"/>
                </a:solidFill>
                <a:latin typeface="Microsoft YaHei"/>
                <a:ea typeface="Microsoft YaHei"/>
              </a:rPr>
              <a:t>风险应对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66750" y="990600"/>
            <a:ext cx="10858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把话说在前面：不回避风险，每类风险都有明确对策——最大的风险不是技术，而是</a:t>
            </a:r>
            <a:r>
              <a:rPr lang="en-US" sz="127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不做</a:t>
            </a:r>
            <a:r>
              <a:rPr lang="en-US" sz="1275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B5563"/>
                </a:solidFill>
                <a:latin typeface="Microsoft YaHei"/>
                <a:ea typeface="Microsoft YaHei"/>
              </a:rPr>
              <a:t>导致的系统性落后。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66750" y="1409700"/>
            <a:ext cx="108585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666750" y="1409700"/>
            <a:ext cx="647700" cy="723900"/>
          </a:xfrm>
          <a:custGeom>
            <a:pathLst>
              <a:path w="68" h="76">
                <a:moveTo>
                  <a:pt x="68" y="76"/>
                </a:moveTo>
                <a:lnTo>
                  <a:pt x="12" y="76"/>
                </a:lnTo>
                <a:cubicBezTo>
                  <a:pt x="5" y="76"/>
                  <a:pt x="0" y="71"/>
                  <a:pt x="0" y="64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" y="0"/>
                </a:lnTo>
                <a:close/>
              </a:path>
            </a:pathLst>
          </a:custGeom>
          <a:solidFill>
            <a:srgbClr val="FDF3F0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47725" y="1628775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C4281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485900" y="1628775"/>
            <a:ext cx="2895600" cy="2857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两套投资偏高，超出预算承受力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552950" y="1504950"/>
            <a:ext cx="19050" cy="53340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4743450" y="1666875"/>
            <a:ext cx="485775" cy="219075"/>
          </a:xfrm>
          <a:prstGeom prst="roundRect">
            <a:avLst>
              <a:gd name="adj" fmla="val 52174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857750" y="1695450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343525" y="1504950"/>
            <a:ext cx="60102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分期决策：一期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 POC 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两网各小套验证后再批二期；两套规模按各网实际使用人数分别校准，控制总额。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66750" y="2238375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666750" y="2238375"/>
            <a:ext cx="647700" cy="590550"/>
          </a:xfrm>
          <a:custGeom>
            <a:pathLst>
              <a:path w="68" h="62">
                <a:moveTo>
                  <a:pt x="68" y="62"/>
                </a:moveTo>
                <a:lnTo>
                  <a:pt x="12" y="62"/>
                </a:lnTo>
                <a:cubicBezTo>
                  <a:pt x="5" y="62"/>
                  <a:pt x="0" y="57"/>
                  <a:pt x="0" y="5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" y="0"/>
                </a:lnTo>
                <a:close/>
              </a:path>
            </a:pathLst>
          </a:custGeom>
          <a:solidFill>
            <a:srgbClr val="FDF3F0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47725" y="2390775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E63F26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485900" y="2390775"/>
            <a:ext cx="2895600" cy="2857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技术迭代快，今天买了明天过时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552950" y="2333625"/>
            <a:ext cx="19050" cy="400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4743450" y="2428875"/>
            <a:ext cx="485775" cy="219075"/>
          </a:xfrm>
          <a:prstGeom prst="roundRect">
            <a:avLst>
              <a:gd name="adj" fmla="val 52174"/>
            </a:avLst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857750" y="2457450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343525" y="2400300"/>
            <a:ext cx="58959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架构解耦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模型与底座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：模型可随时替换升级，算力按标准接口扩展，不绑定单一供应商。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66750" y="2933700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666750" y="2933700"/>
            <a:ext cx="647700" cy="590550"/>
          </a:xfrm>
          <a:custGeom>
            <a:pathLst>
              <a:path w="68" h="62">
                <a:moveTo>
                  <a:pt x="68" y="62"/>
                </a:moveTo>
                <a:lnTo>
                  <a:pt x="12" y="62"/>
                </a:lnTo>
                <a:cubicBezTo>
                  <a:pt x="5" y="62"/>
                  <a:pt x="0" y="57"/>
                  <a:pt x="0" y="5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" y="0"/>
                </a:lnTo>
                <a:close/>
              </a:path>
            </a:pathLst>
          </a:custGeom>
          <a:solidFill>
            <a:srgbClr val="FDF3F0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47725" y="3086100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A8181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485900" y="3086100"/>
            <a:ext cx="2895600" cy="2857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建成后实际用量不及预期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552950" y="3028950"/>
            <a:ext cx="19050" cy="400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743450" y="3124200"/>
            <a:ext cx="485775" cy="219075"/>
          </a:xfrm>
          <a:prstGeom prst="roundRect">
            <a:avLst>
              <a:gd name="adj" fmla="val 52174"/>
            </a:avLst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857750" y="3152775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343525" y="3095625"/>
            <a:ext cx="59721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POC 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先行、实测后铺开：先在两网小规模验证真实用量，二期规模由数据决定而非拍脑袋。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66750" y="3629025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666750" y="3629025"/>
            <a:ext cx="647700" cy="590550"/>
          </a:xfrm>
          <a:custGeom>
            <a:pathLst>
              <a:path w="68" h="62">
                <a:moveTo>
                  <a:pt x="68" y="62"/>
                </a:moveTo>
                <a:lnTo>
                  <a:pt x="12" y="62"/>
                </a:lnTo>
                <a:cubicBezTo>
                  <a:pt x="5" y="62"/>
                  <a:pt x="0" y="57"/>
                  <a:pt x="0" y="5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" y="0"/>
                </a:lnTo>
                <a:close/>
              </a:path>
            </a:pathLst>
          </a:custGeom>
          <a:solidFill>
            <a:srgbClr val="FDF3F0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47725" y="3781425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C4281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485900" y="3781425"/>
            <a:ext cx="2895600" cy="2857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模型输出质量</a:t>
            </a:r>
            <a:r>
              <a:rPr lang="en-US" sz="1313" b="1">
                <a:solidFill>
                  <a:srgbClr val="171616"/>
                </a:solidFill>
                <a:latin typeface="Microsoft YaHei"/>
                <a:ea typeface="Microsoft YaHei"/>
              </a:rPr>
              <a:t>/</a:t>
            </a: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精度不达标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4552950" y="3724275"/>
            <a:ext cx="19050" cy="400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4743450" y="3819525"/>
            <a:ext cx="485775" cy="219075"/>
          </a:xfrm>
          <a:prstGeom prst="roundRect">
            <a:avLst>
              <a:gd name="adj" fmla="val 52174"/>
            </a:avLst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857750" y="3848100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343525" y="3790950"/>
            <a:ext cx="561022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选型阶段设质量门槛：跑行业标准基准测试，不达标不立项；上线后持续评测与调优。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66750" y="4324350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666750" y="4324350"/>
            <a:ext cx="647700" cy="590550"/>
          </a:xfrm>
          <a:custGeom>
            <a:pathLst>
              <a:path w="68" h="62">
                <a:moveTo>
                  <a:pt x="68" y="62"/>
                </a:moveTo>
                <a:lnTo>
                  <a:pt x="12" y="62"/>
                </a:lnTo>
                <a:cubicBezTo>
                  <a:pt x="5" y="62"/>
                  <a:pt x="0" y="57"/>
                  <a:pt x="0" y="5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8" y="0"/>
                </a:lnTo>
                <a:close/>
              </a:path>
            </a:pathLst>
          </a:custGeom>
          <a:solidFill>
            <a:srgbClr val="FDF3F0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47725" y="4476750"/>
            <a:ext cx="295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EE553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485900" y="4476750"/>
            <a:ext cx="2895600" cy="2857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13" b="1">
                <a:solidFill>
                  <a:srgbClr val="171616"/>
                </a:solidFill>
                <a:latin typeface="Microsoft YaHei"/>
                <a:ea typeface="Microsoft YaHei"/>
              </a:rPr>
              <a:t>人才与双网运维跟不上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552950" y="4419600"/>
            <a:ext cx="19050" cy="400050"/>
          </a:xfrm>
          <a:prstGeom prst="rect">
            <a:avLst/>
          </a:prstGeom>
          <a:solidFill>
            <a:srgbClr val="F0D9CE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4743450" y="4514850"/>
            <a:ext cx="485775" cy="219075"/>
          </a:xfrm>
          <a:prstGeom prst="roundRect">
            <a:avLst>
              <a:gd name="adj" fmla="val 52174"/>
            </a:avLst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857750" y="4543425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对策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343525" y="4486275"/>
            <a:ext cx="5695950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引进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 + 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培养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 + 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厂商支持</a:t>
            </a:r>
            <a:r>
              <a:rPr lang="en-US" sz="116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4B5563"/>
                </a:solidFill>
                <a:latin typeface="Microsoft YaHei"/>
                <a:ea typeface="Microsoft YaHei"/>
              </a:rPr>
              <a:t>三路并行；运维与治理组织成建制配置，两套底座专人专职。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66750" y="5829300"/>
            <a:ext cx="10858500" cy="590550"/>
          </a:xfrm>
          <a:prstGeom prst="roundRect">
            <a:avLst>
              <a:gd name="adj" fmla="val 19355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3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6000750"/>
            <a:ext cx="247650" cy="247650"/>
          </a:xfrm>
          <a:prstGeom prst="rect">
            <a:avLst/>
          </a:prstGeom>
          <a:ln/>
        </p:spPr>
      </p:pic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276350" y="5972175"/>
            <a:ext cx="6867525" cy="304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13">
                <a:solidFill>
                  <a:srgbClr val="FFFFFF"/>
                </a:solidFill>
                <a:latin typeface="Microsoft YaHei"/>
                <a:ea typeface="Microsoft YaHei"/>
              </a:rPr>
              <a:t>一句话总结：所有风险都指向同一个答案——分期试点、实测扩量、按网校准、成建制运维。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66750" y="6648450"/>
            <a:ext cx="5753100" cy="8572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419850" y="6648450"/>
            <a:ext cx="2828925" cy="85725"/>
          </a:xfrm>
          <a:prstGeom prst="rect">
            <a:avLst/>
          </a:prstGeom>
          <a:solidFill>
            <a:srgbClr val="EE5530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9248775" y="6648450"/>
            <a:ext cx="2276475" cy="85725"/>
          </a:xfrm>
          <a:prstGeom prst="rect">
            <a:avLst/>
          </a:prstGeom>
          <a:solidFill>
            <a:srgbClr val="F26B40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0372725" y="66008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89" name="" descr="&lt;Slide style={{ width: '1280px', height: '720px', background: 'linear-gradient(150deg, #7A0E08 0%, #A81810 32%, #D02A1B 68%, #E8482C 100%)', position: 'relative', overflow: 'hidden' }}&gt;&#10;    {/* 金色光晕 */}&#10;    &lt;Box style={{ position: 'absolute', top: -150, right: -90, width: 520, height: 520, borderRadius: 260, background: 'radial-gradient(circle, rgba(255,215,0,0.25) 0%, rgba(255,215,0,0) 70%)' }} /&gt;&#10;    &lt;Box style={{ position: 'absolute', bottom: -160, left: -120, width: 460, height: 460, borderRadius: 230, background: 'radial-gradient(circle, rgba(255,231,155,0.16) 0%, rgba(255,231,155,0) 70%)' }} /&gt;&#10;    {/* 顶部细金线 */}&#10;    &lt;Box style={{ position: 'absolute', top: 0, left: 0, width: '100%', height: 6, background: 'linear-gradient(90deg, #FFE79B 0%, #FFD700 30%, #E19825 60%, #FFE79B 100%)' }} /&gt;&#10;&#10;    {/* 主内容 */}&#10;    &lt;Box style={{ position: 'relative', zIndex: 2, width: '100%', height: '100%', padding: '48px 70px' }}&gt;&#10;        {/* 标题区 */}&#10;        &lt;Box style={{ flexDirection: 'row', alignItems: 'center', justifyContent: 'center' }}&gt;&#10;            &lt;Box style={{ width: 46, height: 2, background: 'rgba(255,215,0,0.8)' }} /&gt;&#10;            &lt;Box style={{ padding: '8px 30px', borderRadius: 24, border: '1px solid rgba(255,215,0,0.75)' }}&gt;&#10;                &lt;Text style={{ fontSize: 19, color: '#FFE79B', letterSpacing: 5, fontWeight: 'bold' }}&gt;提请党委会审议&lt;/Text&gt;&#10;            &lt;/Box&gt;&#10;            &lt;Box style={{ width: 46, height: 2, background: 'rgba(255,215,0,0.8)' }} /&gt;&#10;        &lt;/Box&gt;&#10;        &lt;Box style={{ alignItems: 'center', marginTop: 14 }}&gt;&#10;            &lt;Text style={{ fontSize: 42, fontWeight: 'bold', fontFamily: 'SimSun', color: '#FFFFFF', textAlign: 'center', letterSpacing: 3 }}&gt;三件事，请各位领导决策&lt;/Text&gt;&#10;        &lt;/Box&gt;&#10;&#10;        {/* 三项决议 */}&#10;        &lt;Box style={{ flex: 1, flexDirection: 'row', gap: 26, marginTop: 30, alignItems: 'stretch' }}&gt;&#10;            {[&#10;                { no: '01', t: '批准立项', d: '批准&quot;AI 能力建设&quot;按双网两套、完全隔离方案立项，纳入公司年度重点工作，明确牵头部门与试点单位。', icon: 'clipboard-check', c: '#C42819' },&#10;                { no: '02', t: '批准一期 POC 投资', d: '批准两网各建一小套 POC 试点，验证真实用量与可行性；投资概算以询价为准，验收后另行报批二期。', icon: 'money-bill-wave', c: '#E63F26' },&#10;                { no: '03', t: '批准组建工作组', d: '批准成立 AI 专项工作组与试点单位，明确试点范围、验收标准与定期向党委会汇报机制。', icon: 'users-cog', c: '#A81810' },&#10;            ].map((item, idx) =&gt; (&#10;                &lt;Box key={idx} style={{ flex: 1, borderRadius: 18, background: 'rgba(255,255,255,0.96)', padding: '26px 26px', flexDirection: 'column' }}&gt;&#10;                    &lt;Box style={{ flexDirection: 'row', alignItems: 'center', justifyContent: 'space-between' }}&gt;&#10;                        &lt;Text style={{ fontSize: 46, fontWeight: 'bold', color: item.c, fontFamily: 'SimSun' }}&gt;{item.no}&lt;/Text&gt;&#10;                        &lt;Box style={{ width: 52, height: 52, borderRadius: 14, background: item.c, alignItems: 'center', justifyContent: 'center' }}&gt;&#10;                            &lt;FAIcon name={item.icon} style={{ fill: '#FFE79B', width: 26, height: 26 }} /&gt;&#10;                        &lt;/Box&gt;&#10;                    &lt;/Box&gt;&#10;                    &lt;Box style={{ height: 3, background: item.c, margin: '14px 0' }} /&gt;&#10;                    &lt;Text style={{ fontSize: 28, fontWeight: 'bold', color: '#171616' }}&gt;{item.t}&lt;/Text&gt;&#10;                    &lt;Text style={{ fontSize: 16, color: '#4B5563', lineHeight: 1.75, marginTop: 10 }}&gt;{item.d}&lt;/Text&gt;&#10;                &lt;/Box&gt;&#10;            ))}&#10;        &lt;/Box&gt;&#10;&#10;        {/* 底部请求条 */}&#10;        &lt;Box style={{ flexDirection: 'row', alignItems: 'center', justifyContent: 'center', gap: 16, marginTop: 26, background: 'rgba(255,215,0,0.14)', border: '1px solid rgba(255,215,0,0.5)', borderRadius: 14, padding: '18px 26px' }}&gt;&#10;            &lt;FAIcon name='handshake' style={{ fill: '#FFD700', width: 30, height: 30 }} /&gt;&#10;            &lt;Text style={{ fontSize: 22, fontWeight: 'bold', color: '#FFFFFF', letterSpacing: 2 }}&gt;以上方案，提请党委会审议批准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0E08"/>
              </a:gs>
              <a:gs pos="32000">
                <a:srgbClr val="A81810"/>
              </a:gs>
              <a:gs pos="68000">
                <a:srgbClr val="D02A1B"/>
              </a:gs>
              <a:gs pos="100000">
                <a:srgbClr val="E8482C"/>
              </a:gs>
            </a:gsLst>
            <a:lin ang="3600000" scaled="1"/>
          </a:gra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8096250" y="-1428750"/>
            <a:ext cx="4953000" cy="4953000"/>
          </a:xfrm>
          <a:custGeom>
            <a:pathLst>
              <a:path w="520" h="520">
                <a:moveTo>
                  <a:pt x="430" y="457"/>
                </a:moveTo>
                <a:lnTo>
                  <a:pt x="425" y="461"/>
                </a:lnTo>
                <a:lnTo>
                  <a:pt x="420" y="465"/>
                </a:ln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4" y="150"/>
                </a:lnTo>
                <a:lnTo>
                  <a:pt x="430" y="150"/>
                </a:lnTo>
                <a:close/>
              </a:path>
            </a:pathLst>
          </a:custGeom>
          <a:gradFill>
            <a:gsLst>
              <a:gs pos="0">
                <a:srgbClr val="FFD700">
                  <a:alpha val="25000"/>
                </a:srgbClr>
              </a:gs>
              <a:gs pos="70000">
                <a:srgbClr val="FFD7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-1143000" y="40005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4" y="282"/>
                </a:lnTo>
                <a:lnTo>
                  <a:pt x="453" y="287"/>
                </a:lnTo>
                <a:lnTo>
                  <a:pt x="451" y="293"/>
                </a:lnTo>
                <a:lnTo>
                  <a:pt x="450" y="298"/>
                </a:lnTo>
                <a:lnTo>
                  <a:pt x="449" y="300"/>
                </a:lnTo>
                <a:lnTo>
                  <a:pt x="120" y="300"/>
                </a:lnTo>
                <a:lnTo>
                  <a:pt x="120" y="28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FFE79B">
                  <a:alpha val="16000"/>
                </a:srgbClr>
              </a:gs>
              <a:gs pos="70000">
                <a:srgbClr val="FFE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FE79B"/>
              </a:gs>
              <a:gs pos="30000">
                <a:srgbClr val="FFD700"/>
              </a:gs>
              <a:gs pos="60000">
                <a:srgbClr val="E19825"/>
              </a:gs>
              <a:gs pos="100000">
                <a:srgbClr val="FFE79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4572000" y="638175"/>
            <a:ext cx="438150" cy="19050"/>
          </a:xfrm>
          <a:prstGeom prst="rect">
            <a:avLst/>
          </a:prstGeom>
          <a:solidFill>
            <a:srgbClr val="FFD700">
              <a:alpha val="80000"/>
            </a:srgbClr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5010150" y="457200"/>
            <a:ext cx="2171700" cy="371475"/>
          </a:xfrm>
          <a:prstGeom prst="roundRect">
            <a:avLst>
              <a:gd name="adj" fmla="val 61538"/>
            </a:avLst>
          </a:prstGeom>
          <a:ln w="12700">
            <a:solidFill>
              <a:srgbClr val="FFD700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295900" y="533400"/>
            <a:ext cx="160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375">
                <a:solidFill>
                  <a:srgbClr val="FFE79B"/>
                </a:solidFill>
                <a:latin typeface="Microsoft YaHei"/>
                <a:ea typeface="Microsoft YaHei"/>
              </a:rPr>
              <a:t>提请党委会审议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7181850" y="638175"/>
            <a:ext cx="438150" cy="19050"/>
          </a:xfrm>
          <a:prstGeom prst="rect">
            <a:avLst/>
          </a:prstGeom>
          <a:solidFill>
            <a:srgbClr val="FFD700">
              <a:alpha val="80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743325" y="962025"/>
            <a:ext cx="4714875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150" b="1" spc="225">
                <a:solidFill>
                  <a:srgbClr val="FFFFFF"/>
                </a:solidFill>
                <a:latin typeface="SimSun"/>
                <a:ea typeface="SimSun"/>
              </a:rPr>
              <a:t>三件事，请各位领导决策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66750" y="1733550"/>
            <a:ext cx="3457575" cy="3790950"/>
          </a:xfrm>
          <a:prstGeom prst="roundRect">
            <a:avLst>
              <a:gd name="adj" fmla="val 4959"/>
            </a:avLst>
          </a:prstGeom>
          <a:solidFill>
            <a:srgbClr val="FFFFFF">
              <a:alpha val="96000"/>
            </a:srgbClr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14400" y="19812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42819"/>
                </a:solidFill>
                <a:latin typeface="SimSun"/>
                <a:ea typeface="SimSun"/>
              </a:rPr>
              <a:t>01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381375" y="20002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C42819"/>
          </a:solidFill>
          <a:ln/>
        </p:spPr>
        <p:txBody>
          <a:bodyPr/>
          <a:p/>
        </p:txBody>
      </p:sp>
      <p:pic>
        <p:nvPicPr>
          <p:cNvPr id="4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05200" y="2124075"/>
            <a:ext cx="247650" cy="247650"/>
          </a:xfrm>
          <a:prstGeom prst="rect">
            <a:avLst/>
          </a:prstGeom>
          <a:ln/>
        </p:spPr>
      </p:pic>
      <p:sp>
        <p:nvSpPr>
          <p:cNvPr id="403" name=""/>
          <p:cNvSpPr/>
          <p:nvPr/>
        </p:nvSpPr>
        <p:spPr>
          <a:xfrm rot="0" flipH="0" flipV="0">
            <a:off x="914400" y="2647950"/>
            <a:ext cx="2962275" cy="28575"/>
          </a:xfrm>
          <a:prstGeom prst="rect">
            <a:avLst/>
          </a:prstGeom>
          <a:solidFill>
            <a:srgbClr val="C42819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914400" y="2809875"/>
            <a:ext cx="29622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71616"/>
                </a:solidFill>
                <a:latin typeface="Microsoft YaHei"/>
                <a:ea typeface="Microsoft YaHei"/>
              </a:rPr>
              <a:t>批准立项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14400" y="3228975"/>
            <a:ext cx="29622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批准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能力建设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按双网两套、完全隔离方案立项，纳入公司年度重点工作，明确牵头部门与试点单位。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371975" y="1733550"/>
            <a:ext cx="3448050" cy="3790950"/>
          </a:xfrm>
          <a:prstGeom prst="roundRect">
            <a:avLst>
              <a:gd name="adj" fmla="val 4972"/>
            </a:avLst>
          </a:prstGeom>
          <a:solidFill>
            <a:srgbClr val="FFFFFF">
              <a:alpha val="96000"/>
            </a:srgbClr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619625" y="19812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63F26"/>
                </a:solidFill>
                <a:latin typeface="SimSun"/>
                <a:ea typeface="SimSun"/>
              </a:rPr>
              <a:t>02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7077075" y="20002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E63F26"/>
          </a:solidFill>
          <a:ln/>
        </p:spPr>
        <p:txBody>
          <a:bodyPr/>
          <a:p/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00900" y="2124075"/>
            <a:ext cx="247650" cy="247650"/>
          </a:xfrm>
          <a:prstGeom prst="rect">
            <a:avLst/>
          </a:prstGeom>
          <a:ln/>
        </p:spPr>
      </p:pic>
      <p:sp>
        <p:nvSpPr>
          <p:cNvPr id="410" name=""/>
          <p:cNvSpPr/>
          <p:nvPr/>
        </p:nvSpPr>
        <p:spPr>
          <a:xfrm rot="0" flipH="0" flipV="0">
            <a:off x="4619625" y="2647950"/>
            <a:ext cx="2952750" cy="28575"/>
          </a:xfrm>
          <a:prstGeom prst="rect">
            <a:avLst/>
          </a:prstGeom>
          <a:solidFill>
            <a:srgbClr val="E63F26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619625" y="2809875"/>
            <a:ext cx="295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71616"/>
                </a:solidFill>
                <a:latin typeface="Microsoft YaHei"/>
                <a:ea typeface="Microsoft YaHei"/>
              </a:rPr>
              <a:t>批准一期</a:t>
            </a:r>
            <a:r>
              <a:rPr lang="en-US" sz="2100" b="1">
                <a:solidFill>
                  <a:srgbClr val="171616"/>
                </a:solidFill>
                <a:latin typeface="Microsoft YaHei"/>
                <a:ea typeface="Microsoft YaHei"/>
              </a:rPr>
              <a:t> POC </a:t>
            </a:r>
            <a:r>
              <a:rPr lang="zh-CN" sz="2100" b="1">
                <a:solidFill>
                  <a:srgbClr val="171616"/>
                </a:solidFill>
                <a:latin typeface="Microsoft YaHei"/>
                <a:ea typeface="Microsoft YaHei"/>
              </a:rPr>
              <a:t>投资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619625" y="3228975"/>
            <a:ext cx="29527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批准两网各建一小套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 POC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试点，验证真实用量与可行性；投资概算以询价为准，验收后另行报批二期。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067675" y="1733550"/>
            <a:ext cx="3457575" cy="3790950"/>
          </a:xfrm>
          <a:prstGeom prst="roundRect">
            <a:avLst>
              <a:gd name="adj" fmla="val 4959"/>
            </a:avLst>
          </a:prstGeom>
          <a:solidFill>
            <a:srgbClr val="FFFFFF">
              <a:alpha val="96000"/>
            </a:srgbClr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15325" y="1981200"/>
            <a:ext cx="4381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A81810"/>
                </a:solidFill>
                <a:latin typeface="SimSun"/>
                <a:ea typeface="SimSun"/>
              </a:rPr>
              <a:t>03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10782300" y="2000250"/>
            <a:ext cx="495300" cy="495300"/>
          </a:xfrm>
          <a:prstGeom prst="roundRect">
            <a:avLst>
              <a:gd name="adj" fmla="val 26923"/>
            </a:avLst>
          </a:prstGeom>
          <a:solidFill>
            <a:srgbClr val="A81810"/>
          </a:solidFill>
          <a:ln/>
        </p:spPr>
        <p:txBody>
          <a:bodyPr/>
          <a:p/>
        </p:txBody>
      </p:sp>
      <p:pic>
        <p:nvPicPr>
          <p:cNvPr id="4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906125" y="2124075"/>
            <a:ext cx="247650" cy="247650"/>
          </a:xfrm>
          <a:prstGeom prst="rect">
            <a:avLst/>
          </a:prstGeom>
          <a:ln/>
        </p:spPr>
      </p:pic>
      <p:sp>
        <p:nvSpPr>
          <p:cNvPr id="417" name=""/>
          <p:cNvSpPr/>
          <p:nvPr/>
        </p:nvSpPr>
        <p:spPr>
          <a:xfrm rot="0" flipH="0" flipV="0">
            <a:off x="8315325" y="2647950"/>
            <a:ext cx="2962275" cy="28575"/>
          </a:xfrm>
          <a:prstGeom prst="rect">
            <a:avLst/>
          </a:prstGeom>
          <a:solidFill>
            <a:srgbClr val="A81810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315325" y="2809875"/>
            <a:ext cx="29622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71616"/>
                </a:solidFill>
                <a:latin typeface="Microsoft YaHei"/>
                <a:ea typeface="Microsoft YaHei"/>
              </a:rPr>
              <a:t>批准组建工作组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15325" y="3228975"/>
            <a:ext cx="29622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批准成立</a:t>
            </a:r>
            <a:r>
              <a:rPr lang="en-US" sz="1200">
                <a:solidFill>
                  <a:srgbClr val="4B5563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4B5563"/>
                </a:solidFill>
                <a:latin typeface="Microsoft YaHei"/>
                <a:ea typeface="Microsoft YaHei"/>
              </a:rPr>
              <a:t>专项工作组与试点单位，明确试点范围、验收标准与定期向党委会汇报机制。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66750" y="5772150"/>
            <a:ext cx="10858500" cy="628650"/>
          </a:xfrm>
          <a:prstGeom prst="roundRect">
            <a:avLst>
              <a:gd name="adj" fmla="val 21212"/>
            </a:avLst>
          </a:prstGeom>
          <a:solidFill>
            <a:srgbClr val="FFD700">
              <a:alpha val="14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76725" y="5943600"/>
            <a:ext cx="285750" cy="28575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714875" y="596265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FFFFFF"/>
                </a:solidFill>
                <a:latin typeface="Microsoft YaHei"/>
                <a:ea typeface="Microsoft YaHei"/>
              </a:rPr>
              <a:t>以上方案，提请党委会审议批准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23" name="" descr="&lt;Slide style={{ width: '1280px', height: '720px', background: 'linear-gradient(160deg, #8F120C 0%, #A81810 30%, #C42819 60%, #E63F26 90%)', position: 'relative', overflow: 'hidden' }}&gt;&#10;    {/* 金色光晕 */}&#10;    &lt;Box style={{ position: 'absolute', top: -120, right: -80, width: 500, height: 500, borderRadius: 250, background: 'radial-gradient(circle, rgba(255,215,0,0.25) 0%, rgba(255,215,0,0) 70%)' }} /&gt;&#10;    &lt;Box style={{ position: 'absolute', bottom: -140, left: -100, width: 440, height: 440, borderRadius: 220, background: 'radial-gradient(circle, rgba(255,231,155,0.18) 0%, rgba(255,231,155,0) 70%)' }} /&gt;&#10;    {/* 粒子 */}&#10;    &lt;Box style={{ position: 'absolute', top: 140, left: 160, width: 8, height: 8, borderRadius: 4, background: 'rgba(255,215,0,0.5)' }} /&gt;&#10;    &lt;Box style={{ position: 'absolute', top: 220, right: 240, width: 6, height: 6, borderRadius: 3, background: 'rgba(255,231,155,0.5)' }} /&gt;&#10;    &lt;Box style={{ position: 'absolute', bottom: 160, right: 130, width: 9, height: 9, borderRadius: 5, background: 'rgba(255,215,0,0.45)' }} /&gt;&#10;    &lt;Box style={{ position: 'absolute', bottom: 230, left: 260, width: 5, height: 5, borderRadius: 3, background: 'rgba(255,231,155,0.4)' }} /&gt;&#10;    {/* 顶部细金线 */}&#10;    &lt;Box style={{ position: 'absolute', top: 0, left: 0, width: '100%', height: 6, background: 'linear-gradient(90deg, #FFE79B 0%, #FFD700 30%, #E19825 60%, #FFE79B 100%)' }} /&gt;&#10;&#10;    {/* 内容 */}&#10;    &lt;Box style={{ position: 'relative', zIndex: 2, width: '100%', height: '100%', padding: '60px 90px', justifyContent: 'center', alignItems: 'center' }}&gt;&#10;        &lt;Text style={{ fontSize: 30, color: '#FFE79B', letterSpacing: 8, fontWeight: 'bold', marginBottom: 20 }}&gt;以 AI 赋能 · 向新而行&lt;/Text&gt;&#10;        {/* 主金句 */}&#10;        &lt;Text style={{ fontSize: 74, fontWeight: 'bold', fontFamily: 'KaiTi', color: '#FFFFFF', textAlign: 'center', lineHeight: 1.5, letterSpacing: 6, marginTop: 16 }}&gt;&#10;            把 AI 变成产品的竞争力&#10;            &lt;br /&gt;&#10;            把 AI 变成组织的生产力&#10;        &lt;/Text&gt;&#10;        &lt;Box style={{ width: 420, height: 2, background: 'linear-gradient(90deg, rgba(255,215,0,0), #FFD700, rgba(255,215,0,0))', marginTop: 44 }} /&gt;&#10;        &lt;Text style={{ fontSize: 24, color: '#FFE79B', letterSpacing: 4, marginTop: 40 }}&gt;汇报完毕 · 请各位领导审议指正&lt;/Text&gt;&#10;        &lt;Box style={{ flexDirection: 'row', gap: 20, marginTop: 56 }}&gt;&#10;            &lt;Box style={{ padding: '8px 30px', borderRadius: 20, background: 'rgba(255,255,255,0.12)', border: '1px solid rgba(255,255,255,0.3)' }}&gt;&#10;                &lt;Text style={{ fontSize: 18, color: '#FFFFFF', letterSpacing: 2 }}&gt;汇报单位：××××（占位）&lt;/Text&gt;&#10;            &lt;/Box&gt;&#10;            &lt;Box style={{ padding: '8px 30px', borderRadius: 20, background: 'rgba(255,255,255,0.12)', border: '1px solid rgba(255,255,255,0.3)' }}&gt;&#10;                &lt;Text style={{ fontSize: 18, color: '#FFFFFF', letterSpacing: 2 }}&gt;2026 年 9 月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F120C"/>
              </a:gs>
              <a:gs pos="30000">
                <a:srgbClr val="A81810"/>
              </a:gs>
              <a:gs pos="60000">
                <a:srgbClr val="C42819"/>
              </a:gs>
              <a:gs pos="90000">
                <a:srgbClr val="E63F26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8191500" y="-1143000"/>
            <a:ext cx="4762500" cy="4762500"/>
          </a:xfrm>
          <a:custGeom>
            <a:pathLst>
              <a:path w="500" h="500">
                <a:moveTo>
                  <a:pt x="420" y="433"/>
                </a:moveTo>
                <a:lnTo>
                  <a:pt x="418" y="435"/>
                </a:lnTo>
                <a:lnTo>
                  <a:pt x="414" y="439"/>
                </a:lnTo>
                <a:lnTo>
                  <a:pt x="409" y="443"/>
                </a:lnTo>
                <a:lnTo>
                  <a:pt x="404" y="447"/>
                </a:lnTo>
                <a:lnTo>
                  <a:pt x="400" y="450"/>
                </a:lnTo>
                <a:lnTo>
                  <a:pt x="395" y="454"/>
                </a:lnTo>
                <a:lnTo>
                  <a:pt x="390" y="457"/>
                </a:lnTo>
                <a:lnTo>
                  <a:pt x="385" y="461"/>
                </a:lnTo>
                <a:lnTo>
                  <a:pt x="380" y="464"/>
                </a:lnTo>
                <a:lnTo>
                  <a:pt x="374" y="467"/>
                </a:lnTo>
                <a:lnTo>
                  <a:pt x="369" y="470"/>
                </a:lnTo>
                <a:lnTo>
                  <a:pt x="364" y="473"/>
                </a:lnTo>
                <a:lnTo>
                  <a:pt x="358" y="475"/>
                </a:lnTo>
                <a:lnTo>
                  <a:pt x="353" y="478"/>
                </a:lnTo>
                <a:lnTo>
                  <a:pt x="347" y="480"/>
                </a:lnTo>
                <a:lnTo>
                  <a:pt x="342" y="483"/>
                </a:lnTo>
                <a:lnTo>
                  <a:pt x="336" y="485"/>
                </a:lnTo>
                <a:lnTo>
                  <a:pt x="330" y="487"/>
                </a:lnTo>
                <a:lnTo>
                  <a:pt x="324" y="489"/>
                </a:lnTo>
                <a:lnTo>
                  <a:pt x="318" y="491"/>
                </a:lnTo>
                <a:lnTo>
                  <a:pt x="312" y="492"/>
                </a:lnTo>
                <a:lnTo>
                  <a:pt x="306" y="494"/>
                </a:lnTo>
                <a:lnTo>
                  <a:pt x="300" y="495"/>
                </a:lnTo>
                <a:lnTo>
                  <a:pt x="294" y="496"/>
                </a:lnTo>
                <a:lnTo>
                  <a:pt x="288" y="497"/>
                </a:lnTo>
                <a:lnTo>
                  <a:pt x="282" y="498"/>
                </a:lnTo>
                <a:lnTo>
                  <a:pt x="276" y="499"/>
                </a:lnTo>
                <a:lnTo>
                  <a:pt x="269" y="499"/>
                </a:lnTo>
                <a:lnTo>
                  <a:pt x="263" y="500"/>
                </a:lnTo>
                <a:lnTo>
                  <a:pt x="256" y="500"/>
                </a:lnTo>
                <a:lnTo>
                  <a:pt x="250" y="500"/>
                </a:lnTo>
                <a:lnTo>
                  <a:pt x="244" y="500"/>
                </a:lnTo>
                <a:lnTo>
                  <a:pt x="237" y="500"/>
                </a:lnTo>
                <a:lnTo>
                  <a:pt x="231" y="499"/>
                </a:lnTo>
                <a:lnTo>
                  <a:pt x="224" y="499"/>
                </a:lnTo>
                <a:lnTo>
                  <a:pt x="218" y="498"/>
                </a:lnTo>
                <a:lnTo>
                  <a:pt x="212" y="497"/>
                </a:lnTo>
                <a:lnTo>
                  <a:pt x="206" y="496"/>
                </a:lnTo>
                <a:lnTo>
                  <a:pt x="200" y="495"/>
                </a:lnTo>
                <a:lnTo>
                  <a:pt x="194" y="494"/>
                </a:lnTo>
                <a:lnTo>
                  <a:pt x="188" y="492"/>
                </a:lnTo>
                <a:lnTo>
                  <a:pt x="182" y="491"/>
                </a:lnTo>
                <a:lnTo>
                  <a:pt x="176" y="489"/>
                </a:lnTo>
                <a:lnTo>
                  <a:pt x="170" y="487"/>
                </a:lnTo>
                <a:lnTo>
                  <a:pt x="164" y="485"/>
                </a:lnTo>
                <a:lnTo>
                  <a:pt x="158" y="483"/>
                </a:lnTo>
                <a:lnTo>
                  <a:pt x="153" y="480"/>
                </a:lnTo>
                <a:lnTo>
                  <a:pt x="147" y="478"/>
                </a:lnTo>
                <a:lnTo>
                  <a:pt x="142" y="475"/>
                </a:lnTo>
                <a:lnTo>
                  <a:pt x="136" y="473"/>
                </a:lnTo>
                <a:lnTo>
                  <a:pt x="131" y="470"/>
                </a:lnTo>
                <a:lnTo>
                  <a:pt x="126" y="467"/>
                </a:lnTo>
                <a:lnTo>
                  <a:pt x="120" y="464"/>
                </a:lnTo>
                <a:lnTo>
                  <a:pt x="115" y="461"/>
                </a:lnTo>
                <a:lnTo>
                  <a:pt x="110" y="457"/>
                </a:lnTo>
                <a:lnTo>
                  <a:pt x="105" y="454"/>
                </a:lnTo>
                <a:lnTo>
                  <a:pt x="100" y="450"/>
                </a:lnTo>
                <a:lnTo>
                  <a:pt x="96" y="447"/>
                </a:lnTo>
                <a:lnTo>
                  <a:pt x="91" y="443"/>
                </a:lnTo>
                <a:lnTo>
                  <a:pt x="86" y="439"/>
                </a:lnTo>
                <a:lnTo>
                  <a:pt x="82" y="435"/>
                </a:lnTo>
                <a:lnTo>
                  <a:pt x="78" y="431"/>
                </a:lnTo>
                <a:lnTo>
                  <a:pt x="73" y="427"/>
                </a:lnTo>
                <a:lnTo>
                  <a:pt x="69" y="422"/>
                </a:lnTo>
                <a:lnTo>
                  <a:pt x="65" y="418"/>
                </a:lnTo>
                <a:lnTo>
                  <a:pt x="61" y="414"/>
                </a:lnTo>
                <a:lnTo>
                  <a:pt x="57" y="409"/>
                </a:lnTo>
                <a:lnTo>
                  <a:pt x="53" y="404"/>
                </a:lnTo>
                <a:lnTo>
                  <a:pt x="50" y="400"/>
                </a:lnTo>
                <a:lnTo>
                  <a:pt x="46" y="395"/>
                </a:lnTo>
                <a:lnTo>
                  <a:pt x="43" y="390"/>
                </a:lnTo>
                <a:lnTo>
                  <a:pt x="39" y="385"/>
                </a:lnTo>
                <a:lnTo>
                  <a:pt x="36" y="380"/>
                </a:lnTo>
                <a:lnTo>
                  <a:pt x="33" y="374"/>
                </a:lnTo>
                <a:lnTo>
                  <a:pt x="30" y="369"/>
                </a:lnTo>
                <a:lnTo>
                  <a:pt x="27" y="364"/>
                </a:lnTo>
                <a:lnTo>
                  <a:pt x="25" y="358"/>
                </a:lnTo>
                <a:lnTo>
                  <a:pt x="22" y="353"/>
                </a:lnTo>
                <a:lnTo>
                  <a:pt x="20" y="347"/>
                </a:lnTo>
                <a:lnTo>
                  <a:pt x="17" y="342"/>
                </a:lnTo>
                <a:lnTo>
                  <a:pt x="15" y="336"/>
                </a:lnTo>
                <a:lnTo>
                  <a:pt x="13" y="330"/>
                </a:lnTo>
                <a:lnTo>
                  <a:pt x="11" y="324"/>
                </a:lnTo>
                <a:lnTo>
                  <a:pt x="9" y="318"/>
                </a:lnTo>
                <a:lnTo>
                  <a:pt x="8" y="312"/>
                </a:lnTo>
                <a:lnTo>
                  <a:pt x="6" y="306"/>
                </a:lnTo>
                <a:lnTo>
                  <a:pt x="5" y="300"/>
                </a:lnTo>
                <a:lnTo>
                  <a:pt x="4" y="294"/>
                </a:lnTo>
                <a:lnTo>
                  <a:pt x="3" y="288"/>
                </a:lnTo>
                <a:lnTo>
                  <a:pt x="2" y="282"/>
                </a:lnTo>
                <a:lnTo>
                  <a:pt x="1" y="276"/>
                </a:lnTo>
                <a:lnTo>
                  <a:pt x="1" y="269"/>
                </a:lnTo>
                <a:lnTo>
                  <a:pt x="0" y="263"/>
                </a:lnTo>
                <a:lnTo>
                  <a:pt x="0" y="256"/>
                </a:lnTo>
                <a:lnTo>
                  <a:pt x="0" y="250"/>
                </a:lnTo>
                <a:lnTo>
                  <a:pt x="0" y="244"/>
                </a:lnTo>
                <a:lnTo>
                  <a:pt x="0" y="237"/>
                </a:lnTo>
                <a:lnTo>
                  <a:pt x="1" y="231"/>
                </a:lnTo>
                <a:lnTo>
                  <a:pt x="1" y="224"/>
                </a:lnTo>
                <a:lnTo>
                  <a:pt x="2" y="218"/>
                </a:lnTo>
                <a:lnTo>
                  <a:pt x="3" y="212"/>
                </a:lnTo>
                <a:lnTo>
                  <a:pt x="4" y="206"/>
                </a:lnTo>
                <a:lnTo>
                  <a:pt x="5" y="200"/>
                </a:lnTo>
                <a:lnTo>
                  <a:pt x="6" y="194"/>
                </a:lnTo>
                <a:lnTo>
                  <a:pt x="8" y="188"/>
                </a:lnTo>
                <a:lnTo>
                  <a:pt x="9" y="182"/>
                </a:lnTo>
                <a:lnTo>
                  <a:pt x="11" y="176"/>
                </a:lnTo>
                <a:lnTo>
                  <a:pt x="13" y="170"/>
                </a:lnTo>
                <a:lnTo>
                  <a:pt x="15" y="164"/>
                </a:lnTo>
                <a:lnTo>
                  <a:pt x="17" y="158"/>
                </a:lnTo>
                <a:lnTo>
                  <a:pt x="20" y="153"/>
                </a:lnTo>
                <a:lnTo>
                  <a:pt x="22" y="147"/>
                </a:lnTo>
                <a:lnTo>
                  <a:pt x="25" y="142"/>
                </a:lnTo>
                <a:lnTo>
                  <a:pt x="27" y="136"/>
                </a:lnTo>
                <a:lnTo>
                  <a:pt x="30" y="131"/>
                </a:lnTo>
                <a:lnTo>
                  <a:pt x="33" y="126"/>
                </a:lnTo>
                <a:lnTo>
                  <a:pt x="36" y="120"/>
                </a:lnTo>
                <a:lnTo>
                  <a:pt x="36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FFD700">
                  <a:alpha val="25000"/>
                </a:srgbClr>
              </a:gs>
              <a:gs pos="70000">
                <a:srgbClr val="FFD7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-952500" y="4000500"/>
            <a:ext cx="4191000" cy="4191000"/>
          </a:xfrm>
          <a:custGeom>
            <a:pathLst>
              <a:path w="440" h="440">
                <a:moveTo>
                  <a:pt x="226" y="0"/>
                </a:moveTo>
                <a:lnTo>
                  <a:pt x="231" y="0"/>
                </a:lnTo>
                <a:lnTo>
                  <a:pt x="237" y="1"/>
                </a:lnTo>
                <a:lnTo>
                  <a:pt x="242" y="1"/>
                </a:lnTo>
                <a:lnTo>
                  <a:pt x="248" y="2"/>
                </a:lnTo>
                <a:lnTo>
                  <a:pt x="253" y="3"/>
                </a:lnTo>
                <a:lnTo>
                  <a:pt x="259" y="3"/>
                </a:lnTo>
                <a:lnTo>
                  <a:pt x="264" y="4"/>
                </a:lnTo>
                <a:lnTo>
                  <a:pt x="270" y="6"/>
                </a:lnTo>
                <a:lnTo>
                  <a:pt x="275" y="7"/>
                </a:lnTo>
                <a:lnTo>
                  <a:pt x="280" y="8"/>
                </a:lnTo>
                <a:lnTo>
                  <a:pt x="285" y="10"/>
                </a:lnTo>
                <a:lnTo>
                  <a:pt x="291" y="12"/>
                </a:lnTo>
                <a:lnTo>
                  <a:pt x="296" y="13"/>
                </a:lnTo>
                <a:lnTo>
                  <a:pt x="301" y="15"/>
                </a:lnTo>
                <a:lnTo>
                  <a:pt x="306" y="17"/>
                </a:lnTo>
                <a:lnTo>
                  <a:pt x="311" y="19"/>
                </a:lnTo>
                <a:lnTo>
                  <a:pt x="315" y="22"/>
                </a:ln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4" y="54"/>
                </a:lnTo>
                <a:lnTo>
                  <a:pt x="368" y="57"/>
                </a:lnTo>
                <a:lnTo>
                  <a:pt x="372" y="61"/>
                </a:lnTo>
                <a:lnTo>
                  <a:pt x="376" y="64"/>
                </a:lnTo>
                <a:lnTo>
                  <a:pt x="379" y="68"/>
                </a:lnTo>
                <a:lnTo>
                  <a:pt x="383" y="72"/>
                </a:lnTo>
                <a:lnTo>
                  <a:pt x="386" y="76"/>
                </a:lnTo>
                <a:lnTo>
                  <a:pt x="390" y="80"/>
                </a:lnTo>
                <a:lnTo>
                  <a:pt x="393" y="84"/>
                </a:lnTo>
                <a:lnTo>
                  <a:pt x="396" y="88"/>
                </a:lnTo>
                <a:lnTo>
                  <a:pt x="399" y="93"/>
                </a:lnTo>
                <a:lnTo>
                  <a:pt x="402" y="97"/>
                </a:lnTo>
                <a:lnTo>
                  <a:pt x="405" y="101"/>
                </a:lnTo>
                <a:lnTo>
                  <a:pt x="408" y="106"/>
                </a:lnTo>
                <a:lnTo>
                  <a:pt x="411" y="111"/>
                </a:lnTo>
                <a:lnTo>
                  <a:pt x="413" y="115"/>
                </a:lnTo>
                <a:lnTo>
                  <a:pt x="416" y="120"/>
                </a:lnTo>
                <a:lnTo>
                  <a:pt x="418" y="125"/>
                </a:lnTo>
                <a:lnTo>
                  <a:pt x="421" y="129"/>
                </a:lnTo>
                <a:lnTo>
                  <a:pt x="423" y="134"/>
                </a:lnTo>
                <a:lnTo>
                  <a:pt x="425" y="139"/>
                </a:lnTo>
                <a:lnTo>
                  <a:pt x="427" y="144"/>
                </a:lnTo>
                <a:lnTo>
                  <a:pt x="428" y="149"/>
                </a:lnTo>
                <a:lnTo>
                  <a:pt x="430" y="155"/>
                </a:lnTo>
                <a:lnTo>
                  <a:pt x="432" y="160"/>
                </a:lnTo>
                <a:lnTo>
                  <a:pt x="433" y="165"/>
                </a:lnTo>
                <a:lnTo>
                  <a:pt x="434" y="170"/>
                </a:lnTo>
                <a:lnTo>
                  <a:pt x="436" y="176"/>
                </a:lnTo>
                <a:lnTo>
                  <a:pt x="437" y="181"/>
                </a:lnTo>
                <a:lnTo>
                  <a:pt x="437" y="187"/>
                </a:lnTo>
                <a:lnTo>
                  <a:pt x="438" y="192"/>
                </a:lnTo>
                <a:lnTo>
                  <a:pt x="439" y="198"/>
                </a:lnTo>
                <a:lnTo>
                  <a:pt x="439" y="203"/>
                </a:lnTo>
                <a:lnTo>
                  <a:pt x="440" y="209"/>
                </a:lnTo>
                <a:lnTo>
                  <a:pt x="440" y="214"/>
                </a:lnTo>
                <a:lnTo>
                  <a:pt x="440" y="220"/>
                </a:lnTo>
                <a:lnTo>
                  <a:pt x="440" y="226"/>
                </a:lnTo>
                <a:lnTo>
                  <a:pt x="440" y="231"/>
                </a:lnTo>
                <a:lnTo>
                  <a:pt x="439" y="237"/>
                </a:lnTo>
                <a:lnTo>
                  <a:pt x="439" y="242"/>
                </a:lnTo>
                <a:lnTo>
                  <a:pt x="438" y="248"/>
                </a:lnTo>
                <a:lnTo>
                  <a:pt x="437" y="253"/>
                </a:lnTo>
                <a:lnTo>
                  <a:pt x="437" y="259"/>
                </a:lnTo>
                <a:lnTo>
                  <a:pt x="436" y="264"/>
                </a:lnTo>
                <a:lnTo>
                  <a:pt x="434" y="270"/>
                </a:lnTo>
                <a:lnTo>
                  <a:pt x="433" y="275"/>
                </a:lnTo>
                <a:lnTo>
                  <a:pt x="432" y="280"/>
                </a:lnTo>
                <a:lnTo>
                  <a:pt x="430" y="285"/>
                </a:lnTo>
                <a:lnTo>
                  <a:pt x="428" y="291"/>
                </a:lnTo>
                <a:lnTo>
                  <a:pt x="427" y="296"/>
                </a:lnTo>
                <a:lnTo>
                  <a:pt x="425" y="300"/>
                </a:lnTo>
                <a:lnTo>
                  <a:pt x="100" y="300"/>
                </a:lnTo>
                <a:lnTo>
                  <a:pt x="100" y="36"/>
                </a:lnTo>
                <a:lnTo>
                  <a:pt x="101" y="35"/>
                </a:lnTo>
                <a:lnTo>
                  <a:pt x="106" y="32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9" y="19"/>
                </a:lnTo>
                <a:lnTo>
                  <a:pt x="134" y="17"/>
                </a:lnTo>
                <a:lnTo>
                  <a:pt x="139" y="15"/>
                </a:lnTo>
                <a:lnTo>
                  <a:pt x="144" y="13"/>
                </a:lnTo>
                <a:lnTo>
                  <a:pt x="149" y="12"/>
                </a:lnTo>
                <a:lnTo>
                  <a:pt x="155" y="10"/>
                </a:lnTo>
                <a:lnTo>
                  <a:pt x="160" y="8"/>
                </a:lnTo>
                <a:lnTo>
                  <a:pt x="165" y="7"/>
                </a:lnTo>
                <a:lnTo>
                  <a:pt x="170" y="6"/>
                </a:lnTo>
                <a:lnTo>
                  <a:pt x="176" y="4"/>
                </a:lnTo>
                <a:lnTo>
                  <a:pt x="181" y="3"/>
                </a:lnTo>
                <a:lnTo>
                  <a:pt x="187" y="3"/>
                </a:lnTo>
                <a:lnTo>
                  <a:pt x="192" y="2"/>
                </a:lnTo>
                <a:lnTo>
                  <a:pt x="198" y="1"/>
                </a:lnTo>
                <a:lnTo>
                  <a:pt x="203" y="1"/>
                </a:lnTo>
                <a:lnTo>
                  <a:pt x="209" y="0"/>
                </a:lnTo>
                <a:lnTo>
                  <a:pt x="214" y="0"/>
                </a:lnTo>
                <a:lnTo>
                  <a:pt x="220" y="0"/>
                </a:lnTo>
                <a:close/>
              </a:path>
            </a:pathLst>
          </a:custGeom>
          <a:gradFill>
            <a:gsLst>
              <a:gs pos="0">
                <a:srgbClr val="FFE79B">
                  <a:alpha val="18000"/>
                </a:srgbClr>
              </a:gs>
              <a:gs pos="70000">
                <a:srgbClr val="FFE7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1524000" y="1333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D700">
              <a:alpha val="50000"/>
            </a:srgbClr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9848850" y="20955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E79B">
              <a:alpha val="50000"/>
            </a:srgbClr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10868025" y="5248275"/>
            <a:ext cx="85725" cy="85725"/>
          </a:xfrm>
          <a:prstGeom prst="roundRect">
            <a:avLst>
              <a:gd name="adj" fmla="val 55556"/>
            </a:avLst>
          </a:prstGeom>
          <a:solidFill>
            <a:srgbClr val="FFD700">
              <a:alpha val="45000"/>
            </a:srgbClr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2476500" y="46196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E79B">
              <a:alpha val="40000"/>
            </a:srgbClr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FE79B"/>
              </a:gs>
              <a:gs pos="30000">
                <a:srgbClr val="FFD700"/>
              </a:gs>
              <a:gs pos="60000">
                <a:srgbClr val="E19825"/>
              </a:gs>
              <a:gs pos="100000">
                <a:srgbClr val="FFE79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171950" y="819150"/>
            <a:ext cx="3848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600">
                <a:solidFill>
                  <a:srgbClr val="FFE79B"/>
                </a:solidFill>
                <a:latin typeface="Microsoft YaHei"/>
                <a:ea typeface="Microsoft YaHei"/>
              </a:rPr>
              <a:t>以</a:t>
            </a:r>
            <a:r>
              <a:rPr lang="en-US" sz="2250" b="1" spc="600">
                <a:solidFill>
                  <a:srgbClr val="FFE79B"/>
                </a:solidFill>
                <a:latin typeface="Microsoft YaHei"/>
                <a:ea typeface="Microsoft YaHei"/>
              </a:rPr>
              <a:t> AI </a:t>
            </a:r>
            <a:r>
              <a:rPr lang="zh-CN" sz="2250" b="1" spc="600">
                <a:solidFill>
                  <a:srgbClr val="FFE79B"/>
                </a:solidFill>
                <a:latin typeface="Microsoft YaHei"/>
                <a:ea typeface="Microsoft YaHei"/>
              </a:rPr>
              <a:t>赋能</a:t>
            </a:r>
            <a:r>
              <a:rPr lang="en-US" sz="2250" b="1" spc="600">
                <a:solidFill>
                  <a:srgbClr val="FFE79B"/>
                </a:solidFill>
                <a:latin typeface="Microsoft YaHei"/>
                <a:ea typeface="Microsoft YaHei"/>
              </a:rPr>
              <a:t> · </a:t>
            </a:r>
            <a:r>
              <a:rPr lang="zh-CN" sz="2250" b="1" spc="600">
                <a:solidFill>
                  <a:srgbClr val="FFE79B"/>
                </a:solidFill>
                <a:latin typeface="Microsoft YaHei"/>
                <a:ea typeface="Microsoft YaHei"/>
              </a:rPr>
              <a:t>向新而行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847850" y="1504950"/>
            <a:ext cx="8496300" cy="25431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5550" b="1" spc="450">
                <a:solidFill>
                  <a:srgbClr val="FFFFFF"/>
                </a:solidFill>
                <a:latin typeface="KaiTi"/>
                <a:ea typeface="KaiTi"/>
              </a:rPr>
              <a:t>把</a:t>
            </a:r>
            <a:r>
              <a:rPr lang="en-US" sz="5550" b="1" spc="450">
                <a:solidFill>
                  <a:srgbClr val="FFFFFF"/>
                </a:solidFill>
                <a:latin typeface="KaiTi"/>
                <a:ea typeface="KaiTi"/>
              </a:rPr>
              <a:t> AI </a:t>
            </a:r>
            <a:r>
              <a:rPr lang="zh-CN" sz="5550" b="1" spc="450">
                <a:solidFill>
                  <a:srgbClr val="FFFFFF"/>
                </a:solidFill>
                <a:latin typeface="KaiTi"/>
                <a:ea typeface="KaiTi"/>
              </a:rPr>
              <a:t>变成产品的竞争力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5550" b="1" spc="450">
                <a:solidFill>
                  <a:srgbClr val="FFFFFF"/>
                </a:solidFill>
                <a:latin typeface="KaiTi"/>
                <a:ea typeface="KaiTi"/>
              </a:rPr>
              <a:t>把</a:t>
            </a:r>
            <a:r>
              <a:rPr lang="en-US" sz="5550" b="1" spc="450">
                <a:solidFill>
                  <a:srgbClr val="FFFFFF"/>
                </a:solidFill>
                <a:latin typeface="KaiTi"/>
                <a:ea typeface="KaiTi"/>
              </a:rPr>
              <a:t> AI </a:t>
            </a:r>
            <a:r>
              <a:rPr lang="zh-CN" sz="5550" b="1" spc="450">
                <a:solidFill>
                  <a:srgbClr val="FFFFFF"/>
                </a:solidFill>
                <a:latin typeface="KaiTi"/>
                <a:ea typeface="KaiTi"/>
              </a:rPr>
              <a:t>变成组织的生产力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095750" y="4467225"/>
            <a:ext cx="4000500" cy="19050"/>
          </a:xfrm>
          <a:prstGeom prst="rect">
            <a:avLst/>
          </a:prstGeom>
          <a:gradFill>
            <a:gsLst>
              <a:gs pos="0">
                <a:srgbClr val="FFD700">
                  <a:alpha val="0"/>
                </a:srgbClr>
              </a:gs>
              <a:gs pos="50000">
                <a:srgbClr val="FFD700"/>
              </a:gs>
              <a:gs pos="100000">
                <a:srgbClr val="FFD700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210050" y="4867275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300">
                <a:solidFill>
                  <a:srgbClr val="FFE79B"/>
                </a:solidFill>
                <a:latin typeface="Microsoft YaHei"/>
                <a:ea typeface="Microsoft YaHei"/>
              </a:rPr>
              <a:t>汇报完毕</a:t>
            </a:r>
            <a:r>
              <a:rPr lang="en-US" sz="1800" spc="300">
                <a:solidFill>
                  <a:srgbClr val="FFE79B"/>
                </a:solidFill>
                <a:latin typeface="Microsoft YaHei"/>
                <a:ea typeface="Microsoft YaHei"/>
              </a:rPr>
              <a:t> · </a:t>
            </a:r>
            <a:r>
              <a:rPr lang="zh-CN" sz="1800" spc="300">
                <a:solidFill>
                  <a:srgbClr val="FFE79B"/>
                </a:solidFill>
                <a:latin typeface="Microsoft YaHei"/>
                <a:ea typeface="Microsoft YaHei"/>
              </a:rPr>
              <a:t>请各位领导审议指正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3686175" y="5676900"/>
            <a:ext cx="2876550" cy="361950"/>
          </a:xfrm>
          <a:prstGeom prst="roundRect">
            <a:avLst>
              <a:gd name="adj" fmla="val 5263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3971925" y="5753100"/>
            <a:ext cx="2305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汇报单位：××××（占位）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753225" y="5676900"/>
            <a:ext cx="1762125" cy="361950"/>
          </a:xfrm>
          <a:prstGeom prst="roundRect">
            <a:avLst>
              <a:gd name="adj" fmla="val 5263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038975" y="5753100"/>
            <a:ext cx="1190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>2026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350" spc="150">
                <a:solidFill>
                  <a:srgbClr val="FFFFFF"/>
                </a:solidFill>
                <a:latin typeface="Microsoft YaHei"/>
                <a:ea typeface="Microsoft YaHei"/>
              </a:rPr>
              <a:t> 9 </a:t>
            </a: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2026-09-07T11:02:29Z</dcterms:created>
  <dcterms:modified xsi:type="dcterms:W3CDTF">2026-09-07T11:02:29Z</dcterms:modified>
</cp:coreProperties>
</file>